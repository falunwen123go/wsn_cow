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8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>
      <p:cViewPr>
        <p:scale>
          <a:sx n="60" d="100"/>
          <a:sy n="60" d="100"/>
        </p:scale>
        <p:origin x="426" y="6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3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matchingName="Title Slide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0" y="0"/>
            <a:ext cx="12192000" cy="6292850"/>
            <a:chOff x="0" y="0"/>
            <a:chExt cx="12192000" cy="6292850"/>
          </a:xfrm>
        </p:grpSpPr>
        <p:grpSp>
          <p:nvGrpSpPr>
            <p:cNvPr id="23" name="组合 22"/>
            <p:cNvGrpSpPr/>
            <p:nvPr/>
          </p:nvGrpSpPr>
          <p:grpSpPr>
            <a:xfrm>
              <a:off x="0" y="0"/>
              <a:ext cx="12192000" cy="5400000"/>
              <a:chOff x="0" y="0"/>
              <a:chExt cx="12192000" cy="5400000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0" y="0"/>
                <a:ext cx="12192000" cy="5400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9202350" y="1080000"/>
                <a:ext cx="1440000" cy="4320000"/>
              </a:xfrm>
              <a:prstGeom prst="rect">
                <a:avLst/>
              </a:prstGeom>
              <a:gradFill>
                <a:gsLst>
                  <a:gs pos="0">
                    <a:schemeClr val="bg1">
                      <a:alpha val="70000"/>
                    </a:schemeClr>
                  </a:gs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8376950" y="1999169"/>
                <a:ext cx="1080000" cy="3060000"/>
              </a:xfrm>
              <a:prstGeom prst="rect">
                <a:avLst/>
              </a:prstGeom>
              <a:gradFill>
                <a:gsLst>
                  <a:gs pos="0">
                    <a:schemeClr val="bg1">
                      <a:alpha val="45000"/>
                    </a:schemeClr>
                  </a:gs>
                  <a:gs pos="9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22" name="矩形 21"/>
              <p:cNvSpPr>
                <a:spLocks noChangeAspect="1"/>
              </p:cNvSpPr>
              <p:nvPr/>
            </p:nvSpPr>
            <p:spPr>
              <a:xfrm>
                <a:off x="10908082" y="3060000"/>
                <a:ext cx="720000" cy="2340000"/>
              </a:xfrm>
              <a:prstGeom prst="rect">
                <a:avLst/>
              </a:prstGeom>
              <a:gradFill>
                <a:gsLst>
                  <a:gs pos="0">
                    <a:schemeClr val="bg1">
                      <a:alpha val="20000"/>
                    </a:schemeClr>
                  </a:gs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727075" y="5860850"/>
              <a:ext cx="432000" cy="432000"/>
              <a:chOff x="727075" y="5259151"/>
              <a:chExt cx="432000" cy="432000"/>
            </a:xfrm>
          </p:grpSpPr>
          <p:sp>
            <p:nvSpPr>
              <p:cNvPr id="6" name="矩形 5"/>
              <p:cNvSpPr>
                <a:spLocks noChangeAspect="1"/>
              </p:cNvSpPr>
              <p:nvPr/>
            </p:nvSpPr>
            <p:spPr bwMode="auto">
              <a:xfrm flipH="1">
                <a:off x="727075" y="5259151"/>
                <a:ext cx="432000" cy="432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任意多边形 13"/>
              <p:cNvSpPr>
                <a:spLocks noChangeAspect="1"/>
              </p:cNvSpPr>
              <p:nvPr/>
            </p:nvSpPr>
            <p:spPr>
              <a:xfrm>
                <a:off x="838307" y="5403022"/>
                <a:ext cx="209537" cy="144259"/>
              </a:xfrm>
              <a:custGeom>
                <a:avLst/>
                <a:gdLst>
                  <a:gd name="T0" fmla="*/ 602275 w 602487"/>
                  <a:gd name="T1" fmla="*/ 602275 w 602487"/>
                  <a:gd name="T2" fmla="*/ 602275 w 602487"/>
                  <a:gd name="T3" fmla="*/ 602275 w 602487"/>
                  <a:gd name="T4" fmla="*/ 602275 w 602487"/>
                  <a:gd name="T5" fmla="*/ 602275 w 602487"/>
                  <a:gd name="T6" fmla="*/ 602275 w 602487"/>
                  <a:gd name="T7" fmla="*/ 602275 w 602487"/>
                  <a:gd name="T8" fmla="*/ 602275 w 602487"/>
                  <a:gd name="T9" fmla="*/ 602275 w 602487"/>
                  <a:gd name="T10" fmla="*/ 602275 w 602487"/>
                  <a:gd name="T11" fmla="*/ 602275 w 602487"/>
                  <a:gd name="T12" fmla="*/ 602275 w 602487"/>
                  <a:gd name="T13" fmla="*/ 602275 w 602487"/>
                  <a:gd name="T14" fmla="*/ 602275 w 602487"/>
                  <a:gd name="T15" fmla="*/ 602275 w 602487"/>
                  <a:gd name="T16" fmla="*/ 602275 w 602487"/>
                  <a:gd name="T17" fmla="*/ 602275 w 602487"/>
                  <a:gd name="T18" fmla="*/ 602275 w 602487"/>
                  <a:gd name="T19" fmla="*/ 602275 w 602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34" h="3126">
                    <a:moveTo>
                      <a:pt x="2971" y="0"/>
                    </a:moveTo>
                    <a:lnTo>
                      <a:pt x="2679" y="292"/>
                    </a:lnTo>
                    <a:lnTo>
                      <a:pt x="3743" y="1356"/>
                    </a:lnTo>
                    <a:lnTo>
                      <a:pt x="0" y="1356"/>
                    </a:lnTo>
                    <a:lnTo>
                      <a:pt x="0" y="1770"/>
                    </a:lnTo>
                    <a:lnTo>
                      <a:pt x="3743" y="1770"/>
                    </a:lnTo>
                    <a:lnTo>
                      <a:pt x="2679" y="2834"/>
                    </a:lnTo>
                    <a:lnTo>
                      <a:pt x="2971" y="3126"/>
                    </a:lnTo>
                    <a:lnTo>
                      <a:pt x="4534" y="1563"/>
                    </a:lnTo>
                    <a:lnTo>
                      <a:pt x="2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400" y="1028700"/>
            <a:ext cx="7200000" cy="2448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ln w="19050">
                  <a:noFill/>
                </a:ln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3632817"/>
            <a:ext cx="7200000" cy="936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400" strike="noStrike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732233" y="5774100"/>
            <a:ext cx="2880000" cy="792000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5185566" y="5774100"/>
            <a:ext cx="2880000" cy="792000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-1" y="0"/>
            <a:ext cx="11446709" cy="6858000"/>
            <a:chOff x="-1" y="0"/>
            <a:chExt cx="11446709" cy="6858000"/>
          </a:xfrm>
        </p:grpSpPr>
        <p:grpSp>
          <p:nvGrpSpPr>
            <p:cNvPr id="32" name="组合 31"/>
            <p:cNvGrpSpPr/>
            <p:nvPr/>
          </p:nvGrpSpPr>
          <p:grpSpPr>
            <a:xfrm>
              <a:off x="-1" y="0"/>
              <a:ext cx="4140000" cy="6858000"/>
              <a:chOff x="-1" y="0"/>
              <a:chExt cx="4140000" cy="6858000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-1" y="0"/>
                <a:ext cx="4140000" cy="6858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660400" y="2763506"/>
                <a:ext cx="3081421" cy="4094493"/>
                <a:chOff x="660400" y="3083250"/>
                <a:chExt cx="2840789" cy="3774749"/>
              </a:xfrm>
            </p:grpSpPr>
            <p:sp>
              <p:nvSpPr>
                <p:cNvPr id="20" name="矩形 19"/>
                <p:cNvSpPr/>
                <p:nvPr/>
              </p:nvSpPr>
              <p:spPr>
                <a:xfrm>
                  <a:off x="1381622" y="3083250"/>
                  <a:ext cx="1258250" cy="3774749"/>
                </a:xfrm>
                <a:prstGeom prst="rect">
                  <a:avLst/>
                </a:prstGeom>
                <a:gradFill>
                  <a:gsLst>
                    <a:gs pos="0">
                      <a:schemeClr val="bg1">
                        <a:alpha val="7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矩形 20"/>
                <p:cNvSpPr/>
                <p:nvPr/>
              </p:nvSpPr>
              <p:spPr>
                <a:xfrm>
                  <a:off x="660400" y="3886406"/>
                  <a:ext cx="943687" cy="2673781"/>
                </a:xfrm>
                <a:prstGeom prst="rect">
                  <a:avLst/>
                </a:prstGeom>
                <a:gradFill>
                  <a:gsLst>
                    <a:gs pos="0">
                      <a:schemeClr val="bg1">
                        <a:alpha val="45000"/>
                      </a:schemeClr>
                    </a:gs>
                    <a:gs pos="9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/>
                  <a:endParaRPr lang="zh-CN" altLang="en-US"/>
                </a:p>
              </p:txBody>
            </p:sp>
            <p:sp>
              <p:nvSpPr>
                <p:cNvPr id="22" name="矩形 21"/>
                <p:cNvSpPr>
                  <a:spLocks noChangeAspect="1"/>
                </p:cNvSpPr>
                <p:nvPr/>
              </p:nvSpPr>
              <p:spPr>
                <a:xfrm>
                  <a:off x="2872064" y="4813343"/>
                  <a:ext cx="629125" cy="2044656"/>
                </a:xfrm>
                <a:prstGeom prst="rect">
                  <a:avLst/>
                </a:prstGeom>
                <a:gradFill>
                  <a:gsLst>
                    <a:gs pos="0">
                      <a:schemeClr val="bg1">
                        <a:alpha val="2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/>
                  <a:endParaRPr lang="zh-CN" altLang="en-US"/>
                </a:p>
              </p:txBody>
            </p:sp>
          </p:grpSp>
        </p:grpSp>
        <p:grpSp>
          <p:nvGrpSpPr>
            <p:cNvPr id="25" name="组合 24"/>
            <p:cNvGrpSpPr/>
            <p:nvPr/>
          </p:nvGrpSpPr>
          <p:grpSpPr>
            <a:xfrm>
              <a:off x="11014708" y="5803700"/>
              <a:ext cx="432000" cy="432000"/>
              <a:chOff x="588208" y="5202001"/>
              <a:chExt cx="432000" cy="432000"/>
            </a:xfrm>
          </p:grpSpPr>
          <p:sp>
            <p:nvSpPr>
              <p:cNvPr id="26" name="矩形 25"/>
              <p:cNvSpPr>
                <a:spLocks noChangeAspect="1"/>
              </p:cNvSpPr>
              <p:nvPr/>
            </p:nvSpPr>
            <p:spPr bwMode="auto">
              <a:xfrm flipH="1">
                <a:off x="588208" y="5202001"/>
                <a:ext cx="432000" cy="432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任意多边形 26"/>
              <p:cNvSpPr>
                <a:spLocks noChangeAspect="1"/>
              </p:cNvSpPr>
              <p:nvPr/>
            </p:nvSpPr>
            <p:spPr>
              <a:xfrm flipH="1">
                <a:off x="699440" y="5345872"/>
                <a:ext cx="209537" cy="144259"/>
              </a:xfrm>
              <a:custGeom>
                <a:avLst/>
                <a:gdLst>
                  <a:gd name="T0" fmla="*/ 602275 w 602487"/>
                  <a:gd name="T1" fmla="*/ 602275 w 602487"/>
                  <a:gd name="T2" fmla="*/ 602275 w 602487"/>
                  <a:gd name="T3" fmla="*/ 602275 w 602487"/>
                  <a:gd name="T4" fmla="*/ 602275 w 602487"/>
                  <a:gd name="T5" fmla="*/ 602275 w 602487"/>
                  <a:gd name="T6" fmla="*/ 602275 w 602487"/>
                  <a:gd name="T7" fmla="*/ 602275 w 602487"/>
                  <a:gd name="T8" fmla="*/ 602275 w 602487"/>
                  <a:gd name="T9" fmla="*/ 602275 w 602487"/>
                  <a:gd name="T10" fmla="*/ 602275 w 602487"/>
                  <a:gd name="T11" fmla="*/ 602275 w 602487"/>
                  <a:gd name="T12" fmla="*/ 602275 w 602487"/>
                  <a:gd name="T13" fmla="*/ 602275 w 602487"/>
                  <a:gd name="T14" fmla="*/ 602275 w 602487"/>
                  <a:gd name="T15" fmla="*/ 602275 w 602487"/>
                  <a:gd name="T16" fmla="*/ 602275 w 602487"/>
                  <a:gd name="T17" fmla="*/ 602275 w 602487"/>
                  <a:gd name="T18" fmla="*/ 602275 w 602487"/>
                  <a:gd name="T19" fmla="*/ 602275 w 602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34" h="3126">
                    <a:moveTo>
                      <a:pt x="2971" y="0"/>
                    </a:moveTo>
                    <a:lnTo>
                      <a:pt x="2679" y="292"/>
                    </a:lnTo>
                    <a:lnTo>
                      <a:pt x="3743" y="1356"/>
                    </a:lnTo>
                    <a:lnTo>
                      <a:pt x="0" y="1356"/>
                    </a:lnTo>
                    <a:lnTo>
                      <a:pt x="0" y="1770"/>
                    </a:lnTo>
                    <a:lnTo>
                      <a:pt x="3743" y="1770"/>
                    </a:lnTo>
                    <a:lnTo>
                      <a:pt x="2679" y="2834"/>
                    </a:lnTo>
                    <a:lnTo>
                      <a:pt x="2971" y="3126"/>
                    </a:lnTo>
                    <a:lnTo>
                      <a:pt x="4534" y="1563"/>
                    </a:lnTo>
                    <a:lnTo>
                      <a:pt x="2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028699"/>
            <a:ext cx="3240000" cy="1260000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4678900" y="1028700"/>
            <a:ext cx="6840000" cy="4680000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matchingName="Section Header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0" y="0"/>
            <a:ext cx="11446708" cy="6858000"/>
            <a:chOff x="0" y="0"/>
            <a:chExt cx="11446708" cy="6858000"/>
          </a:xfrm>
        </p:grpSpPr>
        <p:grpSp>
          <p:nvGrpSpPr>
            <p:cNvPr id="36" name="组合 35"/>
            <p:cNvGrpSpPr/>
            <p:nvPr/>
          </p:nvGrpSpPr>
          <p:grpSpPr>
            <a:xfrm>
              <a:off x="0" y="0"/>
              <a:ext cx="8640000" cy="6858000"/>
              <a:chOff x="0" y="0"/>
              <a:chExt cx="8640000" cy="6858000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0" y="0"/>
                <a:ext cx="8640000" cy="6858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660400" y="1028700"/>
                <a:ext cx="1080000" cy="3060000"/>
              </a:xfrm>
              <a:prstGeom prst="rect">
                <a:avLst/>
              </a:prstGeom>
              <a:gradFill>
                <a:gsLst>
                  <a:gs pos="0">
                    <a:srgbClr val="FFFFFF">
                      <a:alpha val="50000"/>
                    </a:srgbClr>
                  </a:gs>
                  <a:gs pos="9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11014708" y="5803700"/>
              <a:ext cx="432000" cy="432000"/>
              <a:chOff x="588208" y="5202001"/>
              <a:chExt cx="432000" cy="432000"/>
            </a:xfrm>
          </p:grpSpPr>
          <p:sp>
            <p:nvSpPr>
              <p:cNvPr id="29" name="矩形 28"/>
              <p:cNvSpPr>
                <a:spLocks noChangeAspect="1"/>
              </p:cNvSpPr>
              <p:nvPr/>
            </p:nvSpPr>
            <p:spPr bwMode="auto">
              <a:xfrm flipH="1">
                <a:off x="588208" y="5202001"/>
                <a:ext cx="432000" cy="432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任意多边形 29"/>
              <p:cNvSpPr>
                <a:spLocks noChangeAspect="1"/>
              </p:cNvSpPr>
              <p:nvPr/>
            </p:nvSpPr>
            <p:spPr>
              <a:xfrm flipH="1">
                <a:off x="699440" y="5345872"/>
                <a:ext cx="209537" cy="144259"/>
              </a:xfrm>
              <a:custGeom>
                <a:avLst/>
                <a:gdLst>
                  <a:gd name="T0" fmla="*/ 602275 w 602487"/>
                  <a:gd name="T1" fmla="*/ 602275 w 602487"/>
                  <a:gd name="T2" fmla="*/ 602275 w 602487"/>
                  <a:gd name="T3" fmla="*/ 602275 w 602487"/>
                  <a:gd name="T4" fmla="*/ 602275 w 602487"/>
                  <a:gd name="T5" fmla="*/ 602275 w 602487"/>
                  <a:gd name="T6" fmla="*/ 602275 w 602487"/>
                  <a:gd name="T7" fmla="*/ 602275 w 602487"/>
                  <a:gd name="T8" fmla="*/ 602275 w 602487"/>
                  <a:gd name="T9" fmla="*/ 602275 w 602487"/>
                  <a:gd name="T10" fmla="*/ 602275 w 602487"/>
                  <a:gd name="T11" fmla="*/ 602275 w 602487"/>
                  <a:gd name="T12" fmla="*/ 602275 w 602487"/>
                  <a:gd name="T13" fmla="*/ 602275 w 602487"/>
                  <a:gd name="T14" fmla="*/ 602275 w 602487"/>
                  <a:gd name="T15" fmla="*/ 602275 w 602487"/>
                  <a:gd name="T16" fmla="*/ 602275 w 602487"/>
                  <a:gd name="T17" fmla="*/ 602275 w 602487"/>
                  <a:gd name="T18" fmla="*/ 602275 w 602487"/>
                  <a:gd name="T19" fmla="*/ 602275 w 602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34" h="3126">
                    <a:moveTo>
                      <a:pt x="2971" y="0"/>
                    </a:moveTo>
                    <a:lnTo>
                      <a:pt x="2679" y="292"/>
                    </a:lnTo>
                    <a:lnTo>
                      <a:pt x="3743" y="1356"/>
                    </a:lnTo>
                    <a:lnTo>
                      <a:pt x="0" y="1356"/>
                    </a:lnTo>
                    <a:lnTo>
                      <a:pt x="0" y="1770"/>
                    </a:lnTo>
                    <a:lnTo>
                      <a:pt x="3743" y="1770"/>
                    </a:lnTo>
                    <a:lnTo>
                      <a:pt x="2679" y="2834"/>
                    </a:lnTo>
                    <a:lnTo>
                      <a:pt x="2971" y="3126"/>
                    </a:lnTo>
                    <a:lnTo>
                      <a:pt x="4534" y="1563"/>
                    </a:lnTo>
                    <a:lnTo>
                      <a:pt x="2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130085" y="1448569"/>
            <a:ext cx="6840000" cy="20160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54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1130085" y="3562575"/>
            <a:ext cx="6840000" cy="252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 typeface="+mj-lt"/>
              <a:buNone/>
              <a:defRPr sz="2000" b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6292850"/>
            <a:chOff x="0" y="0"/>
            <a:chExt cx="12192000" cy="6292850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0"/>
              <a:ext cx="12192000" cy="5400000"/>
              <a:chOff x="0" y="0"/>
              <a:chExt cx="12192000" cy="5400000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0" y="0"/>
                <a:ext cx="12192000" cy="5400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9202350" y="1080000"/>
                <a:ext cx="1440000" cy="4320000"/>
              </a:xfrm>
              <a:prstGeom prst="rect">
                <a:avLst/>
              </a:prstGeom>
              <a:gradFill>
                <a:gsLst>
                  <a:gs pos="0">
                    <a:schemeClr val="bg1">
                      <a:alpha val="70000"/>
                    </a:schemeClr>
                  </a:gs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8376950" y="1999169"/>
                <a:ext cx="1080000" cy="3060000"/>
              </a:xfrm>
              <a:prstGeom prst="rect">
                <a:avLst/>
              </a:prstGeom>
              <a:gradFill>
                <a:gsLst>
                  <a:gs pos="0">
                    <a:schemeClr val="bg1">
                      <a:alpha val="45000"/>
                    </a:schemeClr>
                  </a:gs>
                  <a:gs pos="9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12" name="矩形 11"/>
              <p:cNvSpPr>
                <a:spLocks noChangeAspect="1"/>
              </p:cNvSpPr>
              <p:nvPr/>
            </p:nvSpPr>
            <p:spPr>
              <a:xfrm>
                <a:off x="10908082" y="3060000"/>
                <a:ext cx="720000" cy="2340000"/>
              </a:xfrm>
              <a:prstGeom prst="rect">
                <a:avLst/>
              </a:prstGeom>
              <a:gradFill>
                <a:gsLst>
                  <a:gs pos="0">
                    <a:schemeClr val="bg1">
                      <a:alpha val="20000"/>
                    </a:schemeClr>
                  </a:gs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727075" y="5860850"/>
              <a:ext cx="432000" cy="432000"/>
              <a:chOff x="727075" y="5259151"/>
              <a:chExt cx="432000" cy="432000"/>
            </a:xfrm>
          </p:grpSpPr>
          <p:sp>
            <p:nvSpPr>
              <p:cNvPr id="7" name="矩形 6"/>
              <p:cNvSpPr>
                <a:spLocks noChangeAspect="1"/>
              </p:cNvSpPr>
              <p:nvPr/>
            </p:nvSpPr>
            <p:spPr bwMode="auto">
              <a:xfrm flipH="1">
                <a:off x="727075" y="5259151"/>
                <a:ext cx="432000" cy="432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任意多边形 7"/>
              <p:cNvSpPr>
                <a:spLocks noChangeAspect="1"/>
              </p:cNvSpPr>
              <p:nvPr/>
            </p:nvSpPr>
            <p:spPr>
              <a:xfrm>
                <a:off x="838307" y="5403022"/>
                <a:ext cx="209537" cy="144259"/>
              </a:xfrm>
              <a:custGeom>
                <a:avLst/>
                <a:gdLst>
                  <a:gd name="T0" fmla="*/ 602275 w 602487"/>
                  <a:gd name="T1" fmla="*/ 602275 w 602487"/>
                  <a:gd name="T2" fmla="*/ 602275 w 602487"/>
                  <a:gd name="T3" fmla="*/ 602275 w 602487"/>
                  <a:gd name="T4" fmla="*/ 602275 w 602487"/>
                  <a:gd name="T5" fmla="*/ 602275 w 602487"/>
                  <a:gd name="T6" fmla="*/ 602275 w 602487"/>
                  <a:gd name="T7" fmla="*/ 602275 w 602487"/>
                  <a:gd name="T8" fmla="*/ 602275 w 602487"/>
                  <a:gd name="T9" fmla="*/ 602275 w 602487"/>
                  <a:gd name="T10" fmla="*/ 602275 w 602487"/>
                  <a:gd name="T11" fmla="*/ 602275 w 602487"/>
                  <a:gd name="T12" fmla="*/ 602275 w 602487"/>
                  <a:gd name="T13" fmla="*/ 602275 w 602487"/>
                  <a:gd name="T14" fmla="*/ 602275 w 602487"/>
                  <a:gd name="T15" fmla="*/ 602275 w 602487"/>
                  <a:gd name="T16" fmla="*/ 602275 w 602487"/>
                  <a:gd name="T17" fmla="*/ 602275 w 602487"/>
                  <a:gd name="T18" fmla="*/ 602275 w 602487"/>
                  <a:gd name="T19" fmla="*/ 602275 w 602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34" h="3126">
                    <a:moveTo>
                      <a:pt x="2971" y="0"/>
                    </a:moveTo>
                    <a:lnTo>
                      <a:pt x="2679" y="292"/>
                    </a:lnTo>
                    <a:lnTo>
                      <a:pt x="3743" y="1356"/>
                    </a:lnTo>
                    <a:lnTo>
                      <a:pt x="0" y="1356"/>
                    </a:lnTo>
                    <a:lnTo>
                      <a:pt x="0" y="1770"/>
                    </a:lnTo>
                    <a:lnTo>
                      <a:pt x="3743" y="1770"/>
                    </a:lnTo>
                    <a:lnTo>
                      <a:pt x="2679" y="2834"/>
                    </a:lnTo>
                    <a:lnTo>
                      <a:pt x="2971" y="3126"/>
                    </a:lnTo>
                    <a:lnTo>
                      <a:pt x="4534" y="1563"/>
                    </a:lnTo>
                    <a:lnTo>
                      <a:pt x="2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21" name="标题 20"/>
          <p:cNvSpPr>
            <a:spLocks noGrp="1"/>
          </p:cNvSpPr>
          <p:nvPr>
            <p:ph type="title" hasCustomPrompt="1"/>
          </p:nvPr>
        </p:nvSpPr>
        <p:spPr>
          <a:xfrm>
            <a:off x="660400" y="1028700"/>
            <a:ext cx="7200000" cy="2592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600">
                <a:ln w="19050">
                  <a:noFill/>
                </a:ln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3" hasCustomPrompt="1"/>
          </p:nvPr>
        </p:nvSpPr>
        <p:spPr>
          <a:xfrm>
            <a:off x="1732233" y="5774100"/>
            <a:ext cx="2880000" cy="792000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5185566" y="5774100"/>
            <a:ext cx="2880000" cy="792000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0" y="-1"/>
            <a:ext cx="12192000" cy="1044000"/>
            <a:chOff x="0" y="-1"/>
            <a:chExt cx="12192000" cy="1044000"/>
          </a:xfrm>
        </p:grpSpPr>
        <p:sp>
          <p:nvSpPr>
            <p:cNvPr id="9" name="矩形 8"/>
            <p:cNvSpPr/>
            <p:nvPr/>
          </p:nvSpPr>
          <p:spPr>
            <a:xfrm>
              <a:off x="0" y="-1"/>
              <a:ext cx="12192000" cy="104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463516" y="275967"/>
              <a:ext cx="432000" cy="756000"/>
            </a:xfrm>
            <a:prstGeom prst="rect">
              <a:avLst/>
            </a:prstGeom>
            <a:gradFill>
              <a:gsLst>
                <a:gs pos="0">
                  <a:schemeClr val="bg1">
                    <a:alpha val="45000"/>
                  </a:schemeClr>
                </a:gs>
                <a:gs pos="9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23" name="任意多边形 22"/>
            <p:cNvSpPr>
              <a:spLocks noChangeAspect="1"/>
            </p:cNvSpPr>
            <p:nvPr/>
          </p:nvSpPr>
          <p:spPr>
            <a:xfrm flipH="1">
              <a:off x="11158900" y="575369"/>
              <a:ext cx="360000" cy="247849"/>
            </a:xfrm>
            <a:custGeom>
              <a:avLst/>
              <a:gdLst>
                <a:gd name="T0" fmla="*/ 602275 w 602487"/>
                <a:gd name="T1" fmla="*/ 602275 w 602487"/>
                <a:gd name="T2" fmla="*/ 602275 w 602487"/>
                <a:gd name="T3" fmla="*/ 602275 w 602487"/>
                <a:gd name="T4" fmla="*/ 602275 w 602487"/>
                <a:gd name="T5" fmla="*/ 602275 w 602487"/>
                <a:gd name="T6" fmla="*/ 602275 w 602487"/>
                <a:gd name="T7" fmla="*/ 602275 w 602487"/>
                <a:gd name="T8" fmla="*/ 602275 w 602487"/>
                <a:gd name="T9" fmla="*/ 602275 w 602487"/>
                <a:gd name="T10" fmla="*/ 602275 w 602487"/>
                <a:gd name="T11" fmla="*/ 602275 w 602487"/>
                <a:gd name="T12" fmla="*/ 602275 w 602487"/>
                <a:gd name="T13" fmla="*/ 602275 w 602487"/>
                <a:gd name="T14" fmla="*/ 602275 w 602487"/>
                <a:gd name="T15" fmla="*/ 602275 w 602487"/>
                <a:gd name="T16" fmla="*/ 602275 w 602487"/>
                <a:gd name="T17" fmla="*/ 602275 w 602487"/>
                <a:gd name="T18" fmla="*/ 602275 w 602487"/>
                <a:gd name="T19" fmla="*/ 602275 w 602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34" h="3126">
                  <a:moveTo>
                    <a:pt x="2971" y="0"/>
                  </a:moveTo>
                  <a:lnTo>
                    <a:pt x="2679" y="292"/>
                  </a:lnTo>
                  <a:lnTo>
                    <a:pt x="3743" y="1356"/>
                  </a:lnTo>
                  <a:lnTo>
                    <a:pt x="0" y="1356"/>
                  </a:lnTo>
                  <a:lnTo>
                    <a:pt x="0" y="1770"/>
                  </a:lnTo>
                  <a:lnTo>
                    <a:pt x="3743" y="1770"/>
                  </a:lnTo>
                  <a:lnTo>
                    <a:pt x="2679" y="2834"/>
                  </a:lnTo>
                  <a:lnTo>
                    <a:pt x="2971" y="3126"/>
                  </a:lnTo>
                  <a:lnTo>
                    <a:pt x="4534" y="1563"/>
                  </a:lnTo>
                  <a:lnTo>
                    <a:pt x="29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285957"/>
            <a:ext cx="10440000" cy="61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1.jpe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5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3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9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3.xml"/><Relationship Id="rId1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8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29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0.xml"/><Relationship Id="rId1" Type="http://schemas.openxmlformats.org/officeDocument/2006/relationships/image" Target="../media/image8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r>
              <a:rPr lang="zh-CN" altLang="en-US" dirty="0"/>
              <a:t>基于ZigBee无线传感器网络的智能牛棚环境监测系统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实现牛棚环境参数实时监测与智能控制的模拟仿真系统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/>
        <p:txBody>
          <a:bodyPr>
            <a:normAutofit/>
          </a:bodyPr>
          <a:lstStyle/>
          <a:p>
            <a:pPr marL="0" marR="0" indent="0" algn="l"/>
            <a:r>
              <a:rPr lang="zh-CN" altLang="en-US" sz="1400" dirty="0">
                <a:solidFill>
                  <a:schemeClr val="tx1"/>
                </a:solidFill>
              </a:rPr>
              <a:t>姜林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/>
        <p:txBody>
          <a:bodyPr>
            <a:normAutofit/>
          </a:bodyPr>
          <a:lstStyle/>
          <a:p>
            <a:pPr marL="0" marR="0" indent="0" algn="l"/>
            <a:r>
              <a:rPr lang="zh-CN" altLang="en-US" sz="1400" dirty="0">
                <a:solidFill>
                  <a:schemeClr val="tx1"/>
                </a:solidFill>
              </a:rPr>
              <a:t>2025/11/19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2c2b8d33-ec3a-4902-b3bc-d845a734e9b4.source.2.zh-Hans.pptx"/>
          <p:cNvGrpSpPr/>
          <p:nvPr/>
        </p:nvGrpSpPr>
        <p:grpSpPr>
          <a:xfrm>
            <a:off x="660400" y="1130300"/>
            <a:ext cx="10858500" cy="5049878"/>
            <a:chOff x="660400" y="1130300"/>
            <a:chExt cx="10858500" cy="5049878"/>
          </a:xfrm>
        </p:grpSpPr>
        <p:sp>
          <p:nvSpPr>
            <p:cNvPr id="2" name="Title"/>
            <p:cNvSpPr/>
            <p:nvPr/>
          </p:nvSpPr>
          <p:spPr>
            <a:xfrm>
              <a:off x="660400" y="1130300"/>
              <a:ext cx="10858500" cy="609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明确职责划分，协同推进项目开发与集成</a:t>
              </a:r>
              <a:endParaRPr lang="en-US" dirty="0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717764" y="2025906"/>
              <a:ext cx="5169019" cy="4154272"/>
              <a:chOff x="717764" y="2025906"/>
              <a:chExt cx="5169019" cy="4154272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717764" y="2025906"/>
                <a:ext cx="5101416" cy="3522351"/>
                <a:chOff x="3309979" y="3520824"/>
                <a:chExt cx="5803327" cy="2350019"/>
              </a:xfrm>
            </p:grpSpPr>
            <p:sp>
              <p:nvSpPr>
                <p:cNvPr id="3" name="Text1"/>
                <p:cNvSpPr txBox="1"/>
                <p:nvPr/>
              </p:nvSpPr>
              <p:spPr>
                <a:xfrm>
                  <a:off x="3309979" y="3880595"/>
                  <a:ext cx="5803327" cy="1990248"/>
                </a:xfrm>
                <a:prstGeom prst="rect">
                  <a:avLst/>
                </a:prstGeom>
                <a:noFill/>
              </p:spPr>
              <p:txBody>
                <a:bodyPr wrap="square">
                  <a:noAutofit/>
                </a:bodyPr>
                <a:lstStyle/>
                <a:p>
                  <a:pPr marL="0" marR="0" indent="0" algn="l"/>
                  <a:r>
                    <a:rPr lang="zh-CN" altLang="en-US" sz="2000" dirty="0">
                      <a:solidFill>
                        <a:schemeClr val="tx1"/>
                      </a:solidFill>
                    </a:rPr>
                    <a:t>负责前端界面设计与实现，开发Python数据模拟器，并完成ZigBee节点及控制设备的模拟功能，确保前端与后端的数据交互稳定可靠。</a:t>
                  </a:r>
                  <a:endParaRPr lang="en-US" dirty="0"/>
                </a:p>
              </p:txBody>
            </p:sp>
            <p:sp>
              <p:nvSpPr>
                <p:cNvPr id="4" name="Bullet1"/>
                <p:cNvSpPr txBox="1"/>
                <p:nvPr/>
              </p:nvSpPr>
              <p:spPr>
                <a:xfrm>
                  <a:off x="3309979" y="3520824"/>
                  <a:ext cx="5803326" cy="35977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normAutofit/>
                </a:bodyPr>
                <a:lstStyle/>
                <a:p>
                  <a:pPr marL="0" marR="0" indent="0" algn="l"/>
                  <a:r>
                    <a:rPr lang="zh-CN" altLang="en-US" sz="1800" b="1" i="0" u="none" strike="noStrike" dirty="0">
                      <a:solidFill>
                        <a:schemeClr val="tx1"/>
                      </a:solidFill>
                    </a:rPr>
                    <a:t>姜林</a:t>
                  </a:r>
                  <a:endParaRPr lang="en-US" dirty="0"/>
                </a:p>
              </p:txBody>
            </p:sp>
          </p:grpSp>
          <p:sp>
            <p:nvSpPr>
              <p:cNvPr id="19" name="ComponentBackground1"/>
              <p:cNvSpPr/>
              <p:nvPr/>
            </p:nvSpPr>
            <p:spPr>
              <a:xfrm>
                <a:off x="731397" y="2478926"/>
                <a:ext cx="5155386" cy="3701252"/>
              </a:xfrm>
              <a:prstGeom prst="roundRect">
                <a:avLst>
                  <a:gd name="adj" fmla="val 2791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indent="0" algn="ctr"/>
                <a:endParaRPr lang="en-US" dirty="0"/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5469699" y="5763251"/>
                <a:ext cx="236179" cy="236179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b="1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5293160" y="5763249"/>
                <a:ext cx="236179" cy="236179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b="1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6560418" y="2070893"/>
              <a:ext cx="4958482" cy="4063208"/>
              <a:chOff x="717764" y="2025906"/>
              <a:chExt cx="5158780" cy="4108195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717764" y="2025906"/>
                <a:ext cx="5101416" cy="3522351"/>
                <a:chOff x="3309979" y="3520824"/>
                <a:chExt cx="5803327" cy="2350019"/>
              </a:xfrm>
            </p:grpSpPr>
            <p:sp>
              <p:nvSpPr>
                <p:cNvPr id="21" name="Text2"/>
                <p:cNvSpPr txBox="1"/>
                <p:nvPr/>
              </p:nvSpPr>
              <p:spPr>
                <a:xfrm>
                  <a:off x="3309979" y="3880595"/>
                  <a:ext cx="5803327" cy="1990248"/>
                </a:xfrm>
                <a:prstGeom prst="rect">
                  <a:avLst/>
                </a:prstGeom>
                <a:noFill/>
              </p:spPr>
              <p:txBody>
                <a:bodyPr wrap="square">
                  <a:noAutofit/>
                </a:bodyPr>
                <a:lstStyle/>
                <a:p>
                  <a:pPr marL="0" marR="0" indent="0" algn="l"/>
                  <a:r>
                    <a:rPr lang="zh-CN" altLang="en-US" sz="2000" dirty="0">
                      <a:solidFill>
                        <a:schemeClr val="tx1"/>
                      </a:solidFill>
                    </a:rPr>
                    <a:t>负责Java后端系统搭建，实现核心业务逻辑、数据库设计与管理，制定控制策略，并完成ZigBee协调器模拟接收端的开发与集成。</a:t>
                  </a:r>
                  <a:endParaRPr lang="en-US" dirty="0"/>
                </a:p>
              </p:txBody>
            </p:sp>
            <p:sp>
              <p:nvSpPr>
                <p:cNvPr id="22" name="Bullet2"/>
                <p:cNvSpPr txBox="1"/>
                <p:nvPr/>
              </p:nvSpPr>
              <p:spPr>
                <a:xfrm>
                  <a:off x="3309979" y="3520824"/>
                  <a:ext cx="5803326" cy="35977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normAutofit/>
                </a:bodyPr>
                <a:lstStyle/>
                <a:p>
                  <a:pPr marL="0" marR="0" indent="0" algn="l"/>
                  <a:r>
                    <a:rPr lang="zh-CN" altLang="en-US" sz="1800" b="1" i="0" u="none" strike="noStrike" dirty="0">
                      <a:solidFill>
                        <a:schemeClr val="tx1"/>
                      </a:solidFill>
                    </a:rPr>
                    <a:t>郑煜</a:t>
                  </a:r>
                  <a:endParaRPr lang="en-US" dirty="0"/>
                </a:p>
              </p:txBody>
            </p:sp>
          </p:grpSp>
          <p:sp>
            <p:nvSpPr>
              <p:cNvPr id="16" name="ComponentBackground2"/>
              <p:cNvSpPr/>
              <p:nvPr/>
            </p:nvSpPr>
            <p:spPr>
              <a:xfrm>
                <a:off x="755218" y="2540637"/>
                <a:ext cx="5121326" cy="3593464"/>
              </a:xfrm>
              <a:prstGeom prst="roundRect">
                <a:avLst>
                  <a:gd name="adj" fmla="val 2791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dirty="0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5469699" y="5763251"/>
                <a:ext cx="236179" cy="236179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b="1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5293160" y="5763249"/>
                <a:ext cx="236179" cy="236179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b="1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团队分工</a:t>
            </a:r>
            <a:endParaRPr 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9be515a3-0b76-4621-87b2-14e7fe4370f7.source.4.zh-Hans.pptx"/>
          <p:cNvGrpSpPr/>
          <p:nvPr>
            <p:custDataLst>
              <p:tags r:id="rId1"/>
            </p:custDataLst>
          </p:nvPr>
        </p:nvGrpSpPr>
        <p:grpSpPr>
          <a:xfrm>
            <a:off x="526495" y="1023887"/>
            <a:ext cx="11005105" cy="4978699"/>
            <a:chOff x="526495" y="1023887"/>
            <a:chExt cx="11005105" cy="4978699"/>
          </a:xfrm>
        </p:grpSpPr>
        <p:sp>
          <p:nvSpPr>
            <p:cNvPr id="13" name="Title"/>
            <p:cNvSpPr txBox="1"/>
            <p:nvPr/>
          </p:nvSpPr>
          <p:spPr bwMode="auto">
            <a:xfrm>
              <a:off x="526495" y="1023887"/>
              <a:ext cx="5182144" cy="89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buSzPct val="25000"/>
              </a:pPr>
              <a:endParaRPr lang="en-US" dirty="0"/>
            </a:p>
          </p:txBody>
        </p:sp>
        <p:cxnSp>
          <p:nvCxnSpPr>
            <p:cNvPr id="14" name="ísḷïḋé"/>
            <p:cNvCxnSpPr/>
            <p:nvPr/>
          </p:nvCxnSpPr>
          <p:spPr>
            <a:xfrm>
              <a:off x="771738" y="2782924"/>
              <a:ext cx="6027921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ï$ļîḍe"/>
            <p:cNvCxnSpPr/>
            <p:nvPr/>
          </p:nvCxnSpPr>
          <p:spPr>
            <a:xfrm>
              <a:off x="771738" y="3863129"/>
              <a:ext cx="6027921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îṧḷïdê"/>
            <p:cNvCxnSpPr/>
            <p:nvPr/>
          </p:nvCxnSpPr>
          <p:spPr>
            <a:xfrm>
              <a:off x="771738" y="4943339"/>
              <a:ext cx="6027921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组合 18"/>
            <p:cNvGrpSpPr/>
            <p:nvPr/>
          </p:nvGrpSpPr>
          <p:grpSpPr>
            <a:xfrm>
              <a:off x="660400" y="2021630"/>
              <a:ext cx="6139257" cy="655249"/>
              <a:chOff x="660400" y="2111612"/>
              <a:chExt cx="6139257" cy="655249"/>
            </a:xfrm>
          </p:grpSpPr>
          <p:sp>
            <p:nvSpPr>
              <p:cNvPr id="40" name="Number1"/>
              <p:cNvSpPr txBox="1"/>
              <p:nvPr>
                <p:custDataLst>
                  <p:tags r:id="rId2"/>
                </p:custDataLst>
              </p:nvPr>
            </p:nvSpPr>
            <p:spPr bwMode="auto">
              <a:xfrm flipH="1">
                <a:off x="660400" y="2111612"/>
                <a:ext cx="363401" cy="655243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chemeClr val="accent1"/>
                    </a:solidFill>
                  </a:rPr>
                  <a:t>1.</a:t>
                </a:r>
                <a:endParaRPr lang="en-US" altLang="zh-CN" sz="20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1" name="Bullet1"/>
              <p:cNvSpPr txBox="1"/>
              <p:nvPr>
                <p:custDataLst>
                  <p:tags r:id="rId3"/>
                </p:custDataLst>
              </p:nvPr>
            </p:nvSpPr>
            <p:spPr bwMode="auto">
              <a:xfrm flipH="1">
                <a:off x="1023802" y="2111618"/>
                <a:ext cx="5775855" cy="6552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zh-CN" altLang="en-US" b="1" dirty="0"/>
                  <a:t>项目概述与背景分析</a:t>
                </a:r>
                <a:endParaRPr lang="en-US" dirty="0"/>
              </a:p>
            </p:txBody>
          </p:sp>
        </p:grpSp>
        <p:sp>
          <p:nvSpPr>
            <p:cNvPr id="20" name="PictureMisc1"/>
            <p:cNvSpPr/>
            <p:nvPr/>
          </p:nvSpPr>
          <p:spPr>
            <a:xfrm>
              <a:off x="7226098" y="2111613"/>
              <a:ext cx="4305502" cy="3890973"/>
            </a:xfrm>
            <a:prstGeom prst="roundRect">
              <a:avLst>
                <a:gd name="adj" fmla="val 4590"/>
              </a:avLst>
            </a:prstGeom>
            <a:blipFill>
              <a:blip r:embed="rId4"/>
              <a:stretch>
                <a:fillRect l="-17831" r="-17727"/>
              </a:stretch>
            </a:blipFill>
            <a:ln w="3175">
              <a:noFill/>
              <a:prstDash val="sysDash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800" b="1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660400" y="2888969"/>
              <a:ext cx="6139257" cy="868115"/>
              <a:chOff x="660400" y="2672812"/>
              <a:chExt cx="6139257" cy="868115"/>
            </a:xfrm>
          </p:grpSpPr>
          <p:sp>
            <p:nvSpPr>
              <p:cNvPr id="38" name="Number2"/>
              <p:cNvSpPr txBox="1"/>
              <p:nvPr>
                <p:custDataLst>
                  <p:tags r:id="rId5"/>
                </p:custDataLst>
              </p:nvPr>
            </p:nvSpPr>
            <p:spPr bwMode="auto">
              <a:xfrm flipH="1">
                <a:off x="660400" y="2672812"/>
                <a:ext cx="363401" cy="86810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chemeClr val="accent1"/>
                    </a:solidFill>
                  </a:rPr>
                  <a:t>2.</a:t>
                </a:r>
                <a:endParaRPr lang="en-US" altLang="zh-CN" sz="20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9" name="Bullet2"/>
              <p:cNvSpPr txBox="1"/>
              <p:nvPr>
                <p:custDataLst>
                  <p:tags r:id="rId6"/>
                </p:custDataLst>
              </p:nvPr>
            </p:nvSpPr>
            <p:spPr bwMode="auto">
              <a:xfrm flipH="1">
                <a:off x="1023802" y="2672823"/>
                <a:ext cx="5775855" cy="8681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zh-CN" altLang="en-US" b="1" dirty="0"/>
                  <a:t>系统四层架构设计详解</a:t>
                </a:r>
                <a:endParaRPr lang="en-US" dirty="0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660400" y="3969174"/>
              <a:ext cx="6139257" cy="868120"/>
              <a:chOff x="660400" y="3234015"/>
              <a:chExt cx="6139257" cy="868120"/>
            </a:xfrm>
          </p:grpSpPr>
          <p:sp>
            <p:nvSpPr>
              <p:cNvPr id="36" name="Number3"/>
              <p:cNvSpPr txBox="1"/>
              <p:nvPr>
                <p:custDataLst>
                  <p:tags r:id="rId7"/>
                </p:custDataLst>
              </p:nvPr>
            </p:nvSpPr>
            <p:spPr bwMode="auto">
              <a:xfrm flipH="1">
                <a:off x="660400" y="3234015"/>
                <a:ext cx="363401" cy="868107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chemeClr val="accent1"/>
                    </a:solidFill>
                  </a:rPr>
                  <a:t>3.</a:t>
                </a:r>
                <a:endParaRPr lang="en-US" altLang="zh-CN" sz="20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7" name="Bullet3"/>
              <p:cNvSpPr txBox="1"/>
              <p:nvPr>
                <p:custDataLst>
                  <p:tags r:id="rId8"/>
                </p:custDataLst>
              </p:nvPr>
            </p:nvSpPr>
            <p:spPr bwMode="auto">
              <a:xfrm flipH="1">
                <a:off x="1023802" y="3234028"/>
                <a:ext cx="5775855" cy="868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zh-CN" altLang="en-US" b="1" dirty="0"/>
                  <a:t>核心功能模块详细设计</a:t>
                </a:r>
                <a:endParaRPr lang="en-US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660400" y="5049384"/>
              <a:ext cx="6139257" cy="868120"/>
              <a:chOff x="660400" y="3795221"/>
              <a:chExt cx="6139257" cy="868120"/>
            </a:xfrm>
          </p:grpSpPr>
          <p:sp>
            <p:nvSpPr>
              <p:cNvPr id="34" name="Number4"/>
              <p:cNvSpPr txBox="1"/>
              <p:nvPr>
                <p:custDataLst>
                  <p:tags r:id="rId9"/>
                </p:custDataLst>
              </p:nvPr>
            </p:nvSpPr>
            <p:spPr bwMode="auto">
              <a:xfrm flipH="1">
                <a:off x="660400" y="3795221"/>
                <a:ext cx="363401" cy="868107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chemeClr val="accent1"/>
                    </a:solidFill>
                  </a:rPr>
                  <a:t>4.</a:t>
                </a:r>
                <a:endParaRPr lang="en-US" altLang="zh-CN" sz="20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5" name="Bullet4"/>
              <p:cNvSpPr txBox="1"/>
              <p:nvPr>
                <p:custDataLst>
                  <p:tags r:id="rId10"/>
                </p:custDataLst>
              </p:nvPr>
            </p:nvSpPr>
            <p:spPr bwMode="auto">
              <a:xfrm flipH="1">
                <a:off x="1023802" y="3795234"/>
                <a:ext cx="5775855" cy="868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zh-CN" altLang="en-US" b="1" dirty="0"/>
                  <a:t>非功能需求与系统保障</a:t>
                </a:r>
                <a:endParaRPr 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>
                <a:sym typeface="Arial" panose="020B0604020202020204" pitchFamily="34" charset="0"/>
              </a:rPr>
              <a:t>目录</a:t>
            </a:r>
            <a:endParaRPr lang="zh-CN" altLang="en-US" dirty="0"/>
          </a:p>
        </p:txBody>
      </p:sp>
    </p:spTree>
    <p:custDataLst>
      <p:tags r:id="rId1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项目概述与背景分析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阐述现代畜牧业智能化转型需求及系统建设必要性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61c83430-8da1-495d-ada6-9cc123ee41b9.source.5.zh-Hans.pptx"/>
          <p:cNvGrpSpPr/>
          <p:nvPr/>
        </p:nvGrpSpPr>
        <p:grpSpPr>
          <a:xfrm>
            <a:off x="660400" y="1130299"/>
            <a:ext cx="10858500" cy="5003801"/>
            <a:chOff x="660400" y="1130299"/>
            <a:chExt cx="10858500" cy="5003801"/>
          </a:xfrm>
        </p:grpSpPr>
        <p:sp>
          <p:nvSpPr>
            <p:cNvPr id="3" name="菱形 2"/>
            <p:cNvSpPr/>
            <p:nvPr/>
          </p:nvSpPr>
          <p:spPr>
            <a:xfrm>
              <a:off x="8400492" y="3942771"/>
              <a:ext cx="2443177" cy="619360"/>
            </a:xfrm>
            <a:prstGeom prst="diamond">
              <a:avLst/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菱形 14"/>
            <p:cNvSpPr/>
            <p:nvPr/>
          </p:nvSpPr>
          <p:spPr>
            <a:xfrm>
              <a:off x="8744717" y="3306771"/>
              <a:ext cx="1757800" cy="441828"/>
            </a:xfrm>
            <a:prstGeom prst="diamond">
              <a:avLst/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 fontScale="55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菱形 15"/>
            <p:cNvSpPr/>
            <p:nvPr/>
          </p:nvSpPr>
          <p:spPr>
            <a:xfrm>
              <a:off x="8033502" y="4582344"/>
              <a:ext cx="3177158" cy="805426"/>
            </a:xfrm>
            <a:prstGeom prst="diamond">
              <a:avLst/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 sz="1600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9130783" y="1718818"/>
              <a:ext cx="491299" cy="1143610"/>
            </a:xfrm>
            <a:custGeom>
              <a:avLst/>
              <a:gdLst>
                <a:gd name="connsiteX0" fmla="*/ 414800 w 414800"/>
                <a:gd name="connsiteY0" fmla="*/ 0 h 962114"/>
                <a:gd name="connsiteX1" fmla="*/ 414800 w 414800"/>
                <a:gd name="connsiteY1" fmla="*/ 962114 h 962114"/>
                <a:gd name="connsiteX2" fmla="*/ 0 w 414800"/>
                <a:gd name="connsiteY2" fmla="*/ 857954 h 962114"/>
                <a:gd name="connsiteX3" fmla="*/ 414800 w 414800"/>
                <a:gd name="connsiteY3" fmla="*/ 0 h 962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4800" h="962114">
                  <a:moveTo>
                    <a:pt x="414800" y="0"/>
                  </a:moveTo>
                  <a:lnTo>
                    <a:pt x="414800" y="962114"/>
                  </a:lnTo>
                  <a:lnTo>
                    <a:pt x="0" y="857954"/>
                  </a:lnTo>
                  <a:lnTo>
                    <a:pt x="41480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8779404" y="2796951"/>
              <a:ext cx="842678" cy="883394"/>
            </a:xfrm>
            <a:custGeom>
              <a:avLst/>
              <a:gdLst>
                <a:gd name="connsiteX0" fmla="*/ 272941 w 711467"/>
                <a:gd name="connsiteY0" fmla="*/ 0 h 743196"/>
                <a:gd name="connsiteX1" fmla="*/ 711467 w 711467"/>
                <a:gd name="connsiteY1" fmla="*/ 110118 h 743196"/>
                <a:gd name="connsiteX2" fmla="*/ 711467 w 711467"/>
                <a:gd name="connsiteY2" fmla="*/ 743196 h 743196"/>
                <a:gd name="connsiteX3" fmla="*/ 0 w 711467"/>
                <a:gd name="connsiteY3" fmla="*/ 564539 h 743196"/>
                <a:gd name="connsiteX4" fmla="*/ 272941 w 711467"/>
                <a:gd name="connsiteY4" fmla="*/ 0 h 743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67" h="743196">
                  <a:moveTo>
                    <a:pt x="272941" y="0"/>
                  </a:moveTo>
                  <a:lnTo>
                    <a:pt x="711467" y="110118"/>
                  </a:lnTo>
                  <a:lnTo>
                    <a:pt x="711467" y="743196"/>
                  </a:lnTo>
                  <a:lnTo>
                    <a:pt x="0" y="564539"/>
                  </a:lnTo>
                  <a:lnTo>
                    <a:pt x="2729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 sz="1600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8428024" y="3526319"/>
              <a:ext cx="1194057" cy="971945"/>
            </a:xfrm>
            <a:custGeom>
              <a:avLst/>
              <a:gdLst>
                <a:gd name="connsiteX0" fmla="*/ 272940 w 1008134"/>
                <a:gd name="connsiteY0" fmla="*/ 0 h 817693"/>
                <a:gd name="connsiteX1" fmla="*/ 1008134 w 1008134"/>
                <a:gd name="connsiteY1" fmla="*/ 184615 h 817693"/>
                <a:gd name="connsiteX2" fmla="*/ 1008134 w 1008134"/>
                <a:gd name="connsiteY2" fmla="*/ 817693 h 817693"/>
                <a:gd name="connsiteX3" fmla="*/ 0 w 1008134"/>
                <a:gd name="connsiteY3" fmla="*/ 564540 h 817693"/>
                <a:gd name="connsiteX4" fmla="*/ 272940 w 1008134"/>
                <a:gd name="connsiteY4" fmla="*/ 0 h 817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134" h="817693">
                  <a:moveTo>
                    <a:pt x="272940" y="0"/>
                  </a:moveTo>
                  <a:lnTo>
                    <a:pt x="1008134" y="184615"/>
                  </a:lnTo>
                  <a:lnTo>
                    <a:pt x="1008134" y="817693"/>
                  </a:lnTo>
                  <a:lnTo>
                    <a:pt x="0" y="564540"/>
                  </a:lnTo>
                  <a:lnTo>
                    <a:pt x="27294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8076643" y="4255688"/>
              <a:ext cx="1545438" cy="1060494"/>
            </a:xfrm>
            <a:custGeom>
              <a:avLst/>
              <a:gdLst>
                <a:gd name="connsiteX0" fmla="*/ 272942 w 1304802"/>
                <a:gd name="connsiteY0" fmla="*/ 0 h 892189"/>
                <a:gd name="connsiteX1" fmla="*/ 1304802 w 1304802"/>
                <a:gd name="connsiteY1" fmla="*/ 259111 h 892189"/>
                <a:gd name="connsiteX2" fmla="*/ 1304802 w 1304802"/>
                <a:gd name="connsiteY2" fmla="*/ 892189 h 892189"/>
                <a:gd name="connsiteX3" fmla="*/ 0 w 1304802"/>
                <a:gd name="connsiteY3" fmla="*/ 564540 h 892189"/>
                <a:gd name="connsiteX4" fmla="*/ 272942 w 1304802"/>
                <a:gd name="connsiteY4" fmla="*/ 0 h 892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802" h="892189">
                  <a:moveTo>
                    <a:pt x="272942" y="0"/>
                  </a:moveTo>
                  <a:lnTo>
                    <a:pt x="1304802" y="259111"/>
                  </a:lnTo>
                  <a:lnTo>
                    <a:pt x="1304802" y="892189"/>
                  </a:lnTo>
                  <a:lnTo>
                    <a:pt x="0" y="564540"/>
                  </a:lnTo>
                  <a:lnTo>
                    <a:pt x="2729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 sz="1600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7725263" y="4985057"/>
              <a:ext cx="1896819" cy="1149043"/>
            </a:xfrm>
            <a:custGeom>
              <a:avLst/>
              <a:gdLst>
                <a:gd name="connsiteX0" fmla="*/ 272942 w 1601471"/>
                <a:gd name="connsiteY0" fmla="*/ 0 h 966685"/>
                <a:gd name="connsiteX1" fmla="*/ 1601471 w 1601471"/>
                <a:gd name="connsiteY1" fmla="*/ 333607 h 966685"/>
                <a:gd name="connsiteX2" fmla="*/ 1601471 w 1601471"/>
                <a:gd name="connsiteY2" fmla="*/ 966685 h 966685"/>
                <a:gd name="connsiteX3" fmla="*/ 0 w 1601471"/>
                <a:gd name="connsiteY3" fmla="*/ 564540 h 966685"/>
                <a:gd name="connsiteX4" fmla="*/ 272942 w 1601471"/>
                <a:gd name="connsiteY4" fmla="*/ 0 h 96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471" h="966685">
                  <a:moveTo>
                    <a:pt x="272942" y="0"/>
                  </a:moveTo>
                  <a:lnTo>
                    <a:pt x="1601471" y="333607"/>
                  </a:lnTo>
                  <a:lnTo>
                    <a:pt x="1601471" y="966685"/>
                  </a:lnTo>
                  <a:lnTo>
                    <a:pt x="0" y="564540"/>
                  </a:lnTo>
                  <a:lnTo>
                    <a:pt x="27294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9622082" y="1718818"/>
              <a:ext cx="491299" cy="1143610"/>
            </a:xfrm>
            <a:custGeom>
              <a:avLst/>
              <a:gdLst>
                <a:gd name="connsiteX0" fmla="*/ 0 w 414800"/>
                <a:gd name="connsiteY0" fmla="*/ 0 h 962114"/>
                <a:gd name="connsiteX1" fmla="*/ 414800 w 414800"/>
                <a:gd name="connsiteY1" fmla="*/ 857954 h 962114"/>
                <a:gd name="connsiteX2" fmla="*/ 0 w 414800"/>
                <a:gd name="connsiteY2" fmla="*/ 962114 h 962114"/>
                <a:gd name="connsiteX3" fmla="*/ 0 w 414800"/>
                <a:gd name="connsiteY3" fmla="*/ 0 h 962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4800" h="962114">
                  <a:moveTo>
                    <a:pt x="0" y="0"/>
                  </a:moveTo>
                  <a:lnTo>
                    <a:pt x="414800" y="857954"/>
                  </a:lnTo>
                  <a:lnTo>
                    <a:pt x="0" y="9621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9622082" y="2796951"/>
              <a:ext cx="842678" cy="883394"/>
            </a:xfrm>
            <a:custGeom>
              <a:avLst/>
              <a:gdLst>
                <a:gd name="connsiteX0" fmla="*/ 438526 w 711467"/>
                <a:gd name="connsiteY0" fmla="*/ 0 h 743196"/>
                <a:gd name="connsiteX1" fmla="*/ 711467 w 711467"/>
                <a:gd name="connsiteY1" fmla="*/ 564539 h 743196"/>
                <a:gd name="connsiteX2" fmla="*/ 0 w 711467"/>
                <a:gd name="connsiteY2" fmla="*/ 743196 h 743196"/>
                <a:gd name="connsiteX3" fmla="*/ 0 w 711467"/>
                <a:gd name="connsiteY3" fmla="*/ 110118 h 743196"/>
                <a:gd name="connsiteX4" fmla="*/ 438526 w 711467"/>
                <a:gd name="connsiteY4" fmla="*/ 0 h 743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67" h="743196">
                  <a:moveTo>
                    <a:pt x="438526" y="0"/>
                  </a:moveTo>
                  <a:lnTo>
                    <a:pt x="711467" y="564539"/>
                  </a:lnTo>
                  <a:lnTo>
                    <a:pt x="0" y="743196"/>
                  </a:lnTo>
                  <a:lnTo>
                    <a:pt x="0" y="110118"/>
                  </a:lnTo>
                  <a:lnTo>
                    <a:pt x="438526" y="0"/>
                  </a:lnTo>
                  <a:close/>
                </a:path>
              </a:pathLst>
            </a:custGeom>
            <a:solidFill>
              <a:schemeClr val="accent3">
                <a:alpha val="30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 sz="1600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9622082" y="3526319"/>
              <a:ext cx="1194060" cy="971945"/>
            </a:xfrm>
            <a:custGeom>
              <a:avLst/>
              <a:gdLst>
                <a:gd name="connsiteX0" fmla="*/ 735194 w 1008136"/>
                <a:gd name="connsiteY0" fmla="*/ 0 h 817693"/>
                <a:gd name="connsiteX1" fmla="*/ 1008136 w 1008136"/>
                <a:gd name="connsiteY1" fmla="*/ 564540 h 817693"/>
                <a:gd name="connsiteX2" fmla="*/ 0 w 1008136"/>
                <a:gd name="connsiteY2" fmla="*/ 817693 h 817693"/>
                <a:gd name="connsiteX3" fmla="*/ 0 w 1008136"/>
                <a:gd name="connsiteY3" fmla="*/ 184615 h 817693"/>
                <a:gd name="connsiteX4" fmla="*/ 735194 w 1008136"/>
                <a:gd name="connsiteY4" fmla="*/ 0 h 817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136" h="817693">
                  <a:moveTo>
                    <a:pt x="735194" y="0"/>
                  </a:moveTo>
                  <a:lnTo>
                    <a:pt x="1008136" y="564540"/>
                  </a:lnTo>
                  <a:lnTo>
                    <a:pt x="0" y="817693"/>
                  </a:lnTo>
                  <a:lnTo>
                    <a:pt x="0" y="184615"/>
                  </a:lnTo>
                  <a:lnTo>
                    <a:pt x="73519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9622082" y="4255688"/>
              <a:ext cx="1545440" cy="1060494"/>
            </a:xfrm>
            <a:custGeom>
              <a:avLst/>
              <a:gdLst>
                <a:gd name="connsiteX0" fmla="*/ 1031862 w 1304804"/>
                <a:gd name="connsiteY0" fmla="*/ 0 h 892189"/>
                <a:gd name="connsiteX1" fmla="*/ 1304804 w 1304804"/>
                <a:gd name="connsiteY1" fmla="*/ 564540 h 892189"/>
                <a:gd name="connsiteX2" fmla="*/ 0 w 1304804"/>
                <a:gd name="connsiteY2" fmla="*/ 892189 h 892189"/>
                <a:gd name="connsiteX3" fmla="*/ 0 w 1304804"/>
                <a:gd name="connsiteY3" fmla="*/ 259111 h 892189"/>
                <a:gd name="connsiteX4" fmla="*/ 1031862 w 1304804"/>
                <a:gd name="connsiteY4" fmla="*/ 0 h 892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804" h="892189">
                  <a:moveTo>
                    <a:pt x="1031862" y="0"/>
                  </a:moveTo>
                  <a:lnTo>
                    <a:pt x="1304804" y="564540"/>
                  </a:lnTo>
                  <a:lnTo>
                    <a:pt x="0" y="892189"/>
                  </a:lnTo>
                  <a:lnTo>
                    <a:pt x="0" y="259111"/>
                  </a:lnTo>
                  <a:lnTo>
                    <a:pt x="1031862" y="0"/>
                  </a:lnTo>
                  <a:close/>
                </a:path>
              </a:pathLst>
            </a:custGeom>
            <a:solidFill>
              <a:schemeClr val="accent3">
                <a:alpha val="30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 sz="1600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9622082" y="4985057"/>
              <a:ext cx="1896818" cy="1149043"/>
            </a:xfrm>
            <a:custGeom>
              <a:avLst/>
              <a:gdLst>
                <a:gd name="connsiteX0" fmla="*/ 1328529 w 1601470"/>
                <a:gd name="connsiteY0" fmla="*/ 0 h 966685"/>
                <a:gd name="connsiteX1" fmla="*/ 1601470 w 1601470"/>
                <a:gd name="connsiteY1" fmla="*/ 564540 h 966685"/>
                <a:gd name="connsiteX2" fmla="*/ 0 w 1601470"/>
                <a:gd name="connsiteY2" fmla="*/ 966685 h 966685"/>
                <a:gd name="connsiteX3" fmla="*/ 0 w 1601470"/>
                <a:gd name="connsiteY3" fmla="*/ 333607 h 966685"/>
                <a:gd name="connsiteX4" fmla="*/ 1328529 w 1601470"/>
                <a:gd name="connsiteY4" fmla="*/ 0 h 96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470" h="966685">
                  <a:moveTo>
                    <a:pt x="1328529" y="0"/>
                  </a:moveTo>
                  <a:lnTo>
                    <a:pt x="1601470" y="564540"/>
                  </a:lnTo>
                  <a:lnTo>
                    <a:pt x="0" y="966685"/>
                  </a:lnTo>
                  <a:lnTo>
                    <a:pt x="0" y="333607"/>
                  </a:lnTo>
                  <a:lnTo>
                    <a:pt x="1328529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30" name="Title"/>
            <p:cNvSpPr txBox="1"/>
            <p:nvPr/>
          </p:nvSpPr>
          <p:spPr>
            <a:xfrm>
              <a:off x="660400" y="1130299"/>
              <a:ext cx="10858500" cy="526082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/>
            <a:p>
              <a:r>
                <a:rPr lang="zh-CN" altLang="en-US" sz="2000" b="1" dirty="0">
                  <a:cs typeface="+mn-ea"/>
                  <a:sym typeface="+mn-lt"/>
                </a:rPr>
                <a:t>分析传统人工监测方式效率低、成本高、实时性差等痛点</a:t>
              </a:r>
              <a:endParaRPr lang="en-US" dirty="0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60400" y="1753484"/>
              <a:ext cx="3434080" cy="1374526"/>
              <a:chOff x="660400" y="1753484"/>
              <a:chExt cx="3434080" cy="1374526"/>
            </a:xfrm>
          </p:grpSpPr>
          <p:sp>
            <p:nvSpPr>
              <p:cNvPr id="73" name="Text1"/>
              <p:cNvSpPr/>
              <p:nvPr/>
            </p:nvSpPr>
            <p:spPr>
              <a:xfrm>
                <a:off x="1155699" y="2195528"/>
                <a:ext cx="2938774" cy="932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i="0" dirty="0">
                    <a:solidFill>
                      <a:schemeClr val="tx1"/>
                    </a:solidFill>
                    <a:effectLst/>
                    <a:cs typeface="+mn-ea"/>
                    <a:sym typeface="+mn-lt"/>
                  </a:rPr>
                  <a:t>人工巡检耗时耗力，难以实现全天候连续监控，易遗漏异常数据，导致动物健康风险上升。</a:t>
                </a:r>
                <a:endParaRPr lang="en-US" dirty="0"/>
              </a:p>
            </p:txBody>
          </p:sp>
          <p:sp>
            <p:nvSpPr>
              <p:cNvPr id="74" name="Bullet1"/>
              <p:cNvSpPr/>
              <p:nvPr/>
            </p:nvSpPr>
            <p:spPr>
              <a:xfrm>
                <a:off x="1155700" y="1753484"/>
                <a:ext cx="2938780" cy="4420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传统监测模式局限性</a:t>
                </a:r>
                <a:endParaRPr lang="en-US" dirty="0"/>
              </a:p>
            </p:txBody>
          </p:sp>
          <p:sp>
            <p:nvSpPr>
              <p:cNvPr id="75" name="Number1"/>
              <p:cNvSpPr/>
              <p:nvPr/>
            </p:nvSpPr>
            <p:spPr>
              <a:xfrm>
                <a:off x="660400" y="1753484"/>
                <a:ext cx="442045" cy="442045"/>
              </a:xfrm>
              <a:prstGeom prst="roundRect">
                <a:avLst>
                  <a:gd name="adj" fmla="val 9000"/>
                </a:avLst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1</a:t>
                </a:r>
                <a:endParaRPr lang="zh-CN" altLang="en-US" sz="16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660400" y="3256529"/>
              <a:ext cx="3434080" cy="1374526"/>
              <a:chOff x="660400" y="3256529"/>
              <a:chExt cx="3434080" cy="1374526"/>
            </a:xfrm>
          </p:grpSpPr>
          <p:sp>
            <p:nvSpPr>
              <p:cNvPr id="64" name="Text2"/>
              <p:cNvSpPr/>
              <p:nvPr/>
            </p:nvSpPr>
            <p:spPr>
              <a:xfrm>
                <a:off x="1155699" y="3698573"/>
                <a:ext cx="2938774" cy="932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i="0" dirty="0">
                    <a:solidFill>
                      <a:schemeClr val="tx1"/>
                    </a:solidFill>
                    <a:effectLst/>
                    <a:cs typeface="+mn-ea"/>
                    <a:sym typeface="+mn-lt"/>
                  </a:rPr>
                  <a:t>温度、湿度、氨气和硫化氢浓度直接影响奶牛产奶量、繁殖率和疾病发生率，需精准调控。</a:t>
                </a:r>
                <a:endParaRPr lang="en-US" dirty="0"/>
              </a:p>
            </p:txBody>
          </p:sp>
          <p:sp>
            <p:nvSpPr>
              <p:cNvPr id="71" name="Bullet2"/>
              <p:cNvSpPr/>
              <p:nvPr/>
            </p:nvSpPr>
            <p:spPr>
              <a:xfrm>
                <a:off x="1155700" y="3256529"/>
                <a:ext cx="2938780" cy="4420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养殖环境对生产效率的影响</a:t>
                </a:r>
                <a:endParaRPr lang="en-US" dirty="0"/>
              </a:p>
            </p:txBody>
          </p:sp>
          <p:sp>
            <p:nvSpPr>
              <p:cNvPr id="72" name="Number2"/>
              <p:cNvSpPr/>
              <p:nvPr/>
            </p:nvSpPr>
            <p:spPr>
              <a:xfrm>
                <a:off x="660400" y="3256529"/>
                <a:ext cx="442045" cy="442045"/>
              </a:xfrm>
              <a:prstGeom prst="roundRect">
                <a:avLst>
                  <a:gd name="adj" fmla="val 9000"/>
                </a:avLst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2</a:t>
                </a:r>
                <a:endParaRPr lang="zh-CN" altLang="en-US" sz="16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>
              <a:off x="660400" y="4759574"/>
              <a:ext cx="3434080" cy="1374526"/>
              <a:chOff x="660400" y="4759574"/>
              <a:chExt cx="3434080" cy="1374526"/>
            </a:xfrm>
          </p:grpSpPr>
          <p:sp>
            <p:nvSpPr>
              <p:cNvPr id="61" name="Text3"/>
              <p:cNvSpPr/>
              <p:nvPr/>
            </p:nvSpPr>
            <p:spPr>
              <a:xfrm>
                <a:off x="1155699" y="5201618"/>
                <a:ext cx="2938774" cy="932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i="0" dirty="0">
                    <a:solidFill>
                      <a:schemeClr val="tx1"/>
                    </a:solidFill>
                    <a:effectLst/>
                    <a:cs typeface="+mn-ea"/>
                    <a:sym typeface="+mn-lt"/>
                  </a:rPr>
                  <a:t>国家推动智慧农业发展，物联网技术在养殖业应用广泛，提升管理效率与经济效益成为行业共识。</a:t>
                </a:r>
                <a:endParaRPr lang="en-US" dirty="0"/>
              </a:p>
            </p:txBody>
          </p:sp>
          <p:sp>
            <p:nvSpPr>
              <p:cNvPr id="62" name="Bullet3"/>
              <p:cNvSpPr/>
              <p:nvPr/>
            </p:nvSpPr>
            <p:spPr>
              <a:xfrm>
                <a:off x="1155700" y="4759574"/>
                <a:ext cx="2938780" cy="4420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智能化升级趋势</a:t>
                </a:r>
                <a:endParaRPr lang="en-US" dirty="0"/>
              </a:p>
            </p:txBody>
          </p:sp>
          <p:sp>
            <p:nvSpPr>
              <p:cNvPr id="63" name="Number3"/>
              <p:cNvSpPr/>
              <p:nvPr/>
            </p:nvSpPr>
            <p:spPr>
              <a:xfrm>
                <a:off x="660400" y="4759574"/>
                <a:ext cx="442045" cy="442045"/>
              </a:xfrm>
              <a:prstGeom prst="roundRect">
                <a:avLst>
                  <a:gd name="adj" fmla="val 9000"/>
                </a:avLst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3</a:t>
                </a:r>
                <a:endParaRPr lang="zh-CN" altLang="en-US" sz="16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4237936" y="1753484"/>
              <a:ext cx="3434080" cy="1374526"/>
              <a:chOff x="4237936" y="1753484"/>
              <a:chExt cx="3434080" cy="1374526"/>
            </a:xfrm>
          </p:grpSpPr>
          <p:sp>
            <p:nvSpPr>
              <p:cNvPr id="52" name="Text4"/>
              <p:cNvSpPr/>
              <p:nvPr/>
            </p:nvSpPr>
            <p:spPr>
              <a:xfrm>
                <a:off x="4733235" y="2195528"/>
                <a:ext cx="2938774" cy="932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i="0" dirty="0">
                    <a:solidFill>
                      <a:schemeClr val="tx1"/>
                    </a:solidFill>
                    <a:effectLst/>
                    <a:cs typeface="+mn-ea"/>
                    <a:sym typeface="+mn-lt"/>
                  </a:rPr>
                  <a:t>农业农村部发布《智慧畜牧业建设指南》，鼓励采用无线传感网络进行环境监测，保障畜禽福利。</a:t>
                </a:r>
                <a:endParaRPr lang="en-US" dirty="0"/>
              </a:p>
            </p:txBody>
          </p:sp>
          <p:sp>
            <p:nvSpPr>
              <p:cNvPr id="57" name="Bullet4"/>
              <p:cNvSpPr/>
              <p:nvPr/>
            </p:nvSpPr>
            <p:spPr>
              <a:xfrm>
                <a:off x="4733236" y="1753484"/>
                <a:ext cx="2938780" cy="4420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政策支持与标准规范</a:t>
                </a:r>
                <a:endParaRPr lang="en-US" dirty="0"/>
              </a:p>
            </p:txBody>
          </p:sp>
          <p:sp>
            <p:nvSpPr>
              <p:cNvPr id="58" name="Number4"/>
              <p:cNvSpPr/>
              <p:nvPr/>
            </p:nvSpPr>
            <p:spPr>
              <a:xfrm>
                <a:off x="4237936" y="1753484"/>
                <a:ext cx="442045" cy="442045"/>
              </a:xfrm>
              <a:prstGeom prst="roundRect">
                <a:avLst>
                  <a:gd name="adj" fmla="val 9000"/>
                </a:avLst>
              </a:prstGeom>
              <a:solidFill>
                <a:schemeClr val="accent2"/>
              </a:solidFill>
              <a:ln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r>
                  <a:rPr lang="en-US" altLang="zh-CN" sz="1400" b="1" dirty="0">
                    <a:solidFill>
                      <a:schemeClr val="lt1"/>
                    </a:solidFill>
                    <a:cs typeface="+mn-ea"/>
                    <a:sym typeface="+mn-lt"/>
                  </a:rPr>
                  <a:t>4</a:t>
                </a:r>
                <a:endParaRPr lang="zh-CN" altLang="en-US" sz="1400" b="1" dirty="0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4237936" y="3256529"/>
              <a:ext cx="3434080" cy="1374526"/>
              <a:chOff x="4237936" y="3256529"/>
              <a:chExt cx="3434080" cy="1374526"/>
            </a:xfrm>
          </p:grpSpPr>
          <p:sp>
            <p:nvSpPr>
              <p:cNvPr id="49" name="Text5"/>
              <p:cNvSpPr/>
              <p:nvPr/>
            </p:nvSpPr>
            <p:spPr>
              <a:xfrm>
                <a:off x="4733235" y="3698573"/>
                <a:ext cx="2938774" cy="932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i="0" dirty="0">
                    <a:solidFill>
                      <a:schemeClr val="tx1"/>
                    </a:solidFill>
                    <a:effectLst/>
                    <a:cs typeface="+mn-ea"/>
                    <a:sym typeface="+mn-lt"/>
                  </a:rPr>
                  <a:t>ZigBee低功耗、自组网特性适合大规模部署，结合Web可视化平台可实现远程集中管理。</a:t>
                </a:r>
                <a:endParaRPr lang="en-US" dirty="0"/>
              </a:p>
            </p:txBody>
          </p:sp>
          <p:sp>
            <p:nvSpPr>
              <p:cNvPr id="50" name="Bullet5"/>
              <p:cNvSpPr/>
              <p:nvPr/>
            </p:nvSpPr>
            <p:spPr>
              <a:xfrm>
                <a:off x="4733236" y="3256529"/>
                <a:ext cx="2938780" cy="4420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技术可行性分析</a:t>
                </a:r>
                <a:endParaRPr lang="en-US" dirty="0"/>
              </a:p>
            </p:txBody>
          </p:sp>
          <p:sp>
            <p:nvSpPr>
              <p:cNvPr id="51" name="Number5"/>
              <p:cNvSpPr/>
              <p:nvPr/>
            </p:nvSpPr>
            <p:spPr>
              <a:xfrm>
                <a:off x="4237936" y="3256529"/>
                <a:ext cx="442045" cy="442045"/>
              </a:xfrm>
              <a:prstGeom prst="roundRect">
                <a:avLst>
                  <a:gd name="adj" fmla="val 9000"/>
                </a:avLst>
              </a:prstGeom>
              <a:solidFill>
                <a:schemeClr val="accent2"/>
              </a:solidFill>
              <a:ln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r>
                  <a:rPr lang="en-US" altLang="zh-CN" sz="1400" b="1" dirty="0">
                    <a:solidFill>
                      <a:schemeClr val="lt1"/>
                    </a:solidFill>
                    <a:cs typeface="+mn-ea"/>
                    <a:sym typeface="+mn-lt"/>
                  </a:rPr>
                  <a:t>5</a:t>
                </a:r>
                <a:endParaRPr lang="zh-CN" altLang="en-US" sz="1400" b="1" dirty="0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畜牧业发展现状与挑战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f384e14d-278d-4eee-9c5c-98e4baf64608.source.6.zh-Hans.pptx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5" name="Title"/>
            <p:cNvSpPr/>
            <p:nvPr/>
          </p:nvSpPr>
          <p:spPr>
            <a:xfrm>
              <a:off x="660400" y="1130300"/>
              <a:ext cx="10858500" cy="6549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marL="0" marR="0" indent="0" algn="l"/>
              <a:r>
                <a:rPr lang="zh-CN" altLang="en-US" sz="2400" b="1" dirty="0">
                  <a:solidFill>
                    <a:schemeClr val="tx1"/>
                  </a:solidFill>
                </a:rPr>
                <a:t>明确系统五大核心目标：实时监测、无线传输、界面展示、智能告警、联动控制</a:t>
              </a:r>
              <a:endParaRPr lang="en-US" dirty="0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660400" y="1807367"/>
              <a:ext cx="5210697" cy="1405733"/>
              <a:chOff x="4222309" y="3946172"/>
              <a:chExt cx="4995246" cy="1928990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4264129" y="4034230"/>
                <a:ext cx="4170689" cy="1765793"/>
                <a:chOff x="4264129" y="4033701"/>
                <a:chExt cx="4170689" cy="1765793"/>
              </a:xfrm>
            </p:grpSpPr>
            <p:sp>
              <p:nvSpPr>
                <p:cNvPr id="13" name="Text1"/>
                <p:cNvSpPr txBox="1"/>
                <p:nvPr/>
              </p:nvSpPr>
              <p:spPr>
                <a:xfrm>
                  <a:off x="4264129" y="4742271"/>
                  <a:ext cx="4170689" cy="1057223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监测温度（-10°C~50°C）、湿度（20%~90%）、氨气（0~100ppm）、硫化氢（0~50ppm）四项关键指标。</a:t>
                  </a:r>
                  <a:endParaRPr lang="en-US" dirty="0"/>
                </a:p>
              </p:txBody>
            </p:sp>
            <p:sp>
              <p:nvSpPr>
                <p:cNvPr id="19" name="Bullet1"/>
                <p:cNvSpPr txBox="1"/>
                <p:nvPr/>
              </p:nvSpPr>
              <p:spPr>
                <a:xfrm>
                  <a:off x="4264129" y="4033701"/>
                  <a:ext cx="4170689" cy="69828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多参数环境实时采集</a:t>
                  </a:r>
                  <a:endParaRPr lang="en-US" dirty="0"/>
                </a:p>
              </p:txBody>
            </p:sp>
          </p:grpSp>
          <p:sp>
            <p:nvSpPr>
              <p:cNvPr id="2" name="ComponentBackground1"/>
              <p:cNvSpPr/>
              <p:nvPr/>
            </p:nvSpPr>
            <p:spPr>
              <a:xfrm>
                <a:off x="4222309" y="3946172"/>
                <a:ext cx="4995246" cy="1928990"/>
              </a:xfrm>
              <a:prstGeom prst="roundRect">
                <a:avLst>
                  <a:gd name="adj" fmla="val 4167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/>
              </a:p>
            </p:txBody>
          </p:sp>
          <p:sp>
            <p:nvSpPr>
              <p:cNvPr id="3" name="Number1"/>
              <p:cNvSpPr/>
              <p:nvPr/>
            </p:nvSpPr>
            <p:spPr>
              <a:xfrm>
                <a:off x="8446993" y="4064706"/>
                <a:ext cx="677146" cy="16919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r"/>
                <a:r>
                  <a:rPr lang="en-US" altLang="zh-CN" sz="6000" dirty="0">
                    <a:solidFill>
                      <a:schemeClr val="accent1"/>
                    </a:solidFill>
                  </a:rPr>
                  <a:t>1</a:t>
                </a:r>
                <a:endParaRPr lang="zh-CN" altLang="en-US" sz="6000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660400" y="3267867"/>
              <a:ext cx="5210697" cy="1405733"/>
              <a:chOff x="4222309" y="3946172"/>
              <a:chExt cx="4995246" cy="1928990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4264129" y="4034230"/>
                <a:ext cx="4170689" cy="1765793"/>
                <a:chOff x="4264129" y="4033701"/>
                <a:chExt cx="4170689" cy="1765793"/>
              </a:xfrm>
            </p:grpSpPr>
            <p:sp>
              <p:nvSpPr>
                <p:cNvPr id="12" name="Text2"/>
                <p:cNvSpPr txBox="1"/>
                <p:nvPr/>
              </p:nvSpPr>
              <p:spPr>
                <a:xfrm>
                  <a:off x="4264129" y="4742271"/>
                  <a:ext cx="4170689" cy="1057223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构建星型拓扑结构，协调器统一管理多个终端节点，实现稳定可靠的数据回传。</a:t>
                  </a:r>
                  <a:endParaRPr lang="en-US" dirty="0"/>
                </a:p>
              </p:txBody>
            </p:sp>
            <p:sp>
              <p:nvSpPr>
                <p:cNvPr id="21" name="Bullet2"/>
                <p:cNvSpPr txBox="1"/>
                <p:nvPr/>
              </p:nvSpPr>
              <p:spPr>
                <a:xfrm>
                  <a:off x="4264129" y="4033701"/>
                  <a:ext cx="4170689" cy="69828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基于ZigBee的无线组网</a:t>
                  </a:r>
                  <a:endParaRPr lang="en-US" dirty="0"/>
                </a:p>
              </p:txBody>
            </p:sp>
          </p:grpSp>
          <p:sp>
            <p:nvSpPr>
              <p:cNvPr id="10" name="ComponentBackground2"/>
              <p:cNvSpPr/>
              <p:nvPr/>
            </p:nvSpPr>
            <p:spPr>
              <a:xfrm>
                <a:off x="4222309" y="3946172"/>
                <a:ext cx="4995246" cy="1928990"/>
              </a:xfrm>
              <a:prstGeom prst="roundRect">
                <a:avLst>
                  <a:gd name="adj" fmla="val 4167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/>
              </a:p>
            </p:txBody>
          </p:sp>
          <p:sp>
            <p:nvSpPr>
              <p:cNvPr id="11" name="Number2"/>
              <p:cNvSpPr/>
              <p:nvPr/>
            </p:nvSpPr>
            <p:spPr>
              <a:xfrm>
                <a:off x="8446993" y="4064706"/>
                <a:ext cx="677146" cy="16919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r"/>
                <a:r>
                  <a:rPr lang="en-US" altLang="zh-CN" sz="6000" dirty="0">
                    <a:solidFill>
                      <a:schemeClr val="accent1"/>
                    </a:solidFill>
                  </a:rPr>
                  <a:t>2</a:t>
                </a:r>
                <a:endParaRPr lang="zh-CN" altLang="en-US" sz="6000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660400" y="4728367"/>
              <a:ext cx="5210697" cy="1405733"/>
              <a:chOff x="4222309" y="3946172"/>
              <a:chExt cx="4995246" cy="1928990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4264129" y="4034230"/>
                <a:ext cx="4170689" cy="1765793"/>
                <a:chOff x="4264129" y="4033701"/>
                <a:chExt cx="4170689" cy="1765793"/>
              </a:xfrm>
            </p:grpSpPr>
            <p:sp>
              <p:nvSpPr>
                <p:cNvPr id="26" name="Text3"/>
                <p:cNvSpPr txBox="1"/>
                <p:nvPr/>
              </p:nvSpPr>
              <p:spPr>
                <a:xfrm>
                  <a:off x="4264129" y="4742271"/>
                  <a:ext cx="4170689" cy="1057223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使用Vue 3 + ECharts构建响应式界面，支持多图表展示、实时刷新与历史查询。</a:t>
                  </a:r>
                  <a:endParaRPr lang="en-US" dirty="0"/>
                </a:p>
              </p:txBody>
            </p:sp>
            <p:sp>
              <p:nvSpPr>
                <p:cNvPr id="27" name="Bullet3"/>
                <p:cNvSpPr txBox="1"/>
                <p:nvPr/>
              </p:nvSpPr>
              <p:spPr>
                <a:xfrm>
                  <a:off x="4264129" y="4033701"/>
                  <a:ext cx="4170689" cy="69828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Web端可视化监控平台</a:t>
                  </a:r>
                  <a:endParaRPr lang="en-US" dirty="0"/>
                </a:p>
              </p:txBody>
            </p:sp>
          </p:grpSp>
          <p:sp>
            <p:nvSpPr>
              <p:cNvPr id="24" name="ComponentBackground3"/>
              <p:cNvSpPr/>
              <p:nvPr/>
            </p:nvSpPr>
            <p:spPr>
              <a:xfrm>
                <a:off x="4222309" y="3946172"/>
                <a:ext cx="4995246" cy="1928990"/>
              </a:xfrm>
              <a:prstGeom prst="roundRect">
                <a:avLst>
                  <a:gd name="adj" fmla="val 4167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/>
              </a:p>
            </p:txBody>
          </p:sp>
          <p:sp>
            <p:nvSpPr>
              <p:cNvPr id="25" name="Number3"/>
              <p:cNvSpPr/>
              <p:nvPr/>
            </p:nvSpPr>
            <p:spPr>
              <a:xfrm>
                <a:off x="8446993" y="4064706"/>
                <a:ext cx="677146" cy="16919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r"/>
                <a:r>
                  <a:rPr lang="en-US" altLang="zh-CN" sz="6000" dirty="0">
                    <a:solidFill>
                      <a:schemeClr val="accent1"/>
                    </a:solidFill>
                  </a:rPr>
                  <a:t>3</a:t>
                </a:r>
                <a:endParaRPr lang="zh-CN" altLang="en-US" sz="6000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6308203" y="1807367"/>
              <a:ext cx="5210697" cy="1405733"/>
              <a:chOff x="4222309" y="3946172"/>
              <a:chExt cx="4995246" cy="1928990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4264129" y="4034230"/>
                <a:ext cx="4170689" cy="1765793"/>
                <a:chOff x="4264129" y="4033701"/>
                <a:chExt cx="4170689" cy="1765793"/>
              </a:xfrm>
            </p:grpSpPr>
            <p:sp>
              <p:nvSpPr>
                <p:cNvPr id="32" name="Text4"/>
                <p:cNvSpPr txBox="1"/>
                <p:nvPr/>
              </p:nvSpPr>
              <p:spPr>
                <a:xfrm>
                  <a:off x="4264129" y="4742271"/>
                  <a:ext cx="4170689" cy="1057223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设置多级阈值（警告/严重/紧急），通过前端弹窗+声音提示及时通知用户处理。</a:t>
                  </a:r>
                  <a:endParaRPr lang="en-US" dirty="0"/>
                </a:p>
              </p:txBody>
            </p:sp>
            <p:sp>
              <p:nvSpPr>
                <p:cNvPr id="33" name="Bullet4"/>
                <p:cNvSpPr txBox="1"/>
                <p:nvPr/>
              </p:nvSpPr>
              <p:spPr>
                <a:xfrm>
                  <a:off x="4264129" y="4033701"/>
                  <a:ext cx="4170689" cy="69828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异常状态智能告警机制</a:t>
                  </a:r>
                  <a:endParaRPr lang="en-US" dirty="0"/>
                </a:p>
              </p:txBody>
            </p:sp>
          </p:grpSp>
          <p:sp>
            <p:nvSpPr>
              <p:cNvPr id="30" name="ComponentBackground4"/>
              <p:cNvSpPr/>
              <p:nvPr/>
            </p:nvSpPr>
            <p:spPr>
              <a:xfrm>
                <a:off x="4222309" y="3946172"/>
                <a:ext cx="4995246" cy="1928990"/>
              </a:xfrm>
              <a:prstGeom prst="roundRect">
                <a:avLst>
                  <a:gd name="adj" fmla="val 4167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/>
              </a:p>
            </p:txBody>
          </p:sp>
          <p:sp>
            <p:nvSpPr>
              <p:cNvPr id="31" name="Number4"/>
              <p:cNvSpPr/>
              <p:nvPr/>
            </p:nvSpPr>
            <p:spPr>
              <a:xfrm>
                <a:off x="8446993" y="4064706"/>
                <a:ext cx="677146" cy="16919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r"/>
                <a:r>
                  <a:rPr lang="en-US" altLang="zh-CN" sz="6000" dirty="0">
                    <a:solidFill>
                      <a:schemeClr val="accent1"/>
                    </a:solidFill>
                  </a:rPr>
                  <a:t>4</a:t>
                </a:r>
                <a:endParaRPr lang="zh-CN" altLang="en-US" sz="6000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6308203" y="3267867"/>
              <a:ext cx="5210697" cy="1405733"/>
              <a:chOff x="4222309" y="3946172"/>
              <a:chExt cx="4995246" cy="1928990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4264129" y="4034230"/>
                <a:ext cx="4170689" cy="1765793"/>
                <a:chOff x="4264129" y="4033701"/>
                <a:chExt cx="4170689" cy="1765793"/>
              </a:xfrm>
            </p:grpSpPr>
            <p:sp>
              <p:nvSpPr>
                <p:cNvPr id="50" name="Text5"/>
                <p:cNvSpPr txBox="1"/>
                <p:nvPr/>
              </p:nvSpPr>
              <p:spPr>
                <a:xfrm>
                  <a:off x="4264129" y="4742271"/>
                  <a:ext cx="4170689" cy="1057223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根据环境超标情况自动启动风机、卷帘或供热系统，并支持手动干预优先。</a:t>
                  </a:r>
                  <a:endParaRPr lang="en-US" dirty="0"/>
                </a:p>
              </p:txBody>
            </p:sp>
            <p:sp>
              <p:nvSpPr>
                <p:cNvPr id="51" name="Bullet5"/>
                <p:cNvSpPr txBox="1"/>
                <p:nvPr/>
              </p:nvSpPr>
              <p:spPr>
                <a:xfrm>
                  <a:off x="4264129" y="4033701"/>
                  <a:ext cx="4170689" cy="69828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设备自动联动控制策略</a:t>
                  </a:r>
                  <a:endParaRPr lang="en-US" dirty="0"/>
                </a:p>
              </p:txBody>
            </p:sp>
          </p:grpSp>
          <p:sp>
            <p:nvSpPr>
              <p:cNvPr id="48" name="ComponentBackground5"/>
              <p:cNvSpPr/>
              <p:nvPr/>
            </p:nvSpPr>
            <p:spPr>
              <a:xfrm>
                <a:off x="4222309" y="3946172"/>
                <a:ext cx="4995246" cy="1928990"/>
              </a:xfrm>
              <a:prstGeom prst="roundRect">
                <a:avLst>
                  <a:gd name="adj" fmla="val 4167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/>
              </a:p>
            </p:txBody>
          </p:sp>
          <p:sp>
            <p:nvSpPr>
              <p:cNvPr id="49" name="Number5"/>
              <p:cNvSpPr/>
              <p:nvPr/>
            </p:nvSpPr>
            <p:spPr>
              <a:xfrm>
                <a:off x="8446993" y="4064706"/>
                <a:ext cx="677146" cy="16919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r"/>
                <a:r>
                  <a:rPr lang="en-US" altLang="zh-CN" sz="6000" dirty="0">
                    <a:solidFill>
                      <a:schemeClr val="accent1"/>
                    </a:solidFill>
                  </a:rPr>
                  <a:t>5</a:t>
                </a:r>
                <a:endParaRPr lang="zh-CN" altLang="en-US" sz="6000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6308203" y="4728367"/>
              <a:ext cx="5210697" cy="1405733"/>
              <a:chOff x="4222309" y="3946172"/>
              <a:chExt cx="4995246" cy="1928990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4264129" y="4034230"/>
                <a:ext cx="4170689" cy="1765793"/>
                <a:chOff x="4264129" y="4033701"/>
                <a:chExt cx="4170689" cy="1765793"/>
              </a:xfrm>
            </p:grpSpPr>
            <p:sp>
              <p:nvSpPr>
                <p:cNvPr id="56" name="Text6"/>
                <p:cNvSpPr txBox="1"/>
                <p:nvPr/>
              </p:nvSpPr>
              <p:spPr>
                <a:xfrm>
                  <a:off x="4264129" y="4742271"/>
                  <a:ext cx="4170689" cy="1057223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所有数据存入MySQL数据库，保留最近三个月记录，支持按时间范围导出与趋势分析。</a:t>
                  </a:r>
                  <a:endParaRPr lang="en-US" dirty="0"/>
                </a:p>
              </p:txBody>
            </p:sp>
            <p:sp>
              <p:nvSpPr>
                <p:cNvPr id="57" name="Bullet6"/>
                <p:cNvSpPr txBox="1"/>
                <p:nvPr/>
              </p:nvSpPr>
              <p:spPr>
                <a:xfrm>
                  <a:off x="4264129" y="4033701"/>
                  <a:ext cx="4170689" cy="69828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数据持久化与统计分析</a:t>
                  </a:r>
                  <a:endParaRPr lang="en-US" dirty="0"/>
                </a:p>
              </p:txBody>
            </p:sp>
          </p:grpSp>
          <p:sp>
            <p:nvSpPr>
              <p:cNvPr id="54" name="ComponentBackground6"/>
              <p:cNvSpPr/>
              <p:nvPr/>
            </p:nvSpPr>
            <p:spPr>
              <a:xfrm>
                <a:off x="4222309" y="3946172"/>
                <a:ext cx="4995246" cy="1928990"/>
              </a:xfrm>
              <a:prstGeom prst="roundRect">
                <a:avLst>
                  <a:gd name="adj" fmla="val 4167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/>
              </a:p>
            </p:txBody>
          </p:sp>
          <p:sp>
            <p:nvSpPr>
              <p:cNvPr id="55" name="Number6"/>
              <p:cNvSpPr/>
              <p:nvPr/>
            </p:nvSpPr>
            <p:spPr>
              <a:xfrm>
                <a:off x="8446993" y="4064706"/>
                <a:ext cx="677146" cy="16919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r"/>
                <a:r>
                  <a:rPr lang="en-US" altLang="zh-CN" sz="6000" dirty="0">
                    <a:solidFill>
                      <a:schemeClr val="accent1"/>
                    </a:solidFill>
                  </a:rPr>
                  <a:t>6</a:t>
                </a:r>
                <a:endParaRPr lang="zh-CN" altLang="en-US" sz="6000" dirty="0">
                  <a:solidFill>
                    <a:schemeClr val="accent1"/>
                  </a:solidFill>
                </a:endParaRPr>
              </a:p>
            </p:txBody>
          </p:sp>
        </p:grpSp>
      </p:grpSp>
      <p:sp>
        <p:nvSpPr>
          <p:cNvPr id="7" name="标题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项目目标与核心功能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ae7983de-75d3-41c6-bae2-8e70902de0cf.source.5.zh-Hans.pptx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21" name="PictureMisc1"/>
            <p:cNvSpPr/>
            <p:nvPr/>
          </p:nvSpPr>
          <p:spPr bwMode="auto">
            <a:xfrm>
              <a:off x="6387548" y="1643270"/>
              <a:ext cx="4617002" cy="3124879"/>
            </a:xfrm>
            <a:prstGeom prst="rect">
              <a:avLst/>
            </a:prstGeom>
            <a:blipFill>
              <a:blip r:embed="rId1"/>
              <a:stretch>
                <a:fillRect l="381" t="-60845" r="-381" b="-60780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660400" y="1130300"/>
              <a:ext cx="10858500" cy="5003800"/>
              <a:chOff x="660400" y="1130300"/>
              <a:chExt cx="10858500" cy="5003800"/>
            </a:xfrm>
          </p:grpSpPr>
          <p:sp>
            <p:nvSpPr>
              <p:cNvPr id="4" name="islide-3"/>
              <p:cNvSpPr/>
              <p:nvPr/>
            </p:nvSpPr>
            <p:spPr bwMode="auto">
              <a:xfrm>
                <a:off x="10433050" y="1130300"/>
                <a:ext cx="1085850" cy="1016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lIns="0" tIns="0" rIns="0" bIns="0"/>
              <a:lstStyle/>
              <a:p>
                <a:pPr algn="ctr"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800" dirty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" name="islide-4"/>
              <p:cNvSpPr/>
              <p:nvPr/>
            </p:nvSpPr>
            <p:spPr>
              <a:xfrm>
                <a:off x="10751910" y="1427112"/>
                <a:ext cx="448131" cy="422374"/>
              </a:xfrm>
              <a:custGeom>
                <a:avLst/>
                <a:gdLst>
                  <a:gd name="connsiteX0" fmla="*/ 1110072 w 1498885"/>
                  <a:gd name="connsiteY0" fmla="*/ 1039039 h 1412736"/>
                  <a:gd name="connsiteX1" fmla="*/ 1149511 w 1498885"/>
                  <a:gd name="connsiteY1" fmla="*/ 1055363 h 1412736"/>
                  <a:gd name="connsiteX2" fmla="*/ 1371451 w 1498885"/>
                  <a:gd name="connsiteY2" fmla="*/ 1277303 h 1412736"/>
                  <a:gd name="connsiteX3" fmla="*/ 1371451 w 1498885"/>
                  <a:gd name="connsiteY3" fmla="*/ 1356182 h 1412736"/>
                  <a:gd name="connsiteX4" fmla="*/ 1332012 w 1498885"/>
                  <a:gd name="connsiteY4" fmla="*/ 1372553 h 1412736"/>
                  <a:gd name="connsiteX5" fmla="*/ 1292572 w 1498885"/>
                  <a:gd name="connsiteY5" fmla="*/ 1356182 h 1412736"/>
                  <a:gd name="connsiteX6" fmla="*/ 1070632 w 1498885"/>
                  <a:gd name="connsiteY6" fmla="*/ 1134242 h 1412736"/>
                  <a:gd name="connsiteX7" fmla="*/ 1070632 w 1498885"/>
                  <a:gd name="connsiteY7" fmla="*/ 1055363 h 1412736"/>
                  <a:gd name="connsiteX8" fmla="*/ 1110072 w 1498885"/>
                  <a:gd name="connsiteY8" fmla="*/ 1039039 h 1412736"/>
                  <a:gd name="connsiteX9" fmla="*/ 1110072 w 1498885"/>
                  <a:gd name="connsiteY9" fmla="*/ 705989 h 1412736"/>
                  <a:gd name="connsiteX10" fmla="*/ 1443075 w 1498885"/>
                  <a:gd name="connsiteY10" fmla="*/ 705989 h 1412736"/>
                  <a:gd name="connsiteX11" fmla="*/ 1498885 w 1498885"/>
                  <a:gd name="connsiteY11" fmla="*/ 761800 h 1412736"/>
                  <a:gd name="connsiteX12" fmla="*/ 1443075 w 1498885"/>
                  <a:gd name="connsiteY12" fmla="*/ 817611 h 1412736"/>
                  <a:gd name="connsiteX13" fmla="*/ 1110072 w 1498885"/>
                  <a:gd name="connsiteY13" fmla="*/ 817611 h 1412736"/>
                  <a:gd name="connsiteX14" fmla="*/ 1054261 w 1498885"/>
                  <a:gd name="connsiteY14" fmla="*/ 761800 h 1412736"/>
                  <a:gd name="connsiteX15" fmla="*/ 1110072 w 1498885"/>
                  <a:gd name="connsiteY15" fmla="*/ 705989 h 1412736"/>
                  <a:gd name="connsiteX16" fmla="*/ 1332012 w 1498885"/>
                  <a:gd name="connsiteY16" fmla="*/ 151093 h 1412736"/>
                  <a:gd name="connsiteX17" fmla="*/ 1371451 w 1498885"/>
                  <a:gd name="connsiteY17" fmla="*/ 167418 h 1412736"/>
                  <a:gd name="connsiteX18" fmla="*/ 1371451 w 1498885"/>
                  <a:gd name="connsiteY18" fmla="*/ 246297 h 1412736"/>
                  <a:gd name="connsiteX19" fmla="*/ 1149511 w 1498885"/>
                  <a:gd name="connsiteY19" fmla="*/ 468236 h 1412736"/>
                  <a:gd name="connsiteX20" fmla="*/ 1110072 w 1498885"/>
                  <a:gd name="connsiteY20" fmla="*/ 484608 h 1412736"/>
                  <a:gd name="connsiteX21" fmla="*/ 1070632 w 1498885"/>
                  <a:gd name="connsiteY21" fmla="*/ 468236 h 1412736"/>
                  <a:gd name="connsiteX22" fmla="*/ 1070632 w 1498885"/>
                  <a:gd name="connsiteY22" fmla="*/ 389358 h 1412736"/>
                  <a:gd name="connsiteX23" fmla="*/ 1292572 w 1498885"/>
                  <a:gd name="connsiteY23" fmla="*/ 167418 h 1412736"/>
                  <a:gd name="connsiteX24" fmla="*/ 1332012 w 1498885"/>
                  <a:gd name="connsiteY24" fmla="*/ 151093 h 1412736"/>
                  <a:gd name="connsiteX25" fmla="*/ 709724 w 1498885"/>
                  <a:gd name="connsiteY25" fmla="*/ 111607 h 1412736"/>
                  <a:gd name="connsiteX26" fmla="*/ 649635 w 1498885"/>
                  <a:gd name="connsiteY26" fmla="*/ 127420 h 1412736"/>
                  <a:gd name="connsiteX27" fmla="*/ 174129 w 1498885"/>
                  <a:gd name="connsiteY27" fmla="*/ 394752 h 1412736"/>
                  <a:gd name="connsiteX28" fmla="*/ 111621 w 1498885"/>
                  <a:gd name="connsiteY28" fmla="*/ 501536 h 1412736"/>
                  <a:gd name="connsiteX29" fmla="*/ 111621 w 1498885"/>
                  <a:gd name="connsiteY29" fmla="*/ 910814 h 1412736"/>
                  <a:gd name="connsiteX30" fmla="*/ 174129 w 1498885"/>
                  <a:gd name="connsiteY30" fmla="*/ 1017598 h 1412736"/>
                  <a:gd name="connsiteX31" fmla="*/ 649821 w 1498885"/>
                  <a:gd name="connsiteY31" fmla="*/ 1284930 h 1412736"/>
                  <a:gd name="connsiteX32" fmla="*/ 771674 w 1498885"/>
                  <a:gd name="connsiteY32" fmla="*/ 1283814 h 1412736"/>
                  <a:gd name="connsiteX33" fmla="*/ 832321 w 1498885"/>
                  <a:gd name="connsiteY33" fmla="*/ 1178146 h 1412736"/>
                  <a:gd name="connsiteX34" fmla="*/ 832321 w 1498885"/>
                  <a:gd name="connsiteY34" fmla="*/ 234204 h 1412736"/>
                  <a:gd name="connsiteX35" fmla="*/ 771674 w 1498885"/>
                  <a:gd name="connsiteY35" fmla="*/ 128536 h 1412736"/>
                  <a:gd name="connsiteX36" fmla="*/ 709724 w 1498885"/>
                  <a:gd name="connsiteY36" fmla="*/ 111607 h 1412736"/>
                  <a:gd name="connsiteX37" fmla="*/ 711864 w 1498885"/>
                  <a:gd name="connsiteY37" fmla="*/ 9 h 1412736"/>
                  <a:gd name="connsiteX38" fmla="*/ 828043 w 1498885"/>
                  <a:gd name="connsiteY38" fmla="*/ 32356 h 1412736"/>
                  <a:gd name="connsiteX39" fmla="*/ 943942 w 1498885"/>
                  <a:gd name="connsiteY39" fmla="*/ 234390 h 1412736"/>
                  <a:gd name="connsiteX40" fmla="*/ 943942 w 1498885"/>
                  <a:gd name="connsiteY40" fmla="*/ 1178518 h 1412736"/>
                  <a:gd name="connsiteX41" fmla="*/ 828043 w 1498885"/>
                  <a:gd name="connsiteY41" fmla="*/ 1380552 h 1412736"/>
                  <a:gd name="connsiteX42" fmla="*/ 709910 w 1498885"/>
                  <a:gd name="connsiteY42" fmla="*/ 1412736 h 1412736"/>
                  <a:gd name="connsiteX43" fmla="*/ 595126 w 1498885"/>
                  <a:gd name="connsiteY43" fmla="*/ 1382413 h 1412736"/>
                  <a:gd name="connsiteX44" fmla="*/ 119435 w 1498885"/>
                  <a:gd name="connsiteY44" fmla="*/ 1115080 h 1412736"/>
                  <a:gd name="connsiteX45" fmla="*/ 0 w 1498885"/>
                  <a:gd name="connsiteY45" fmla="*/ 911000 h 1412736"/>
                  <a:gd name="connsiteX46" fmla="*/ 0 w 1498885"/>
                  <a:gd name="connsiteY46" fmla="*/ 501722 h 1412736"/>
                  <a:gd name="connsiteX47" fmla="*/ 119435 w 1498885"/>
                  <a:gd name="connsiteY47" fmla="*/ 297642 h 1412736"/>
                  <a:gd name="connsiteX48" fmla="*/ 595126 w 1498885"/>
                  <a:gd name="connsiteY48" fmla="*/ 30309 h 1412736"/>
                  <a:gd name="connsiteX49" fmla="*/ 711864 w 1498885"/>
                  <a:gd name="connsiteY49" fmla="*/ 9 h 1412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498885" h="1412736">
                    <a:moveTo>
                      <a:pt x="1110072" y="1039039"/>
                    </a:moveTo>
                    <a:cubicBezTo>
                      <a:pt x="1124350" y="1039039"/>
                      <a:pt x="1138628" y="1044480"/>
                      <a:pt x="1149511" y="1055363"/>
                    </a:cubicBezTo>
                    <a:lnTo>
                      <a:pt x="1371451" y="1277303"/>
                    </a:lnTo>
                    <a:cubicBezTo>
                      <a:pt x="1393217" y="1299070"/>
                      <a:pt x="1393217" y="1334416"/>
                      <a:pt x="1371451" y="1356182"/>
                    </a:cubicBezTo>
                    <a:cubicBezTo>
                      <a:pt x="1360661" y="1366972"/>
                      <a:pt x="1346336" y="1372553"/>
                      <a:pt x="1332012" y="1372553"/>
                    </a:cubicBezTo>
                    <a:cubicBezTo>
                      <a:pt x="1317687" y="1372553"/>
                      <a:pt x="1303362" y="1367158"/>
                      <a:pt x="1292572" y="1356182"/>
                    </a:cubicBezTo>
                    <a:lnTo>
                      <a:pt x="1070632" y="1134242"/>
                    </a:lnTo>
                    <a:cubicBezTo>
                      <a:pt x="1048866" y="1112476"/>
                      <a:pt x="1048866" y="1077130"/>
                      <a:pt x="1070632" y="1055363"/>
                    </a:cubicBezTo>
                    <a:cubicBezTo>
                      <a:pt x="1081515" y="1044480"/>
                      <a:pt x="1095793" y="1039039"/>
                      <a:pt x="1110072" y="1039039"/>
                    </a:cubicBezTo>
                    <a:close/>
                    <a:moveTo>
                      <a:pt x="1110072" y="705989"/>
                    </a:moveTo>
                    <a:lnTo>
                      <a:pt x="1443075" y="705989"/>
                    </a:lnTo>
                    <a:cubicBezTo>
                      <a:pt x="1473956" y="705989"/>
                      <a:pt x="1498885" y="730918"/>
                      <a:pt x="1498885" y="761800"/>
                    </a:cubicBezTo>
                    <a:cubicBezTo>
                      <a:pt x="1498885" y="792682"/>
                      <a:pt x="1473770" y="817611"/>
                      <a:pt x="1443075" y="817611"/>
                    </a:cubicBezTo>
                    <a:lnTo>
                      <a:pt x="1110072" y="817611"/>
                    </a:lnTo>
                    <a:cubicBezTo>
                      <a:pt x="1079190" y="817611"/>
                      <a:pt x="1054261" y="792682"/>
                      <a:pt x="1054261" y="761800"/>
                    </a:cubicBezTo>
                    <a:cubicBezTo>
                      <a:pt x="1054261" y="730918"/>
                      <a:pt x="1079190" y="705989"/>
                      <a:pt x="1110072" y="705989"/>
                    </a:cubicBezTo>
                    <a:close/>
                    <a:moveTo>
                      <a:pt x="1332012" y="151093"/>
                    </a:moveTo>
                    <a:cubicBezTo>
                      <a:pt x="1346290" y="151093"/>
                      <a:pt x="1360568" y="156535"/>
                      <a:pt x="1371451" y="167418"/>
                    </a:cubicBezTo>
                    <a:cubicBezTo>
                      <a:pt x="1393217" y="189184"/>
                      <a:pt x="1393217" y="224530"/>
                      <a:pt x="1371451" y="246297"/>
                    </a:cubicBezTo>
                    <a:lnTo>
                      <a:pt x="1149511" y="468236"/>
                    </a:lnTo>
                    <a:cubicBezTo>
                      <a:pt x="1138721" y="479213"/>
                      <a:pt x="1124396" y="484608"/>
                      <a:pt x="1110072" y="484608"/>
                    </a:cubicBezTo>
                    <a:cubicBezTo>
                      <a:pt x="1095747" y="484608"/>
                      <a:pt x="1081422" y="479213"/>
                      <a:pt x="1070632" y="468236"/>
                    </a:cubicBezTo>
                    <a:cubicBezTo>
                      <a:pt x="1048866" y="446470"/>
                      <a:pt x="1048866" y="411124"/>
                      <a:pt x="1070632" y="389358"/>
                    </a:cubicBezTo>
                    <a:lnTo>
                      <a:pt x="1292572" y="167418"/>
                    </a:lnTo>
                    <a:cubicBezTo>
                      <a:pt x="1303455" y="156535"/>
                      <a:pt x="1317733" y="151093"/>
                      <a:pt x="1332012" y="151093"/>
                    </a:cubicBezTo>
                    <a:close/>
                    <a:moveTo>
                      <a:pt x="709724" y="111607"/>
                    </a:moveTo>
                    <a:cubicBezTo>
                      <a:pt x="689074" y="111607"/>
                      <a:pt x="668610" y="116816"/>
                      <a:pt x="649635" y="127420"/>
                    </a:cubicBezTo>
                    <a:lnTo>
                      <a:pt x="174129" y="394752"/>
                    </a:lnTo>
                    <a:cubicBezTo>
                      <a:pt x="135620" y="416332"/>
                      <a:pt x="111621" y="457260"/>
                      <a:pt x="111621" y="501536"/>
                    </a:cubicBezTo>
                    <a:lnTo>
                      <a:pt x="111621" y="910814"/>
                    </a:lnTo>
                    <a:cubicBezTo>
                      <a:pt x="111621" y="955090"/>
                      <a:pt x="135620" y="996018"/>
                      <a:pt x="174129" y="1017598"/>
                    </a:cubicBezTo>
                    <a:lnTo>
                      <a:pt x="649821" y="1284930"/>
                    </a:lnTo>
                    <a:cubicBezTo>
                      <a:pt x="688144" y="1306510"/>
                      <a:pt x="733723" y="1306138"/>
                      <a:pt x="771674" y="1283814"/>
                    </a:cubicBezTo>
                    <a:cubicBezTo>
                      <a:pt x="809625" y="1261676"/>
                      <a:pt x="832321" y="1222050"/>
                      <a:pt x="832321" y="1178146"/>
                    </a:cubicBezTo>
                    <a:lnTo>
                      <a:pt x="832321" y="234204"/>
                    </a:lnTo>
                    <a:cubicBezTo>
                      <a:pt x="832321" y="190113"/>
                      <a:pt x="809625" y="150674"/>
                      <a:pt x="771674" y="128536"/>
                    </a:cubicBezTo>
                    <a:cubicBezTo>
                      <a:pt x="752326" y="117188"/>
                      <a:pt x="731118" y="111607"/>
                      <a:pt x="709724" y="111607"/>
                    </a:cubicBezTo>
                    <a:close/>
                    <a:moveTo>
                      <a:pt x="711864" y="9"/>
                    </a:moveTo>
                    <a:cubicBezTo>
                      <a:pt x="751861" y="358"/>
                      <a:pt x="791766" y="11148"/>
                      <a:pt x="828043" y="32356"/>
                    </a:cubicBezTo>
                    <a:cubicBezTo>
                      <a:pt x="900596" y="74772"/>
                      <a:pt x="943942" y="150302"/>
                      <a:pt x="943942" y="234390"/>
                    </a:cubicBezTo>
                    <a:lnTo>
                      <a:pt x="943942" y="1178518"/>
                    </a:lnTo>
                    <a:cubicBezTo>
                      <a:pt x="943942" y="1262606"/>
                      <a:pt x="900596" y="1338136"/>
                      <a:pt x="828043" y="1380552"/>
                    </a:cubicBezTo>
                    <a:cubicBezTo>
                      <a:pt x="791208" y="1401946"/>
                      <a:pt x="750466" y="1412736"/>
                      <a:pt x="709910" y="1412736"/>
                    </a:cubicBezTo>
                    <a:cubicBezTo>
                      <a:pt x="670471" y="1412736"/>
                      <a:pt x="631217" y="1402691"/>
                      <a:pt x="595126" y="1382413"/>
                    </a:cubicBezTo>
                    <a:lnTo>
                      <a:pt x="119435" y="1115080"/>
                    </a:lnTo>
                    <a:cubicBezTo>
                      <a:pt x="45765" y="1073594"/>
                      <a:pt x="0" y="995460"/>
                      <a:pt x="0" y="911000"/>
                    </a:cubicBezTo>
                    <a:lnTo>
                      <a:pt x="0" y="501722"/>
                    </a:lnTo>
                    <a:cubicBezTo>
                      <a:pt x="0" y="417262"/>
                      <a:pt x="45765" y="338942"/>
                      <a:pt x="119435" y="297642"/>
                    </a:cubicBezTo>
                    <a:lnTo>
                      <a:pt x="595126" y="30309"/>
                    </a:lnTo>
                    <a:cubicBezTo>
                      <a:pt x="631775" y="9752"/>
                      <a:pt x="671866" y="-340"/>
                      <a:pt x="711864" y="9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5" name="Title"/>
              <p:cNvSpPr/>
              <p:nvPr/>
            </p:nvSpPr>
            <p:spPr>
              <a:xfrm>
                <a:off x="6387548" y="4768149"/>
                <a:ext cx="4617002" cy="136595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marL="0" marR="0" lvl="0" indent="0" defTabSz="914400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明确为软件模拟系统，不涉及真实硬件部署，涵盖感知层到表示层全链路仿真</a:t>
                </a:r>
                <a:endParaRPr lang="en-US" dirty="0"/>
              </a:p>
            </p:txBody>
          </p:sp>
          <p:grpSp>
            <p:nvGrpSpPr>
              <p:cNvPr id="6" name="组合 5"/>
              <p:cNvGrpSpPr/>
              <p:nvPr/>
            </p:nvGrpSpPr>
            <p:grpSpPr>
              <a:xfrm>
                <a:off x="660400" y="1130300"/>
                <a:ext cx="5531657" cy="940217"/>
                <a:chOff x="660400" y="1130300"/>
                <a:chExt cx="5531657" cy="940217"/>
              </a:xfrm>
            </p:grpSpPr>
            <p:sp>
              <p:nvSpPr>
                <p:cNvPr id="9" name="Text1"/>
                <p:cNvSpPr txBox="1"/>
                <p:nvPr/>
              </p:nvSpPr>
              <p:spPr>
                <a:xfrm>
                  <a:off x="660400" y="1466569"/>
                  <a:ext cx="5531657" cy="60394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50" dirty="0">
                      <a:cs typeface="+mn-ea"/>
                      <a:sym typeface="+mn-lt"/>
                    </a:rPr>
                    <a:t>本项目为教学/演示用途的仿真系统，所有传感器数据由Python程序生成并模拟发送。</a:t>
                  </a:r>
                  <a:endParaRPr lang="en-US" dirty="0"/>
                </a:p>
              </p:txBody>
            </p:sp>
            <p:sp>
              <p:nvSpPr>
                <p:cNvPr id="10" name="Bullet1"/>
                <p:cNvSpPr txBox="1"/>
                <p:nvPr/>
              </p:nvSpPr>
              <p:spPr>
                <a:xfrm>
                  <a:off x="660400" y="1130300"/>
                  <a:ext cx="5531657" cy="33626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r>
                    <a:rPr lang="zh-CN" altLang="en-US" sz="1400" b="1" dirty="0">
                      <a:cs typeface="+mn-ea"/>
                      <a:sym typeface="+mn-lt"/>
                    </a:rPr>
                    <a:t>模拟系统定位说明</a:t>
                  </a:r>
                  <a:endParaRPr lang="en-US" dirty="0"/>
                </a:p>
              </p:txBody>
            </p:sp>
          </p:grpSp>
          <p:grpSp>
            <p:nvGrpSpPr>
              <p:cNvPr id="7" name="组合 6"/>
              <p:cNvGrpSpPr/>
              <p:nvPr/>
            </p:nvGrpSpPr>
            <p:grpSpPr>
              <a:xfrm>
                <a:off x="660400" y="2146195"/>
                <a:ext cx="5531657" cy="940218"/>
                <a:chOff x="660400" y="2146195"/>
                <a:chExt cx="5531657" cy="940218"/>
              </a:xfrm>
            </p:grpSpPr>
            <p:sp>
              <p:nvSpPr>
                <p:cNvPr id="11" name="Text2"/>
                <p:cNvSpPr txBox="1"/>
                <p:nvPr/>
              </p:nvSpPr>
              <p:spPr>
                <a:xfrm>
                  <a:off x="660400" y="2482465"/>
                  <a:ext cx="5531657" cy="60394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50" dirty="0">
                      <a:cs typeface="+mn-ea"/>
                      <a:sym typeface="+mn-lt"/>
                    </a:rPr>
                    <a:t>包含数据采集、网络通信、后端处理、前端展示、告警控制等完整闭环流程。</a:t>
                  </a:r>
                  <a:endParaRPr lang="en-US" dirty="0"/>
                </a:p>
              </p:txBody>
            </p:sp>
            <p:sp>
              <p:nvSpPr>
                <p:cNvPr id="12" name="Bullet2"/>
                <p:cNvSpPr txBox="1"/>
                <p:nvPr/>
              </p:nvSpPr>
              <p:spPr>
                <a:xfrm>
                  <a:off x="660400" y="2146195"/>
                  <a:ext cx="5531657" cy="33626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r>
                    <a:rPr lang="zh-CN" altLang="en-US" sz="1400" b="1" dirty="0">
                      <a:cs typeface="+mn-ea"/>
                      <a:sym typeface="+mn-lt"/>
                    </a:rPr>
                    <a:t>功能覆盖完整性</a:t>
                  </a:r>
                  <a:endParaRPr lang="en-US" dirty="0"/>
                </a:p>
              </p:txBody>
            </p:sp>
          </p:grpSp>
          <p:grpSp>
            <p:nvGrpSpPr>
              <p:cNvPr id="8" name="组合 7"/>
              <p:cNvGrpSpPr/>
              <p:nvPr/>
            </p:nvGrpSpPr>
            <p:grpSpPr>
              <a:xfrm>
                <a:off x="660400" y="3162091"/>
                <a:ext cx="5531657" cy="940218"/>
                <a:chOff x="660400" y="3162091"/>
                <a:chExt cx="5531657" cy="940218"/>
              </a:xfrm>
            </p:grpSpPr>
            <p:sp>
              <p:nvSpPr>
                <p:cNvPr id="13" name="Text3"/>
                <p:cNvSpPr txBox="1"/>
                <p:nvPr/>
              </p:nvSpPr>
              <p:spPr>
                <a:xfrm>
                  <a:off x="660400" y="3498361"/>
                  <a:ext cx="5531657" cy="60394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50" dirty="0">
                      <a:cs typeface="+mn-ea"/>
                      <a:sym typeface="+mn-lt"/>
                    </a:rPr>
                    <a:t>无需购买CC2530芯片、DHT11传感器等物理组件，仅通过代码模拟其行为特征。</a:t>
                  </a:r>
                  <a:endParaRPr lang="en-US" dirty="0"/>
                </a:p>
              </p:txBody>
            </p:sp>
            <p:sp>
              <p:nvSpPr>
                <p:cNvPr id="14" name="Bullet3"/>
                <p:cNvSpPr txBox="1"/>
                <p:nvPr/>
              </p:nvSpPr>
              <p:spPr>
                <a:xfrm>
                  <a:off x="660400" y="3162091"/>
                  <a:ext cx="5531657" cy="33626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r>
                    <a:rPr lang="zh-CN" altLang="en-US" sz="1400" b="1" dirty="0">
                      <a:cs typeface="+mn-ea"/>
                      <a:sym typeface="+mn-lt"/>
                    </a:rPr>
                    <a:t>不包含实际设备采购</a:t>
                  </a:r>
                  <a:endParaRPr lang="en-US" dirty="0"/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>
                <a:off x="660400" y="4177987"/>
                <a:ext cx="5531657" cy="940217"/>
                <a:chOff x="660400" y="4177987"/>
                <a:chExt cx="5531657" cy="940217"/>
              </a:xfrm>
            </p:grpSpPr>
            <p:sp>
              <p:nvSpPr>
                <p:cNvPr id="20" name="Text4"/>
                <p:cNvSpPr txBox="1"/>
                <p:nvPr/>
              </p:nvSpPr>
              <p:spPr>
                <a:xfrm>
                  <a:off x="660400" y="4514256"/>
                  <a:ext cx="5531657" cy="60394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50" dirty="0">
                      <a:cs typeface="+mn-ea"/>
                      <a:sym typeface="+mn-lt"/>
                    </a:rPr>
                    <a:t>系统架构支持未来接入真实设备，兼容更多传感器类型（如CO₂、光照）和控制装置。</a:t>
                  </a:r>
                  <a:endParaRPr lang="en-US" dirty="0"/>
                </a:p>
              </p:txBody>
            </p:sp>
            <p:sp>
              <p:nvSpPr>
                <p:cNvPr id="22" name="Bullet4"/>
                <p:cNvSpPr txBox="1"/>
                <p:nvPr/>
              </p:nvSpPr>
              <p:spPr>
                <a:xfrm>
                  <a:off x="660400" y="4177987"/>
                  <a:ext cx="5531657" cy="33626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r>
                    <a:rPr lang="zh-CN" altLang="en-US" sz="1400" b="1" dirty="0">
                      <a:cs typeface="+mn-ea"/>
                      <a:sym typeface="+mn-lt"/>
                    </a:rPr>
                    <a:t>可扩展性预留设计</a:t>
                  </a:r>
                  <a:endParaRPr lang="en-US" dirty="0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660400" y="5193882"/>
                <a:ext cx="5531657" cy="940218"/>
                <a:chOff x="660400" y="5193882"/>
                <a:chExt cx="5531657" cy="940218"/>
              </a:xfrm>
            </p:grpSpPr>
            <p:sp>
              <p:nvSpPr>
                <p:cNvPr id="23" name="Text5"/>
                <p:cNvSpPr txBox="1"/>
                <p:nvPr/>
              </p:nvSpPr>
              <p:spPr>
                <a:xfrm>
                  <a:off x="660400" y="5530152"/>
                  <a:ext cx="5531657" cy="60394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50" dirty="0">
                      <a:cs typeface="+mn-ea"/>
                      <a:sym typeface="+mn-lt"/>
                    </a:rPr>
                    <a:t>总周期7周，分五个阶段推进，最终交付源码、文档、测试报告及演示视频。</a:t>
                  </a:r>
                  <a:endParaRPr lang="en-US" dirty="0"/>
                </a:p>
              </p:txBody>
            </p:sp>
            <p:sp>
              <p:nvSpPr>
                <p:cNvPr id="24" name="Bullet5"/>
                <p:cNvSpPr txBox="1"/>
                <p:nvPr/>
              </p:nvSpPr>
              <p:spPr>
                <a:xfrm>
                  <a:off x="660400" y="5193882"/>
                  <a:ext cx="5531657" cy="33626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r>
                    <a:rPr lang="zh-CN" altLang="en-US" sz="1400" b="1" dirty="0">
                      <a:cs typeface="+mn-ea"/>
                      <a:sym typeface="+mn-lt"/>
                    </a:rPr>
                    <a:t>开发周期与交付物</a:t>
                  </a:r>
                  <a:endParaRPr lang="en-US" dirty="0"/>
                </a:p>
              </p:txBody>
            </p:sp>
          </p:grp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项目范围与实施边界</a:t>
            </a:r>
            <a:endParaRPr lang="en-US" dirty="0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792cdda-cd6b-41c8-b0b0-ccf02dc37cfe.source.6.zh-Hans.pptx"/>
          <p:cNvGrpSpPr/>
          <p:nvPr/>
        </p:nvGrpSpPr>
        <p:grpSpPr>
          <a:xfrm>
            <a:off x="660401" y="1130300"/>
            <a:ext cx="10864849" cy="5003800"/>
            <a:chOff x="660401" y="1130300"/>
            <a:chExt cx="10864849" cy="5003800"/>
          </a:xfrm>
        </p:grpSpPr>
        <p:cxnSp>
          <p:nvCxnSpPr>
            <p:cNvPr id="6" name="连接符: 肘形 5"/>
            <p:cNvCxnSpPr>
              <a:stCxn id="20" idx="0"/>
              <a:endCxn id="16" idx="0"/>
            </p:cNvCxnSpPr>
            <p:nvPr/>
          </p:nvCxnSpPr>
          <p:spPr>
            <a:xfrm rot="5400000" flipH="1" flipV="1">
              <a:off x="6089650" y="-1246032"/>
              <a:ext cx="12700" cy="7356083"/>
            </a:xfrm>
            <a:prstGeom prst="bentConnector3">
              <a:avLst>
                <a:gd name="adj1" fmla="val 2512087"/>
              </a:avLst>
            </a:prstGeom>
            <a:ln w="6350">
              <a:solidFill>
                <a:schemeClr val="tx1">
                  <a:alpha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islide-3"/>
            <p:cNvSpPr/>
            <p:nvPr/>
          </p:nvSpPr>
          <p:spPr>
            <a:xfrm flipV="1">
              <a:off x="6096000" y="2123539"/>
              <a:ext cx="0" cy="299657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  <a:miter lim="400000"/>
              <a:headEnd type="triangle"/>
            </a:ln>
          </p:spPr>
          <p:txBody>
            <a:bodyPr lIns="0" tIns="0" rIns="0" bIns="0" anchor="ctr"/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600">
                <a:cs typeface="+mn-ea"/>
                <a:sym typeface="+mn-lt"/>
              </a:endParaRPr>
            </a:p>
          </p:txBody>
        </p:sp>
        <p:sp>
          <p:nvSpPr>
            <p:cNvPr id="8" name="Title"/>
            <p:cNvSpPr/>
            <p:nvPr/>
          </p:nvSpPr>
          <p:spPr>
            <a:xfrm>
              <a:off x="666750" y="1130300"/>
              <a:ext cx="10858500" cy="756750"/>
            </a:xfrm>
            <a:prstGeom prst="roundRect">
              <a:avLst>
                <a:gd name="adj" fmla="val 10317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rm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cs typeface="+mn-ea"/>
                  <a:sym typeface="+mn-lt"/>
                </a:rPr>
                <a:t>提升养殖管理水平，降低运营成本，增强动物健康保障能力</a:t>
              </a:r>
              <a:endParaRPr lang="en-US" dirty="0"/>
            </a:p>
          </p:txBody>
        </p:sp>
        <p:cxnSp>
          <p:nvCxnSpPr>
            <p:cNvPr id="32" name="连接符: 肘形 31"/>
            <p:cNvCxnSpPr>
              <a:stCxn id="41" idx="0"/>
              <a:endCxn id="37" idx="0"/>
            </p:cNvCxnSpPr>
            <p:nvPr/>
          </p:nvCxnSpPr>
          <p:spPr>
            <a:xfrm rot="5400000" flipH="1" flipV="1">
              <a:off x="6089650" y="877493"/>
              <a:ext cx="12700" cy="7356083"/>
            </a:xfrm>
            <a:prstGeom prst="bentConnector3">
              <a:avLst>
                <a:gd name="adj1" fmla="val 2512087"/>
              </a:avLst>
            </a:prstGeom>
            <a:ln w="6350">
              <a:solidFill>
                <a:schemeClr val="tx1">
                  <a:alpha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islide-3"/>
            <p:cNvSpPr/>
            <p:nvPr/>
          </p:nvSpPr>
          <p:spPr>
            <a:xfrm flipV="1">
              <a:off x="6096000" y="4247064"/>
              <a:ext cx="0" cy="299657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  <a:miter lim="400000"/>
              <a:headEnd type="triangle"/>
            </a:ln>
          </p:spPr>
          <p:txBody>
            <a:bodyPr lIns="0" tIns="0" rIns="0" bIns="0" anchor="ctr"/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600">
                <a:cs typeface="+mn-ea"/>
                <a:sym typeface="+mn-lt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660401" y="2432009"/>
              <a:ext cx="3502416" cy="1578566"/>
              <a:chOff x="660401" y="2432009"/>
              <a:chExt cx="3502416" cy="1578566"/>
            </a:xfrm>
          </p:grpSpPr>
          <p:sp>
            <p:nvSpPr>
              <p:cNvPr id="20" name="Bullet1"/>
              <p:cNvSpPr/>
              <p:nvPr/>
            </p:nvSpPr>
            <p:spPr>
              <a:xfrm>
                <a:off x="660401" y="2432009"/>
                <a:ext cx="3502416" cy="555136"/>
              </a:xfrm>
              <a:prstGeom prst="roundRect">
                <a:avLst>
                  <a:gd name="adj" fmla="val 7074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减少人力依赖</a:t>
                </a:r>
                <a:endParaRPr lang="en-US" dirty="0"/>
              </a:p>
            </p:txBody>
          </p:sp>
          <p:sp>
            <p:nvSpPr>
              <p:cNvPr id="21" name="Text1"/>
              <p:cNvSpPr/>
              <p:nvPr/>
            </p:nvSpPr>
            <p:spPr>
              <a:xfrm>
                <a:off x="660401" y="3098907"/>
                <a:ext cx="3502416" cy="9116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替代人工定时巡检，节省劳动力成本，避免人为疏忽造成环境失控。</a:t>
                </a:r>
                <a:endParaRPr lang="en-US" dirty="0"/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4338443" y="2432009"/>
              <a:ext cx="3502416" cy="1578566"/>
              <a:chOff x="4338443" y="2432009"/>
              <a:chExt cx="3502416" cy="1578566"/>
            </a:xfrm>
          </p:grpSpPr>
          <p:sp>
            <p:nvSpPr>
              <p:cNvPr id="18" name="Bullet2"/>
              <p:cNvSpPr/>
              <p:nvPr/>
            </p:nvSpPr>
            <p:spPr>
              <a:xfrm>
                <a:off x="4338443" y="2432009"/>
                <a:ext cx="3502416" cy="555136"/>
              </a:xfrm>
              <a:prstGeom prst="roundRect">
                <a:avLst>
                  <a:gd name="adj" fmla="val 7074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提高应急响应速度</a:t>
                </a:r>
                <a:endParaRPr lang="en-US" dirty="0"/>
              </a:p>
            </p:txBody>
          </p:sp>
          <p:sp>
            <p:nvSpPr>
              <p:cNvPr id="19" name="Text2"/>
              <p:cNvSpPr/>
              <p:nvPr/>
            </p:nvSpPr>
            <p:spPr>
              <a:xfrm>
                <a:off x="4338443" y="3098907"/>
                <a:ext cx="3502416" cy="9116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实时告警机制可在有害气体超标时第一时间通知管理人员采取措施。</a:t>
                </a:r>
                <a:endParaRPr lang="en-US" dirty="0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8016484" y="2432009"/>
              <a:ext cx="3502416" cy="1578566"/>
              <a:chOff x="8016484" y="2432009"/>
              <a:chExt cx="3502416" cy="1578566"/>
            </a:xfrm>
          </p:grpSpPr>
          <p:sp>
            <p:nvSpPr>
              <p:cNvPr id="16" name="Bullet3"/>
              <p:cNvSpPr/>
              <p:nvPr/>
            </p:nvSpPr>
            <p:spPr>
              <a:xfrm>
                <a:off x="8016484" y="2432009"/>
                <a:ext cx="3502416" cy="555136"/>
              </a:xfrm>
              <a:prstGeom prst="roundRect">
                <a:avLst>
                  <a:gd name="adj" fmla="val 7074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科学决策支持</a:t>
                </a:r>
                <a:endParaRPr lang="en-US" dirty="0"/>
              </a:p>
            </p:txBody>
          </p:sp>
          <p:sp>
            <p:nvSpPr>
              <p:cNvPr id="17" name="Text3"/>
              <p:cNvSpPr/>
              <p:nvPr/>
            </p:nvSpPr>
            <p:spPr>
              <a:xfrm>
                <a:off x="8016484" y="3098907"/>
                <a:ext cx="3502416" cy="9116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历史数据分析帮助优化饲养策略，调整通风频率、饲料配比等关键参数。</a:t>
                </a:r>
                <a:endParaRPr lang="en-US" dirty="0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660401" y="4555534"/>
              <a:ext cx="3502416" cy="1578566"/>
              <a:chOff x="660401" y="4555534"/>
              <a:chExt cx="3502416" cy="1578566"/>
            </a:xfrm>
          </p:grpSpPr>
          <p:sp>
            <p:nvSpPr>
              <p:cNvPr id="41" name="Bullet4"/>
              <p:cNvSpPr/>
              <p:nvPr/>
            </p:nvSpPr>
            <p:spPr>
              <a:xfrm>
                <a:off x="660401" y="4555534"/>
                <a:ext cx="3502416" cy="555136"/>
              </a:xfrm>
              <a:prstGeom prst="roundRect">
                <a:avLst>
                  <a:gd name="adj" fmla="val 7074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可复制推广模式</a:t>
                </a:r>
                <a:endParaRPr lang="en-US" dirty="0"/>
              </a:p>
            </p:txBody>
          </p:sp>
          <p:sp>
            <p:nvSpPr>
              <p:cNvPr id="42" name="Text4"/>
              <p:cNvSpPr/>
              <p:nvPr/>
            </p:nvSpPr>
            <p:spPr>
              <a:xfrm>
                <a:off x="660401" y="5222432"/>
                <a:ext cx="3502416" cy="9116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成功案例可应用于猪舍、鸡场等其他畜禽养殖场，具备产业推广潜力。</a:t>
                </a:r>
                <a:endParaRPr lang="en-US" dirty="0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4338443" y="4555534"/>
              <a:ext cx="3502416" cy="1578566"/>
              <a:chOff x="4338443" y="4555534"/>
              <a:chExt cx="3502416" cy="1578566"/>
            </a:xfrm>
          </p:grpSpPr>
          <p:sp>
            <p:nvSpPr>
              <p:cNvPr id="39" name="Bullet5"/>
              <p:cNvSpPr/>
              <p:nvPr/>
            </p:nvSpPr>
            <p:spPr>
              <a:xfrm>
                <a:off x="4338443" y="4555534"/>
                <a:ext cx="3502416" cy="555136"/>
              </a:xfrm>
              <a:prstGeom prst="roundRect">
                <a:avLst>
                  <a:gd name="adj" fmla="val 7074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教学科研辅助工具</a:t>
                </a:r>
                <a:endParaRPr lang="en-US" dirty="0"/>
              </a:p>
            </p:txBody>
          </p:sp>
          <p:sp>
            <p:nvSpPr>
              <p:cNvPr id="40" name="Text5"/>
              <p:cNvSpPr/>
              <p:nvPr/>
            </p:nvSpPr>
            <p:spPr>
              <a:xfrm>
                <a:off x="4338443" y="5222432"/>
                <a:ext cx="3502416" cy="9116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作为高校物联网课程实验平台，用于讲授无线传感网络原理与系统集成方法。</a:t>
                </a:r>
                <a:endParaRPr lang="en-US" dirty="0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8016484" y="4555534"/>
              <a:ext cx="3502416" cy="1578566"/>
              <a:chOff x="8016484" y="4555534"/>
              <a:chExt cx="3502416" cy="1578566"/>
            </a:xfrm>
          </p:grpSpPr>
          <p:sp>
            <p:nvSpPr>
              <p:cNvPr id="37" name="Bullet6"/>
              <p:cNvSpPr/>
              <p:nvPr/>
            </p:nvSpPr>
            <p:spPr>
              <a:xfrm>
                <a:off x="8016484" y="4555534"/>
                <a:ext cx="3502416" cy="555136"/>
              </a:xfrm>
              <a:prstGeom prst="roundRect">
                <a:avLst>
                  <a:gd name="adj" fmla="val 7074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技术验证原型系统</a:t>
                </a:r>
                <a:endParaRPr lang="en-US" dirty="0"/>
              </a:p>
            </p:txBody>
          </p:sp>
          <p:sp>
            <p:nvSpPr>
              <p:cNvPr id="38" name="Text6"/>
              <p:cNvSpPr/>
              <p:nvPr/>
            </p:nvSpPr>
            <p:spPr>
              <a:xfrm>
                <a:off x="8016484" y="5222432"/>
                <a:ext cx="3502416" cy="9116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验证ZigBee协议在农业场景下的适用性，为后续产品化提供技术储备。</a:t>
                </a:r>
                <a:endParaRPr 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用户价值与应用场景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9f8724b3-81c7-4b7e-9763-fb3d1b0382ea.source.6.zh-Hans.pptx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cxnSp>
          <p:nvCxnSpPr>
            <p:cNvPr id="14" name="连接符: 肘形 13"/>
            <p:cNvCxnSpPr>
              <a:stCxn id="30" idx="1"/>
              <a:endCxn id="23" idx="1"/>
            </p:cNvCxnSpPr>
            <p:nvPr/>
          </p:nvCxnSpPr>
          <p:spPr>
            <a:xfrm rot="10800000" flipV="1">
              <a:off x="7831791" y="1346300"/>
              <a:ext cx="12700" cy="3419466"/>
            </a:xfrm>
            <a:prstGeom prst="bentConnector3">
              <a:avLst>
                <a:gd name="adj1" fmla="val 2400000"/>
              </a:avLst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7541133" y="3056033"/>
              <a:ext cx="290657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连接符: 肘形 196"/>
            <p:cNvCxnSpPr>
              <a:stCxn id="215" idx="1"/>
              <a:endCxn id="209" idx="1"/>
            </p:cNvCxnSpPr>
            <p:nvPr/>
          </p:nvCxnSpPr>
          <p:spPr>
            <a:xfrm rot="10800000" flipV="1">
              <a:off x="3737311" y="1346300"/>
              <a:ext cx="12700" cy="3419466"/>
            </a:xfrm>
            <a:prstGeom prst="bentConnector3">
              <a:avLst>
                <a:gd name="adj1" fmla="val 2400000"/>
              </a:avLst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>
            <a:xfrm>
              <a:off x="3446653" y="3056033"/>
              <a:ext cx="290657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itle"/>
            <p:cNvSpPr/>
            <p:nvPr/>
          </p:nvSpPr>
          <p:spPr>
            <a:xfrm>
              <a:off x="660400" y="1721263"/>
              <a:ext cx="2669540" cy="2669540"/>
            </a:xfrm>
            <a:prstGeom prst="ellipse">
              <a:avLst/>
            </a:prstGeom>
            <a:solidFill>
              <a:schemeClr val="tx1">
                <a:alpha val="5000"/>
              </a:schemeClr>
            </a:solidFill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defTabSz="913765"/>
              <a:r>
                <a:rPr lang="zh-CN" altLang="en-US" sz="2400" b="1" dirty="0">
                  <a:cs typeface="+mn-ea"/>
                  <a:sym typeface="Arial" panose="020B0604020202020204" pitchFamily="34" charset="0"/>
                </a:rPr>
                <a:t>从开发语言、框架、数据库到通信协议进行全面评估与选择</a:t>
              </a:r>
              <a:endParaRPr lang="en-US" dirty="0"/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3737311" y="1130300"/>
              <a:ext cx="3687109" cy="1584334"/>
              <a:chOff x="3737311" y="1130300"/>
              <a:chExt cx="3687109" cy="1584334"/>
            </a:xfrm>
          </p:grpSpPr>
          <p:sp>
            <p:nvSpPr>
              <p:cNvPr id="213" name="Text1"/>
              <p:cNvSpPr txBox="1"/>
              <p:nvPr/>
            </p:nvSpPr>
            <p:spPr>
              <a:xfrm>
                <a:off x="4207411" y="1562302"/>
                <a:ext cx="3217009" cy="115233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Spring生态成熟稳定，MyBatis灵活高效，适合构建企业级RESTful服务。</a:t>
                </a:r>
                <a:endParaRPr lang="en-US" dirty="0"/>
              </a:p>
            </p:txBody>
          </p:sp>
          <p:sp>
            <p:nvSpPr>
              <p:cNvPr id="214" name="Bullet1"/>
              <p:cNvSpPr txBox="1"/>
              <p:nvPr/>
            </p:nvSpPr>
            <p:spPr>
              <a:xfrm>
                <a:off x="4207411" y="1130300"/>
                <a:ext cx="3217009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Java 21 + SSM后端架构</a:t>
                </a:r>
                <a:endParaRPr lang="en-US" dirty="0"/>
              </a:p>
            </p:txBody>
          </p:sp>
          <p:sp>
            <p:nvSpPr>
              <p:cNvPr id="215" name="Number1"/>
              <p:cNvSpPr/>
              <p:nvPr/>
            </p:nvSpPr>
            <p:spPr>
              <a:xfrm>
                <a:off x="3737311" y="1130300"/>
                <a:ext cx="432000" cy="432000"/>
              </a:xfrm>
              <a:prstGeom prst="roundRect">
                <a:avLst>
                  <a:gd name="adj" fmla="val 643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</a:rPr>
                  <a:t>1</a:t>
                </a:r>
                <a:endParaRPr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3737311" y="2840033"/>
              <a:ext cx="3687109" cy="1584334"/>
              <a:chOff x="3737311" y="2840033"/>
              <a:chExt cx="3687109" cy="1584334"/>
            </a:xfrm>
          </p:grpSpPr>
          <p:sp>
            <p:nvSpPr>
              <p:cNvPr id="210" name="Text2"/>
              <p:cNvSpPr txBox="1"/>
              <p:nvPr/>
            </p:nvSpPr>
            <p:spPr>
              <a:xfrm>
                <a:off x="4207411" y="3272035"/>
                <a:ext cx="3217009" cy="115233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组件化开发提升可维护性，ECharts提供丰富的数据可视化能力。</a:t>
                </a:r>
                <a:endParaRPr lang="en-US" dirty="0"/>
              </a:p>
            </p:txBody>
          </p:sp>
          <p:sp>
            <p:nvSpPr>
              <p:cNvPr id="211" name="Bullet2"/>
              <p:cNvSpPr txBox="1"/>
              <p:nvPr/>
            </p:nvSpPr>
            <p:spPr>
              <a:xfrm>
                <a:off x="4207411" y="2840033"/>
                <a:ext cx="3217009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Vue 3 + ECharts前端方案</a:t>
                </a:r>
                <a:endParaRPr lang="en-US" dirty="0"/>
              </a:p>
            </p:txBody>
          </p:sp>
          <p:sp>
            <p:nvSpPr>
              <p:cNvPr id="212" name="Number2"/>
              <p:cNvSpPr/>
              <p:nvPr/>
            </p:nvSpPr>
            <p:spPr>
              <a:xfrm>
                <a:off x="3737311" y="2840033"/>
                <a:ext cx="432000" cy="432000"/>
              </a:xfrm>
              <a:prstGeom prst="roundRect">
                <a:avLst>
                  <a:gd name="adj" fmla="val 643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</a:rPr>
                  <a:t>2</a:t>
                </a:r>
                <a:endParaRPr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3737311" y="4549766"/>
              <a:ext cx="3687109" cy="1584334"/>
              <a:chOff x="3737311" y="4549766"/>
              <a:chExt cx="3687109" cy="1584334"/>
            </a:xfrm>
          </p:grpSpPr>
          <p:sp>
            <p:nvSpPr>
              <p:cNvPr id="207" name="Text3"/>
              <p:cNvSpPr txBox="1"/>
              <p:nvPr/>
            </p:nvSpPr>
            <p:spPr>
              <a:xfrm>
                <a:off x="4207411" y="4981768"/>
                <a:ext cx="3217009" cy="115233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关系型数据库结构清晰，支持索引优化与事务处理，满足高性能查询需求。</a:t>
                </a:r>
                <a:endParaRPr lang="en-US" dirty="0"/>
              </a:p>
            </p:txBody>
          </p:sp>
          <p:sp>
            <p:nvSpPr>
              <p:cNvPr id="208" name="Bullet3"/>
              <p:cNvSpPr txBox="1"/>
              <p:nvPr/>
            </p:nvSpPr>
            <p:spPr>
              <a:xfrm>
                <a:off x="4207411" y="4549766"/>
                <a:ext cx="3217009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MySQL 数据存储</a:t>
                </a:r>
                <a:endParaRPr lang="en-US" dirty="0"/>
              </a:p>
            </p:txBody>
          </p:sp>
          <p:sp>
            <p:nvSpPr>
              <p:cNvPr id="209" name="Number3"/>
              <p:cNvSpPr/>
              <p:nvPr/>
            </p:nvSpPr>
            <p:spPr>
              <a:xfrm>
                <a:off x="3737311" y="4549766"/>
                <a:ext cx="432000" cy="432000"/>
              </a:xfrm>
              <a:prstGeom prst="roundRect">
                <a:avLst>
                  <a:gd name="adj" fmla="val 643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</a:rPr>
                  <a:t>3</a:t>
                </a:r>
                <a:endParaRPr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7831791" y="1130300"/>
              <a:ext cx="3687109" cy="1584334"/>
              <a:chOff x="7831791" y="1130300"/>
              <a:chExt cx="3687109" cy="1584334"/>
            </a:xfrm>
          </p:grpSpPr>
          <p:sp>
            <p:nvSpPr>
              <p:cNvPr id="28" name="Text4"/>
              <p:cNvSpPr txBox="1"/>
              <p:nvPr/>
            </p:nvSpPr>
            <p:spPr>
              <a:xfrm>
                <a:off x="8301891" y="1562302"/>
                <a:ext cx="3217009" cy="115233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NumPy与随机算法结合，可生成符合真实场景波动规律的传感器数据流。</a:t>
                </a:r>
                <a:endParaRPr lang="en-US" dirty="0"/>
              </a:p>
            </p:txBody>
          </p:sp>
          <p:sp>
            <p:nvSpPr>
              <p:cNvPr id="29" name="Bullet4"/>
              <p:cNvSpPr txBox="1"/>
              <p:nvPr/>
            </p:nvSpPr>
            <p:spPr>
              <a:xfrm>
                <a:off x="8301891" y="1130300"/>
                <a:ext cx="3217009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Python用于数据模拟</a:t>
                </a:r>
                <a:endParaRPr lang="en-US" dirty="0"/>
              </a:p>
            </p:txBody>
          </p:sp>
          <p:sp>
            <p:nvSpPr>
              <p:cNvPr id="30" name="Number4"/>
              <p:cNvSpPr/>
              <p:nvPr/>
            </p:nvSpPr>
            <p:spPr>
              <a:xfrm>
                <a:off x="7831791" y="1130300"/>
                <a:ext cx="432000" cy="432000"/>
              </a:xfrm>
              <a:prstGeom prst="roundRect">
                <a:avLst>
                  <a:gd name="adj" fmla="val 643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</a:rPr>
                  <a:t>4</a:t>
                </a:r>
                <a:endParaRPr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7831791" y="2840033"/>
              <a:ext cx="3687109" cy="1584334"/>
              <a:chOff x="7831791" y="2840033"/>
              <a:chExt cx="3687109" cy="1584334"/>
            </a:xfrm>
          </p:grpSpPr>
          <p:sp>
            <p:nvSpPr>
              <p:cNvPr id="24" name="Text5"/>
              <p:cNvSpPr txBox="1"/>
              <p:nvPr/>
            </p:nvSpPr>
            <p:spPr>
              <a:xfrm>
                <a:off x="8301891" y="3272035"/>
                <a:ext cx="3217009" cy="115233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取代轮询机制，降低前端请求压力，确保告警信息毫秒级触达用户界面。</a:t>
                </a:r>
                <a:endParaRPr lang="en-US" dirty="0"/>
              </a:p>
            </p:txBody>
          </p:sp>
          <p:sp>
            <p:nvSpPr>
              <p:cNvPr id="25" name="Bullet5"/>
              <p:cNvSpPr txBox="1"/>
              <p:nvPr/>
            </p:nvSpPr>
            <p:spPr>
              <a:xfrm>
                <a:off x="8301891" y="2840033"/>
                <a:ext cx="3217009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WebSocket实现实时推送</a:t>
                </a:r>
                <a:endParaRPr lang="en-US" dirty="0"/>
              </a:p>
            </p:txBody>
          </p:sp>
          <p:sp>
            <p:nvSpPr>
              <p:cNvPr id="26" name="Number5"/>
              <p:cNvSpPr/>
              <p:nvPr/>
            </p:nvSpPr>
            <p:spPr>
              <a:xfrm>
                <a:off x="7831791" y="2840033"/>
                <a:ext cx="432000" cy="432000"/>
              </a:xfrm>
              <a:prstGeom prst="roundRect">
                <a:avLst>
                  <a:gd name="adj" fmla="val 643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</a:rPr>
                  <a:t>5</a:t>
                </a:r>
                <a:endParaRPr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7831791" y="4549766"/>
              <a:ext cx="3687109" cy="1584334"/>
              <a:chOff x="7831791" y="4549766"/>
              <a:chExt cx="3687109" cy="1584334"/>
            </a:xfrm>
          </p:grpSpPr>
          <p:sp>
            <p:nvSpPr>
              <p:cNvPr id="21" name="Text6"/>
              <p:cNvSpPr txBox="1"/>
              <p:nvPr/>
            </p:nvSpPr>
            <p:spPr>
              <a:xfrm>
                <a:off x="8301891" y="4981768"/>
                <a:ext cx="3217009" cy="115233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利用com0com或socat创建虚拟串口对，实现PC与“协调器”之间的数据交互。</a:t>
                </a:r>
                <a:endParaRPr lang="en-US" dirty="0"/>
              </a:p>
            </p:txBody>
          </p:sp>
          <p:sp>
            <p:nvSpPr>
              <p:cNvPr id="22" name="Bullet6"/>
              <p:cNvSpPr txBox="1"/>
              <p:nvPr/>
            </p:nvSpPr>
            <p:spPr>
              <a:xfrm>
                <a:off x="8301891" y="4549766"/>
                <a:ext cx="3217009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虚拟串口/Socket通信替代</a:t>
                </a:r>
                <a:endParaRPr lang="en-US" dirty="0"/>
              </a:p>
            </p:txBody>
          </p:sp>
          <p:sp>
            <p:nvSpPr>
              <p:cNvPr id="23" name="Number6"/>
              <p:cNvSpPr/>
              <p:nvPr/>
            </p:nvSpPr>
            <p:spPr>
              <a:xfrm>
                <a:off x="7831791" y="4549766"/>
                <a:ext cx="432000" cy="432000"/>
              </a:xfrm>
              <a:prstGeom prst="roundRect">
                <a:avLst>
                  <a:gd name="adj" fmla="val 643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</a:rPr>
                  <a:t>6</a:t>
                </a:r>
                <a:endParaRPr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关键技术选型依据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系统四层架构设计详解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深入剖析感知层、网络层、应用层、表示层的技术实现路径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7fd4722-f7d6-4e4e-9f4c-ee9c9f44ed7c.source.6.zh-Hans.pptx"/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sp>
          <p:nvSpPr>
            <p:cNvPr id="4" name="Title"/>
            <p:cNvSpPr txBox="1"/>
            <p:nvPr/>
          </p:nvSpPr>
          <p:spPr>
            <a:xfrm>
              <a:off x="660399" y="1130300"/>
              <a:ext cx="10858500" cy="520942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2400" b="1" dirty="0">
                  <a:cs typeface="+mn-ea"/>
                  <a:sym typeface="+mn-lt"/>
                </a:rPr>
                <a:t>模拟CC2530 + DHT11 + NH₃ + H₂S传感器节点数据生成过程</a:t>
              </a:r>
              <a:endParaRPr lang="en-US" dirty="0"/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660400" y="1846510"/>
              <a:ext cx="10858500" cy="4287590"/>
              <a:chOff x="660400" y="1846510"/>
              <a:chExt cx="10858500" cy="4287590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660400" y="1846510"/>
                <a:ext cx="3505200" cy="2071604"/>
                <a:chOff x="660400" y="-653465"/>
                <a:chExt cx="3505200" cy="2071604"/>
              </a:xfrm>
            </p:grpSpPr>
            <p:sp>
              <p:nvSpPr>
                <p:cNvPr id="6" name="Bullet1"/>
                <p:cNvSpPr txBox="1"/>
                <p:nvPr/>
              </p:nvSpPr>
              <p:spPr>
                <a:xfrm>
                  <a:off x="660400" y="-602579"/>
                  <a:ext cx="3505200" cy="5447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传感器节点模拟器功能</a:t>
                  </a:r>
                  <a:endParaRPr lang="en-US" dirty="0"/>
                </a:p>
              </p:txBody>
            </p:sp>
            <p:sp>
              <p:nvSpPr>
                <p:cNvPr id="7" name="Text1"/>
                <p:cNvSpPr txBox="1"/>
                <p:nvPr/>
              </p:nvSpPr>
              <p:spPr>
                <a:xfrm>
                  <a:off x="660400" y="-57796"/>
                  <a:ext cx="3505200" cy="14759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使用Python编写脚本，模拟多个终端节点周期性采集环境数据并打包发送。</a:t>
                  </a:r>
                  <a:endParaRPr lang="en-US" dirty="0"/>
                </a:p>
              </p:txBody>
            </p:sp>
            <p:sp>
              <p:nvSpPr>
                <p:cNvPr id="10" name="ShapeRectangle 10"/>
                <p:cNvSpPr>
                  <a:spLocks noChangeAspect="1"/>
                </p:cNvSpPr>
                <p:nvPr/>
              </p:nvSpPr>
              <p:spPr>
                <a:xfrm>
                  <a:off x="742700" y="-653465"/>
                  <a:ext cx="540000" cy="50886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sz="1600" b="1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1" name="Group 284"/>
              <p:cNvGrpSpPr/>
              <p:nvPr/>
            </p:nvGrpSpPr>
            <p:grpSpPr>
              <a:xfrm>
                <a:off x="4337050" y="1846510"/>
                <a:ext cx="3505200" cy="2071604"/>
                <a:chOff x="660400" y="-653465"/>
                <a:chExt cx="3505200" cy="2071604"/>
              </a:xfrm>
            </p:grpSpPr>
            <p:sp>
              <p:nvSpPr>
                <p:cNvPr id="23" name="Bullet2"/>
                <p:cNvSpPr txBox="1"/>
                <p:nvPr/>
              </p:nvSpPr>
              <p:spPr>
                <a:xfrm>
                  <a:off x="660400" y="-602579"/>
                  <a:ext cx="3505200" cy="5447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数据生成逻辑与算法</a:t>
                  </a:r>
                  <a:endParaRPr lang="en-US" dirty="0"/>
                </a:p>
              </p:txBody>
            </p:sp>
            <p:sp>
              <p:nvSpPr>
                <p:cNvPr id="25" name="Text2"/>
                <p:cNvSpPr txBox="1"/>
                <p:nvPr/>
              </p:nvSpPr>
              <p:spPr>
                <a:xfrm>
                  <a:off x="660400" y="-57796"/>
                  <a:ext cx="3505200" cy="14759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正常模式下基于正弦波叠加随机噪声生成温湿度变化曲线，模拟自然波动。</a:t>
                  </a:r>
                  <a:endParaRPr lang="en-US" dirty="0"/>
                </a:p>
              </p:txBody>
            </p:sp>
            <p:sp>
              <p:nvSpPr>
                <p:cNvPr id="27" name="ShapeRectangle 27"/>
                <p:cNvSpPr>
                  <a:spLocks noChangeAspect="1"/>
                </p:cNvSpPr>
                <p:nvPr/>
              </p:nvSpPr>
              <p:spPr>
                <a:xfrm>
                  <a:off x="742700" y="-653465"/>
                  <a:ext cx="540000" cy="50886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sz="1600" b="1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9" name="Group 291"/>
              <p:cNvGrpSpPr/>
              <p:nvPr/>
            </p:nvGrpSpPr>
            <p:grpSpPr>
              <a:xfrm>
                <a:off x="8013700" y="1846510"/>
                <a:ext cx="3505200" cy="2071604"/>
                <a:chOff x="660400" y="-653465"/>
                <a:chExt cx="3505200" cy="2071604"/>
              </a:xfrm>
            </p:grpSpPr>
            <p:sp>
              <p:nvSpPr>
                <p:cNvPr id="30" name="Bullet3"/>
                <p:cNvSpPr txBox="1"/>
                <p:nvPr/>
              </p:nvSpPr>
              <p:spPr>
                <a:xfrm>
                  <a:off x="660400" y="-602579"/>
                  <a:ext cx="3505200" cy="5447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异常场景模拟机制</a:t>
                  </a:r>
                  <a:endParaRPr lang="en-US" dirty="0"/>
                </a:p>
              </p:txBody>
            </p:sp>
            <p:sp>
              <p:nvSpPr>
                <p:cNvPr id="31" name="Text3"/>
                <p:cNvSpPr txBox="1"/>
                <p:nvPr/>
              </p:nvSpPr>
              <p:spPr>
                <a:xfrm>
                  <a:off x="660400" y="-57796"/>
                  <a:ext cx="3505200" cy="14759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定时触发氨气突增至30~50ppm、硫化氢升至15~25ppm、温度骤变等危险工况。</a:t>
                  </a:r>
                  <a:endParaRPr lang="en-US" dirty="0"/>
                </a:p>
              </p:txBody>
            </p:sp>
            <p:sp>
              <p:nvSpPr>
                <p:cNvPr id="33" name="ShapeRectangle 33"/>
                <p:cNvSpPr>
                  <a:spLocks noChangeAspect="1"/>
                </p:cNvSpPr>
                <p:nvPr/>
              </p:nvSpPr>
              <p:spPr>
                <a:xfrm>
                  <a:off x="742700" y="-653465"/>
                  <a:ext cx="540000" cy="50886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sz="1600" b="1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5" name="Group 310"/>
              <p:cNvGrpSpPr/>
              <p:nvPr/>
            </p:nvGrpSpPr>
            <p:grpSpPr>
              <a:xfrm>
                <a:off x="660400" y="4062496"/>
                <a:ext cx="3505200" cy="2071604"/>
                <a:chOff x="660400" y="-653465"/>
                <a:chExt cx="3505200" cy="2071604"/>
              </a:xfrm>
            </p:grpSpPr>
            <p:sp>
              <p:nvSpPr>
                <p:cNvPr id="36" name="Bullet4"/>
                <p:cNvSpPr txBox="1"/>
                <p:nvPr/>
              </p:nvSpPr>
              <p:spPr>
                <a:xfrm>
                  <a:off x="660400" y="-602579"/>
                  <a:ext cx="3505200" cy="5447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故障模拟功能实现</a:t>
                  </a:r>
                  <a:endParaRPr lang="en-US" dirty="0"/>
                </a:p>
              </p:txBody>
            </p:sp>
            <p:sp>
              <p:nvSpPr>
                <p:cNvPr id="37" name="Text4"/>
                <p:cNvSpPr txBox="1"/>
                <p:nvPr/>
              </p:nvSpPr>
              <p:spPr>
                <a:xfrm>
                  <a:off x="660400" y="-57796"/>
                  <a:ext cx="3505200" cy="14759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模拟传感器失效（数据恒定）、通信中断（停止发送）、校验错误（故意篡改checksum）。</a:t>
                  </a:r>
                  <a:endParaRPr lang="en-US" dirty="0"/>
                </a:p>
              </p:txBody>
            </p:sp>
            <p:sp>
              <p:nvSpPr>
                <p:cNvPr id="39" name="ShapeRectangle 39"/>
                <p:cNvSpPr>
                  <a:spLocks noChangeAspect="1"/>
                </p:cNvSpPr>
                <p:nvPr/>
              </p:nvSpPr>
              <p:spPr>
                <a:xfrm>
                  <a:off x="742700" y="-653465"/>
                  <a:ext cx="540000" cy="50886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sz="1600" b="1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1" name="Group 327"/>
              <p:cNvGrpSpPr/>
              <p:nvPr/>
            </p:nvGrpSpPr>
            <p:grpSpPr>
              <a:xfrm>
                <a:off x="4337050" y="4062496"/>
                <a:ext cx="3505200" cy="2071604"/>
                <a:chOff x="660400" y="-653465"/>
                <a:chExt cx="3505200" cy="2071604"/>
              </a:xfrm>
            </p:grpSpPr>
            <p:sp>
              <p:nvSpPr>
                <p:cNvPr id="42" name="Bullet5"/>
                <p:cNvSpPr txBox="1"/>
                <p:nvPr/>
              </p:nvSpPr>
              <p:spPr>
                <a:xfrm>
                  <a:off x="660400" y="-602579"/>
                  <a:ext cx="3505200" cy="5447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节点ID与位置配置</a:t>
                  </a:r>
                  <a:endParaRPr lang="en-US" dirty="0"/>
                </a:p>
              </p:txBody>
            </p:sp>
            <p:sp>
              <p:nvSpPr>
                <p:cNvPr id="43" name="Text5"/>
                <p:cNvSpPr txBox="1"/>
                <p:nvPr/>
              </p:nvSpPr>
              <p:spPr>
                <a:xfrm>
                  <a:off x="660400" y="-57796"/>
                  <a:ext cx="3505200" cy="14759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每个节点具有唯一标识符（如Node_001），支持在配置文件中设定地理位置坐标。</a:t>
                  </a:r>
                  <a:endParaRPr lang="en-US" dirty="0"/>
                </a:p>
              </p:txBody>
            </p:sp>
            <p:sp>
              <p:nvSpPr>
                <p:cNvPr id="45" name="ShapeRectangle 45"/>
                <p:cNvSpPr>
                  <a:spLocks noChangeAspect="1"/>
                </p:cNvSpPr>
                <p:nvPr/>
              </p:nvSpPr>
              <p:spPr>
                <a:xfrm>
                  <a:off x="742700" y="-653465"/>
                  <a:ext cx="540000" cy="50886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sz="1600" b="1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7" name="Group 333"/>
              <p:cNvGrpSpPr/>
              <p:nvPr/>
            </p:nvGrpSpPr>
            <p:grpSpPr>
              <a:xfrm>
                <a:off x="8013700" y="4062496"/>
                <a:ext cx="3505200" cy="2071604"/>
                <a:chOff x="660400" y="-653465"/>
                <a:chExt cx="3505200" cy="2071604"/>
              </a:xfrm>
            </p:grpSpPr>
            <p:sp>
              <p:nvSpPr>
                <p:cNvPr id="48" name="Bullet6"/>
                <p:cNvSpPr txBox="1"/>
                <p:nvPr/>
              </p:nvSpPr>
              <p:spPr>
                <a:xfrm>
                  <a:off x="660400" y="-602579"/>
                  <a:ext cx="3505200" cy="5447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数据包格式定义</a:t>
                  </a:r>
                  <a:endParaRPr lang="en-US" dirty="0"/>
                </a:p>
              </p:txBody>
            </p:sp>
            <p:sp>
              <p:nvSpPr>
                <p:cNvPr id="49" name="Text6"/>
                <p:cNvSpPr txBox="1"/>
                <p:nvPr/>
              </p:nvSpPr>
              <p:spPr>
                <a:xfrm>
                  <a:off x="660400" y="-57796"/>
                  <a:ext cx="3505200" cy="14759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采用十六进制帧结构：0xAA + NodeID + Len + Temp_H/L + Humi_H/L + NH3/H2S_H/L + CheckSum + 0x55。</a:t>
                  </a:r>
                  <a:endParaRPr lang="en-US" dirty="0"/>
                </a:p>
              </p:txBody>
            </p:sp>
            <p:sp>
              <p:nvSpPr>
                <p:cNvPr id="51" name="ShapeRectangle 51"/>
                <p:cNvSpPr>
                  <a:spLocks noChangeAspect="1"/>
                </p:cNvSpPr>
                <p:nvPr/>
              </p:nvSpPr>
              <p:spPr>
                <a:xfrm>
                  <a:off x="742700" y="-653465"/>
                  <a:ext cx="540000" cy="50886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sz="1600" b="1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感知层（模拟）设计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b16a4a2d-c7f6-461c-adde-08bfd622decd.source.7.zh-Hans.pptx"/>
          <p:cNvGrpSpPr/>
          <p:nvPr/>
        </p:nvGrpSpPr>
        <p:grpSpPr>
          <a:xfrm>
            <a:off x="658813" y="1130300"/>
            <a:ext cx="10860087" cy="5003800"/>
            <a:chOff x="658813" y="1130300"/>
            <a:chExt cx="10860087" cy="5003800"/>
          </a:xfrm>
        </p:grpSpPr>
        <p:sp>
          <p:nvSpPr>
            <p:cNvPr id="3" name="任意多边形: 形状 2"/>
            <p:cNvSpPr/>
            <p:nvPr/>
          </p:nvSpPr>
          <p:spPr>
            <a:xfrm>
              <a:off x="6675868" y="2675618"/>
              <a:ext cx="1223757" cy="1899129"/>
            </a:xfrm>
            <a:custGeom>
              <a:avLst/>
              <a:gdLst>
                <a:gd name="connsiteX0" fmla="*/ 1671198 w 1730046"/>
                <a:gd name="connsiteY0" fmla="*/ 2383247 h 2684830"/>
                <a:gd name="connsiteX1" fmla="*/ 1533320 w 1730046"/>
                <a:gd name="connsiteY1" fmla="*/ 2324251 h 2684830"/>
                <a:gd name="connsiteX2" fmla="*/ 1730047 w 1730046"/>
                <a:gd name="connsiteY2" fmla="*/ 1341278 h 2684830"/>
                <a:gd name="connsiteX3" fmla="*/ 1529358 w 1730046"/>
                <a:gd name="connsiteY3" fmla="*/ 348546 h 2684830"/>
                <a:gd name="connsiteX4" fmla="*/ 1349068 w 1730046"/>
                <a:gd name="connsiteY4" fmla="*/ 0 h 2684830"/>
                <a:gd name="connsiteX5" fmla="*/ 1138913 w 1730046"/>
                <a:gd name="connsiteY5" fmla="*/ 746182 h 2684830"/>
                <a:gd name="connsiteX6" fmla="*/ 970583 w 1730046"/>
                <a:gd name="connsiteY6" fmla="*/ 873566 h 2684830"/>
                <a:gd name="connsiteX7" fmla="*/ 968456 w 1730046"/>
                <a:gd name="connsiteY7" fmla="*/ 873566 h 2684830"/>
                <a:gd name="connsiteX8" fmla="*/ 150804 w 1730046"/>
                <a:gd name="connsiteY8" fmla="*/ 862780 h 2684830"/>
                <a:gd name="connsiteX9" fmla="*/ 262558 w 1730046"/>
                <a:gd name="connsiteY9" fmla="*/ 1341278 h 2684830"/>
                <a:gd name="connsiteX10" fmla="*/ 183530 w 1730046"/>
                <a:gd name="connsiteY10" fmla="*/ 1746765 h 2684830"/>
                <a:gd name="connsiteX11" fmla="*/ 24300 w 1730046"/>
                <a:gd name="connsiteY11" fmla="*/ 1678671 h 2684830"/>
                <a:gd name="connsiteX12" fmla="*/ 9624 w 1730046"/>
                <a:gd name="connsiteY12" fmla="*/ 1675002 h 2684830"/>
                <a:gd name="connsiteX13" fmla="*/ 5368 w 1730046"/>
                <a:gd name="connsiteY13" fmla="*/ 1699803 h 2684830"/>
                <a:gd name="connsiteX14" fmla="*/ 542275 w 1730046"/>
                <a:gd name="connsiteY14" fmla="*/ 2655847 h 2684830"/>
                <a:gd name="connsiteX15" fmla="*/ 594080 w 1730046"/>
                <a:gd name="connsiteY15" fmla="*/ 2684831 h 2684830"/>
                <a:gd name="connsiteX16" fmla="*/ 606481 w 1730046"/>
                <a:gd name="connsiteY16" fmla="*/ 2683290 h 2684830"/>
                <a:gd name="connsiteX17" fmla="*/ 1669069 w 1730046"/>
                <a:gd name="connsiteY17" fmla="*/ 2411498 h 2684830"/>
                <a:gd name="connsiteX18" fmla="*/ 1671198 w 1730046"/>
                <a:gd name="connsiteY18" fmla="*/ 2383247 h 268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30046" h="2684830">
                  <a:moveTo>
                    <a:pt x="1671198" y="2383247"/>
                  </a:moveTo>
                  <a:lnTo>
                    <a:pt x="1533320" y="2324251"/>
                  </a:lnTo>
                  <a:cubicBezTo>
                    <a:pt x="1663786" y="2012247"/>
                    <a:pt x="1730047" y="1681606"/>
                    <a:pt x="1730047" y="1341278"/>
                  </a:cubicBezTo>
                  <a:cubicBezTo>
                    <a:pt x="1730047" y="997355"/>
                    <a:pt x="1662539" y="663411"/>
                    <a:pt x="1529358" y="348546"/>
                  </a:cubicBezTo>
                  <a:cubicBezTo>
                    <a:pt x="1478066" y="227179"/>
                    <a:pt x="1417749" y="110948"/>
                    <a:pt x="1349068" y="0"/>
                  </a:cubicBezTo>
                  <a:lnTo>
                    <a:pt x="1138913" y="746182"/>
                  </a:lnTo>
                  <a:cubicBezTo>
                    <a:pt x="1118147" y="820000"/>
                    <a:pt x="1047337" y="873566"/>
                    <a:pt x="970583" y="873566"/>
                  </a:cubicBezTo>
                  <a:lnTo>
                    <a:pt x="968456" y="873566"/>
                  </a:lnTo>
                  <a:lnTo>
                    <a:pt x="150804" y="862780"/>
                  </a:lnTo>
                  <a:cubicBezTo>
                    <a:pt x="222274" y="1007114"/>
                    <a:pt x="262558" y="1169574"/>
                    <a:pt x="262558" y="1341278"/>
                  </a:cubicBezTo>
                  <a:cubicBezTo>
                    <a:pt x="262558" y="1484659"/>
                    <a:pt x="234381" y="1621509"/>
                    <a:pt x="183530" y="1746765"/>
                  </a:cubicBezTo>
                  <a:lnTo>
                    <a:pt x="24300" y="1678671"/>
                  </a:lnTo>
                  <a:cubicBezTo>
                    <a:pt x="18429" y="1676176"/>
                    <a:pt x="13513" y="1674928"/>
                    <a:pt x="9624" y="1675002"/>
                  </a:cubicBezTo>
                  <a:cubicBezTo>
                    <a:pt x="-1089" y="1675002"/>
                    <a:pt x="-3364" y="1684247"/>
                    <a:pt x="5368" y="1699803"/>
                  </a:cubicBezTo>
                  <a:lnTo>
                    <a:pt x="542275" y="2655847"/>
                  </a:lnTo>
                  <a:cubicBezTo>
                    <a:pt x="552108" y="2673384"/>
                    <a:pt x="573682" y="2684831"/>
                    <a:pt x="594080" y="2684831"/>
                  </a:cubicBezTo>
                  <a:cubicBezTo>
                    <a:pt x="598263" y="2684831"/>
                    <a:pt x="602446" y="2684317"/>
                    <a:pt x="606481" y="2683290"/>
                  </a:cubicBezTo>
                  <a:lnTo>
                    <a:pt x="1669069" y="2411498"/>
                  </a:lnTo>
                  <a:cubicBezTo>
                    <a:pt x="1692477" y="2405481"/>
                    <a:pt x="1693431" y="2392786"/>
                    <a:pt x="1671198" y="23832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none" lIns="91440" tIns="45720" rIns="91440" bIns="45720" numCol="1" anchor="ctr" anchorCtr="0" compatLnSpc="1">
              <a:normAutofit/>
            </a:bodyPr>
            <a:lstStyle/>
            <a:p>
              <a:pPr algn="ctr"/>
              <a:endParaRPr lang="zh-CN" altLang="en-US" sz="160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" name="任意多边形: 形状 3"/>
            <p:cNvSpPr/>
            <p:nvPr/>
          </p:nvSpPr>
          <p:spPr>
            <a:xfrm>
              <a:off x="5662739" y="4089804"/>
              <a:ext cx="2001188" cy="1469621"/>
            </a:xfrm>
            <a:custGeom>
              <a:avLst/>
              <a:gdLst>
                <a:gd name="connsiteX0" fmla="*/ 2067816 w 2829113"/>
                <a:gd name="connsiteY0" fmla="*/ 797767 h 2077627"/>
                <a:gd name="connsiteX1" fmla="*/ 2026357 w 2829113"/>
                <a:gd name="connsiteY1" fmla="*/ 802977 h 2077627"/>
                <a:gd name="connsiteX2" fmla="*/ 1872189 w 2829113"/>
                <a:gd name="connsiteY2" fmla="*/ 714042 h 2077627"/>
                <a:gd name="connsiteX3" fmla="*/ 1471178 w 2829113"/>
                <a:gd name="connsiteY3" fmla="*/ 0 h 2077627"/>
                <a:gd name="connsiteX4" fmla="*/ 612581 w 2829113"/>
                <a:gd name="connsiteY4" fmla="*/ 424272 h 2077627"/>
                <a:gd name="connsiteX5" fmla="*/ 609793 w 2829113"/>
                <a:gd name="connsiteY5" fmla="*/ 424199 h 2077627"/>
                <a:gd name="connsiteX6" fmla="*/ 591742 w 2829113"/>
                <a:gd name="connsiteY6" fmla="*/ 277222 h 2077627"/>
                <a:gd name="connsiteX7" fmla="*/ 579928 w 2829113"/>
                <a:gd name="connsiteY7" fmla="*/ 257337 h 2077627"/>
                <a:gd name="connsiteX8" fmla="*/ 564005 w 2829113"/>
                <a:gd name="connsiteY8" fmla="*/ 271426 h 2077627"/>
                <a:gd name="connsiteX9" fmla="*/ 7212 w 2829113"/>
                <a:gd name="connsiteY9" fmla="*/ 1216095 h 2077627"/>
                <a:gd name="connsiteX10" fmla="*/ 15724 w 2829113"/>
                <a:gd name="connsiteY10" fmla="*/ 1285438 h 2077627"/>
                <a:gd name="connsiteX11" fmla="*/ 784579 w 2829113"/>
                <a:gd name="connsiteY11" fmla="*/ 2067574 h 2077627"/>
                <a:gd name="connsiteX12" fmla="*/ 801530 w 2829113"/>
                <a:gd name="connsiteY12" fmla="*/ 2077627 h 2077627"/>
                <a:gd name="connsiteX13" fmla="*/ 810115 w 2829113"/>
                <a:gd name="connsiteY13" fmla="*/ 2055247 h 2077627"/>
                <a:gd name="connsiteX14" fmla="*/ 789276 w 2829113"/>
                <a:gd name="connsiteY14" fmla="*/ 1885670 h 2077627"/>
                <a:gd name="connsiteX15" fmla="*/ 1605240 w 2829113"/>
                <a:gd name="connsiteY15" fmla="*/ 1691145 h 2077627"/>
                <a:gd name="connsiteX16" fmla="*/ 2415481 w 2829113"/>
                <a:gd name="connsiteY16" fmla="*/ 1144992 h 2077627"/>
                <a:gd name="connsiteX17" fmla="*/ 2829113 w 2829113"/>
                <a:gd name="connsiteY17" fmla="*/ 603021 h 2077627"/>
                <a:gd name="connsiteX18" fmla="*/ 2067816 w 2829113"/>
                <a:gd name="connsiteY18" fmla="*/ 797767 h 207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29113" h="2077627">
                  <a:moveTo>
                    <a:pt x="2067816" y="797767"/>
                  </a:moveTo>
                  <a:cubicBezTo>
                    <a:pt x="2054387" y="801216"/>
                    <a:pt x="2040446" y="802977"/>
                    <a:pt x="2026357" y="802977"/>
                  </a:cubicBezTo>
                  <a:cubicBezTo>
                    <a:pt x="1963031" y="802977"/>
                    <a:pt x="1902494" y="768049"/>
                    <a:pt x="1872189" y="714042"/>
                  </a:cubicBezTo>
                  <a:lnTo>
                    <a:pt x="1471178" y="0"/>
                  </a:lnTo>
                  <a:cubicBezTo>
                    <a:pt x="1273204" y="257777"/>
                    <a:pt x="962008" y="424272"/>
                    <a:pt x="612581" y="424272"/>
                  </a:cubicBezTo>
                  <a:cubicBezTo>
                    <a:pt x="611627" y="424272"/>
                    <a:pt x="610747" y="424199"/>
                    <a:pt x="609793" y="424199"/>
                  </a:cubicBezTo>
                  <a:lnTo>
                    <a:pt x="591742" y="277222"/>
                  </a:lnTo>
                  <a:cubicBezTo>
                    <a:pt x="590128" y="264088"/>
                    <a:pt x="585651" y="257337"/>
                    <a:pt x="579928" y="257337"/>
                  </a:cubicBezTo>
                  <a:cubicBezTo>
                    <a:pt x="575158" y="257337"/>
                    <a:pt x="569582" y="261960"/>
                    <a:pt x="564005" y="271426"/>
                  </a:cubicBezTo>
                  <a:lnTo>
                    <a:pt x="7212" y="1216095"/>
                  </a:lnTo>
                  <a:cubicBezTo>
                    <a:pt x="-5115" y="1236935"/>
                    <a:pt x="-1226" y="1268120"/>
                    <a:pt x="15724" y="1285438"/>
                  </a:cubicBezTo>
                  <a:lnTo>
                    <a:pt x="784579" y="2067574"/>
                  </a:lnTo>
                  <a:cubicBezTo>
                    <a:pt x="791257" y="2074398"/>
                    <a:pt x="797054" y="2077627"/>
                    <a:pt x="801530" y="2077627"/>
                  </a:cubicBezTo>
                  <a:cubicBezTo>
                    <a:pt x="808354" y="2077627"/>
                    <a:pt x="811876" y="2069849"/>
                    <a:pt x="810115" y="2055247"/>
                  </a:cubicBezTo>
                  <a:lnTo>
                    <a:pt x="789276" y="1885670"/>
                  </a:lnTo>
                  <a:cubicBezTo>
                    <a:pt x="1070901" y="1866445"/>
                    <a:pt x="1344674" y="1801359"/>
                    <a:pt x="1605240" y="1691145"/>
                  </a:cubicBezTo>
                  <a:cubicBezTo>
                    <a:pt x="1908952" y="1562660"/>
                    <a:pt x="2181552" y="1378921"/>
                    <a:pt x="2415481" y="1144992"/>
                  </a:cubicBezTo>
                  <a:cubicBezTo>
                    <a:pt x="2578234" y="982239"/>
                    <a:pt x="2716624" y="800702"/>
                    <a:pt x="2829113" y="603021"/>
                  </a:cubicBezTo>
                  <a:lnTo>
                    <a:pt x="2067816" y="797767"/>
                  </a:ln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txBody>
            <a:bodyPr vert="horz" wrap="none" lIns="91440" tIns="45720" rIns="91440" bIns="45720" numCol="1" anchor="ctr" anchorCtr="0" compatLnSpc="1">
              <a:normAutofit/>
            </a:bodyPr>
            <a:lstStyle/>
            <a:p>
              <a:pPr algn="ctr"/>
              <a:endParaRPr lang="zh-CN" altLang="en-US" sz="160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" name="任意多边形: 形状 4"/>
            <p:cNvSpPr/>
            <p:nvPr/>
          </p:nvSpPr>
          <p:spPr>
            <a:xfrm>
              <a:off x="4506502" y="3947898"/>
              <a:ext cx="1468560" cy="1475952"/>
            </a:xfrm>
            <a:custGeom>
              <a:avLst/>
              <a:gdLst>
                <a:gd name="connsiteX0" fmla="*/ 1566591 w 2076128"/>
                <a:gd name="connsiteY0" fmla="*/ 1568310 h 2086579"/>
                <a:gd name="connsiteX1" fmla="*/ 1540689 w 2076128"/>
                <a:gd name="connsiteY1" fmla="*/ 1357054 h 2086579"/>
                <a:gd name="connsiteX2" fmla="*/ 1990423 w 2076128"/>
                <a:gd name="connsiteY2" fmla="*/ 593996 h 2086579"/>
                <a:gd name="connsiteX3" fmla="*/ 1340734 w 2076128"/>
                <a:gd name="connsiteY3" fmla="*/ 133035 h 2086579"/>
                <a:gd name="connsiteX4" fmla="*/ 1461808 w 2076128"/>
                <a:gd name="connsiteY4" fmla="*/ 42780 h 2086579"/>
                <a:gd name="connsiteX5" fmla="*/ 1453076 w 2076128"/>
                <a:gd name="connsiteY5" fmla="*/ 15850 h 2086579"/>
                <a:gd name="connsiteX6" fmla="*/ 356734 w 2076128"/>
                <a:gd name="connsiteY6" fmla="*/ 0 h 2086579"/>
                <a:gd name="connsiteX7" fmla="*/ 356073 w 2076128"/>
                <a:gd name="connsiteY7" fmla="*/ 0 h 2086579"/>
                <a:gd name="connsiteX8" fmla="*/ 300746 w 2076128"/>
                <a:gd name="connsiteY8" fmla="*/ 41752 h 2086579"/>
                <a:gd name="connsiteX9" fmla="*/ 1950 w 2076128"/>
                <a:gd name="connsiteY9" fmla="*/ 1097149 h 2086579"/>
                <a:gd name="connsiteX10" fmla="*/ 8554 w 2076128"/>
                <a:gd name="connsiteY10" fmla="*/ 1120630 h 2086579"/>
                <a:gd name="connsiteX11" fmla="*/ 25285 w 2076128"/>
                <a:gd name="connsiteY11" fmla="*/ 1113146 h 2086579"/>
                <a:gd name="connsiteX12" fmla="*/ 162282 w 2076128"/>
                <a:gd name="connsiteY12" fmla="*/ 1011077 h 2086579"/>
                <a:gd name="connsiteX13" fmla="*/ 444127 w 2076128"/>
                <a:gd name="connsiteY13" fmla="*/ 1345534 h 2086579"/>
                <a:gd name="connsiteX14" fmla="*/ 1254368 w 2076128"/>
                <a:gd name="connsiteY14" fmla="*/ 1891687 h 2086579"/>
                <a:gd name="connsiteX15" fmla="*/ 2076129 w 2076128"/>
                <a:gd name="connsiteY15" fmla="*/ 2086579 h 2086579"/>
                <a:gd name="connsiteX16" fmla="*/ 1566591 w 2076128"/>
                <a:gd name="connsiteY16" fmla="*/ 1568310 h 2086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6128" h="2086579">
                  <a:moveTo>
                    <a:pt x="1566591" y="1568310"/>
                  </a:moveTo>
                  <a:cubicBezTo>
                    <a:pt x="1512072" y="1512909"/>
                    <a:pt x="1501212" y="1424049"/>
                    <a:pt x="1540689" y="1357054"/>
                  </a:cubicBezTo>
                  <a:lnTo>
                    <a:pt x="1990423" y="593996"/>
                  </a:lnTo>
                  <a:cubicBezTo>
                    <a:pt x="1719878" y="527955"/>
                    <a:pt x="1488957" y="359846"/>
                    <a:pt x="1340734" y="133035"/>
                  </a:cubicBezTo>
                  <a:lnTo>
                    <a:pt x="1461808" y="42780"/>
                  </a:lnTo>
                  <a:cubicBezTo>
                    <a:pt x="1481253" y="28324"/>
                    <a:pt x="1477290" y="16216"/>
                    <a:pt x="1453076" y="15850"/>
                  </a:cubicBezTo>
                  <a:lnTo>
                    <a:pt x="356734" y="0"/>
                  </a:lnTo>
                  <a:cubicBezTo>
                    <a:pt x="356513" y="0"/>
                    <a:pt x="356293" y="0"/>
                    <a:pt x="356073" y="0"/>
                  </a:cubicBezTo>
                  <a:cubicBezTo>
                    <a:pt x="332078" y="0"/>
                    <a:pt x="307277" y="18638"/>
                    <a:pt x="300746" y="41752"/>
                  </a:cubicBezTo>
                  <a:lnTo>
                    <a:pt x="1950" y="1097149"/>
                  </a:lnTo>
                  <a:cubicBezTo>
                    <a:pt x="-2306" y="1112339"/>
                    <a:pt x="630" y="1120630"/>
                    <a:pt x="8554" y="1120630"/>
                  </a:cubicBezTo>
                  <a:cubicBezTo>
                    <a:pt x="12810" y="1120630"/>
                    <a:pt x="18534" y="1118209"/>
                    <a:pt x="25285" y="1113146"/>
                  </a:cubicBezTo>
                  <a:lnTo>
                    <a:pt x="162282" y="1011077"/>
                  </a:lnTo>
                  <a:cubicBezTo>
                    <a:pt x="246006" y="1129803"/>
                    <a:pt x="340077" y="1241557"/>
                    <a:pt x="444127" y="1345534"/>
                  </a:cubicBezTo>
                  <a:cubicBezTo>
                    <a:pt x="678056" y="1579463"/>
                    <a:pt x="950656" y="1763202"/>
                    <a:pt x="1254368" y="1891687"/>
                  </a:cubicBezTo>
                  <a:cubicBezTo>
                    <a:pt x="1516768" y="2002635"/>
                    <a:pt x="1792449" y="2067868"/>
                    <a:pt x="2076129" y="2086579"/>
                  </a:cubicBezTo>
                  <a:lnTo>
                    <a:pt x="1566591" y="15683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none" lIns="91440" tIns="45720" rIns="91440" bIns="45720" numCol="1" anchor="ctr" anchorCtr="0" compatLnSpc="1">
              <a:normAutofit/>
            </a:bodyPr>
            <a:lstStyle/>
            <a:p>
              <a:pPr algn="ctr"/>
              <a:endParaRPr lang="zh-CN" altLang="en-US" sz="160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4292375" y="2641413"/>
              <a:ext cx="1229463" cy="1817225"/>
            </a:xfrm>
            <a:custGeom>
              <a:avLst/>
              <a:gdLst>
                <a:gd name="connsiteX0" fmla="*/ 1732750 w 1738112"/>
                <a:gd name="connsiteY0" fmla="*/ 984734 h 2569040"/>
                <a:gd name="connsiteX1" fmla="*/ 1195256 w 1738112"/>
                <a:gd name="connsiteY1" fmla="*/ 28984 h 2569040"/>
                <a:gd name="connsiteX2" fmla="*/ 1143451 w 1738112"/>
                <a:gd name="connsiteY2" fmla="*/ 0 h 2569040"/>
                <a:gd name="connsiteX3" fmla="*/ 1131050 w 1738112"/>
                <a:gd name="connsiteY3" fmla="*/ 1541 h 2569040"/>
                <a:gd name="connsiteX4" fmla="*/ 68609 w 1738112"/>
                <a:gd name="connsiteY4" fmla="*/ 273920 h 2569040"/>
                <a:gd name="connsiteX5" fmla="*/ 66481 w 1738112"/>
                <a:gd name="connsiteY5" fmla="*/ 302171 h 2569040"/>
                <a:gd name="connsiteX6" fmla="*/ 214411 w 1738112"/>
                <a:gd name="connsiteY6" fmla="*/ 365349 h 2569040"/>
                <a:gd name="connsiteX7" fmla="*/ 200689 w 1738112"/>
                <a:gd name="connsiteY7" fmla="*/ 396975 h 2569040"/>
                <a:gd name="connsiteX8" fmla="*/ 0 w 1738112"/>
                <a:gd name="connsiteY8" fmla="*/ 1389634 h 2569040"/>
                <a:gd name="connsiteX9" fmla="*/ 200689 w 1738112"/>
                <a:gd name="connsiteY9" fmla="*/ 2382366 h 2569040"/>
                <a:gd name="connsiteX10" fmla="*/ 288816 w 1738112"/>
                <a:gd name="connsiteY10" fmla="*/ 2569041 h 2569040"/>
                <a:gd name="connsiteX11" fmla="*/ 490386 w 1738112"/>
                <a:gd name="connsiteY11" fmla="*/ 1856833 h 2569040"/>
                <a:gd name="connsiteX12" fmla="*/ 658715 w 1738112"/>
                <a:gd name="connsiteY12" fmla="*/ 1729668 h 2569040"/>
                <a:gd name="connsiteX13" fmla="*/ 661063 w 1738112"/>
                <a:gd name="connsiteY13" fmla="*/ 1729668 h 2569040"/>
                <a:gd name="connsiteX14" fmla="*/ 1526558 w 1738112"/>
                <a:gd name="connsiteY14" fmla="*/ 1742216 h 2569040"/>
                <a:gd name="connsiteX15" fmla="*/ 1467562 w 1738112"/>
                <a:gd name="connsiteY15" fmla="*/ 1389634 h 2569040"/>
                <a:gd name="connsiteX16" fmla="*/ 1564568 w 1738112"/>
                <a:gd name="connsiteY16" fmla="*/ 942028 h 2569040"/>
                <a:gd name="connsiteX17" fmla="*/ 1713819 w 1738112"/>
                <a:gd name="connsiteY17" fmla="*/ 1005794 h 2569040"/>
                <a:gd name="connsiteX18" fmla="*/ 1728421 w 1738112"/>
                <a:gd name="connsiteY18" fmla="*/ 1009462 h 2569040"/>
                <a:gd name="connsiteX19" fmla="*/ 1732750 w 1738112"/>
                <a:gd name="connsiteY19" fmla="*/ 984734 h 2569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38112" h="2569040">
                  <a:moveTo>
                    <a:pt x="1732750" y="984734"/>
                  </a:moveTo>
                  <a:lnTo>
                    <a:pt x="1195256" y="28984"/>
                  </a:lnTo>
                  <a:cubicBezTo>
                    <a:pt x="1185423" y="11520"/>
                    <a:pt x="1163923" y="0"/>
                    <a:pt x="1143451" y="0"/>
                  </a:cubicBezTo>
                  <a:cubicBezTo>
                    <a:pt x="1139195" y="0"/>
                    <a:pt x="1135012" y="514"/>
                    <a:pt x="1131050" y="1541"/>
                  </a:cubicBezTo>
                  <a:lnTo>
                    <a:pt x="68609" y="273920"/>
                  </a:lnTo>
                  <a:cubicBezTo>
                    <a:pt x="45128" y="279937"/>
                    <a:pt x="44174" y="292632"/>
                    <a:pt x="66481" y="302171"/>
                  </a:cubicBezTo>
                  <a:lnTo>
                    <a:pt x="214411" y="365349"/>
                  </a:lnTo>
                  <a:cubicBezTo>
                    <a:pt x="209788" y="375843"/>
                    <a:pt x="205165" y="386336"/>
                    <a:pt x="200689" y="396975"/>
                  </a:cubicBezTo>
                  <a:cubicBezTo>
                    <a:pt x="67508" y="711767"/>
                    <a:pt x="0" y="1045784"/>
                    <a:pt x="0" y="1389634"/>
                  </a:cubicBezTo>
                  <a:cubicBezTo>
                    <a:pt x="0" y="1733484"/>
                    <a:pt x="67508" y="2067501"/>
                    <a:pt x="200689" y="2382366"/>
                  </a:cubicBezTo>
                  <a:cubicBezTo>
                    <a:pt x="227619" y="2445985"/>
                    <a:pt x="257117" y="2508210"/>
                    <a:pt x="288816" y="2569041"/>
                  </a:cubicBezTo>
                  <a:lnTo>
                    <a:pt x="490386" y="1856833"/>
                  </a:lnTo>
                  <a:cubicBezTo>
                    <a:pt x="511225" y="1783161"/>
                    <a:pt x="582035" y="1729668"/>
                    <a:pt x="658715" y="1729668"/>
                  </a:cubicBezTo>
                  <a:cubicBezTo>
                    <a:pt x="659522" y="1729668"/>
                    <a:pt x="660329" y="1729668"/>
                    <a:pt x="661063" y="1729668"/>
                  </a:cubicBezTo>
                  <a:lnTo>
                    <a:pt x="1526558" y="1742216"/>
                  </a:lnTo>
                  <a:cubicBezTo>
                    <a:pt x="1488328" y="1631635"/>
                    <a:pt x="1467562" y="1513056"/>
                    <a:pt x="1467562" y="1389634"/>
                  </a:cubicBezTo>
                  <a:cubicBezTo>
                    <a:pt x="1467562" y="1230110"/>
                    <a:pt x="1502270" y="1078511"/>
                    <a:pt x="1564568" y="942028"/>
                  </a:cubicBezTo>
                  <a:lnTo>
                    <a:pt x="1713819" y="1005794"/>
                  </a:lnTo>
                  <a:cubicBezTo>
                    <a:pt x="1719689" y="1008288"/>
                    <a:pt x="1724605" y="1009462"/>
                    <a:pt x="1728421" y="1009462"/>
                  </a:cubicBezTo>
                  <a:cubicBezTo>
                    <a:pt x="1739207" y="1009462"/>
                    <a:pt x="1741482" y="1000290"/>
                    <a:pt x="1732750" y="984734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txBody>
            <a:bodyPr vert="horz" wrap="none" lIns="91440" tIns="45720" rIns="91440" bIns="45720" numCol="1" anchor="ctr" anchorCtr="0" compatLnSpc="1">
              <a:normAutofit/>
            </a:bodyPr>
            <a:lstStyle/>
            <a:p>
              <a:pPr algn="ctr"/>
              <a:endParaRPr lang="zh-CN" altLang="en-US" sz="160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138718" y="1821324"/>
              <a:ext cx="1474478" cy="1389116"/>
            </a:xfrm>
            <a:custGeom>
              <a:avLst/>
              <a:gdLst>
                <a:gd name="connsiteX0" fmla="*/ 2075940 w 2084493"/>
                <a:gd name="connsiteY0" fmla="*/ 843188 h 1963817"/>
                <a:gd name="connsiteX1" fmla="*/ 2059209 w 2084493"/>
                <a:gd name="connsiteY1" fmla="*/ 850672 h 1963817"/>
                <a:gd name="connsiteX2" fmla="*/ 1926028 w 2084493"/>
                <a:gd name="connsiteY2" fmla="*/ 950100 h 1963817"/>
                <a:gd name="connsiteX3" fmla="*/ 1742583 w 2084493"/>
                <a:gd name="connsiteY3" fmla="*/ 746035 h 1963817"/>
                <a:gd name="connsiteX4" fmla="*/ 932342 w 2084493"/>
                <a:gd name="connsiteY4" fmla="*/ 199882 h 1963817"/>
                <a:gd name="connsiteX5" fmla="*/ 0 w 2084493"/>
                <a:gd name="connsiteY5" fmla="*/ 0 h 1963817"/>
                <a:gd name="connsiteX6" fmla="*/ 489799 w 2084493"/>
                <a:gd name="connsiteY6" fmla="*/ 656587 h 1963817"/>
                <a:gd name="connsiteX7" fmla="*/ 486864 w 2084493"/>
                <a:gd name="connsiteY7" fmla="*/ 869384 h 1963817"/>
                <a:gd name="connsiteX8" fmla="*/ 12915 w 2084493"/>
                <a:gd name="connsiteY8" fmla="*/ 1469396 h 1963817"/>
                <a:gd name="connsiteX9" fmla="*/ 747796 w 2084493"/>
                <a:gd name="connsiteY9" fmla="*/ 1829976 h 1963817"/>
                <a:gd name="connsiteX10" fmla="*/ 623934 w 2084493"/>
                <a:gd name="connsiteY10" fmla="*/ 1922433 h 1963817"/>
                <a:gd name="connsiteX11" fmla="*/ 632666 w 2084493"/>
                <a:gd name="connsiteY11" fmla="*/ 1949362 h 1963817"/>
                <a:gd name="connsiteX12" fmla="*/ 1729375 w 2084493"/>
                <a:gd name="connsiteY12" fmla="*/ 1963818 h 1963817"/>
                <a:gd name="connsiteX13" fmla="*/ 1729962 w 2084493"/>
                <a:gd name="connsiteY13" fmla="*/ 1963818 h 1963817"/>
                <a:gd name="connsiteX14" fmla="*/ 1785289 w 2084493"/>
                <a:gd name="connsiteY14" fmla="*/ 1921992 h 1963817"/>
                <a:gd name="connsiteX15" fmla="*/ 2082544 w 2084493"/>
                <a:gd name="connsiteY15" fmla="*/ 866595 h 1963817"/>
                <a:gd name="connsiteX16" fmla="*/ 2075940 w 2084493"/>
                <a:gd name="connsiteY16" fmla="*/ 843188 h 1963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84493" h="1963817">
                  <a:moveTo>
                    <a:pt x="2075940" y="843188"/>
                  </a:moveTo>
                  <a:cubicBezTo>
                    <a:pt x="2071683" y="843188"/>
                    <a:pt x="2065960" y="845609"/>
                    <a:pt x="2059209" y="850672"/>
                  </a:cubicBezTo>
                  <a:lnTo>
                    <a:pt x="1926028" y="950100"/>
                  </a:lnTo>
                  <a:cubicBezTo>
                    <a:pt x="1868866" y="879216"/>
                    <a:pt x="1807669" y="811121"/>
                    <a:pt x="1742583" y="746035"/>
                  </a:cubicBezTo>
                  <a:cubicBezTo>
                    <a:pt x="1508654" y="512106"/>
                    <a:pt x="1236054" y="328367"/>
                    <a:pt x="932342" y="199882"/>
                  </a:cubicBezTo>
                  <a:cubicBezTo>
                    <a:pt x="635968" y="74552"/>
                    <a:pt x="322643" y="7411"/>
                    <a:pt x="0" y="0"/>
                  </a:cubicBezTo>
                  <a:lnTo>
                    <a:pt x="489799" y="656587"/>
                  </a:lnTo>
                  <a:cubicBezTo>
                    <a:pt x="536247" y="718885"/>
                    <a:pt x="535073" y="808406"/>
                    <a:pt x="486864" y="869384"/>
                  </a:cubicBezTo>
                  <a:lnTo>
                    <a:pt x="12915" y="1469396"/>
                  </a:lnTo>
                  <a:cubicBezTo>
                    <a:pt x="304372" y="1488988"/>
                    <a:pt x="564644" y="1624371"/>
                    <a:pt x="747796" y="1829976"/>
                  </a:cubicBezTo>
                  <a:lnTo>
                    <a:pt x="623934" y="1922433"/>
                  </a:lnTo>
                  <a:cubicBezTo>
                    <a:pt x="604562" y="1936888"/>
                    <a:pt x="608451" y="1949069"/>
                    <a:pt x="632666" y="1949362"/>
                  </a:cubicBezTo>
                  <a:lnTo>
                    <a:pt x="1729375" y="1963818"/>
                  </a:lnTo>
                  <a:cubicBezTo>
                    <a:pt x="1729595" y="1963818"/>
                    <a:pt x="1729815" y="1963818"/>
                    <a:pt x="1729962" y="1963818"/>
                  </a:cubicBezTo>
                  <a:cubicBezTo>
                    <a:pt x="1753956" y="1963818"/>
                    <a:pt x="1778832" y="1945106"/>
                    <a:pt x="1785289" y="1921992"/>
                  </a:cubicBezTo>
                  <a:lnTo>
                    <a:pt x="2082544" y="866595"/>
                  </a:lnTo>
                  <a:cubicBezTo>
                    <a:pt x="2086799" y="851553"/>
                    <a:pt x="2083864" y="843188"/>
                    <a:pt x="2075940" y="843188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txBody>
            <a:bodyPr vert="horz" wrap="none" lIns="91440" tIns="45720" rIns="91440" bIns="45720" numCol="1" anchor="ctr" anchorCtr="0" compatLnSpc="1">
              <a:normAutofit/>
            </a:bodyPr>
            <a:lstStyle/>
            <a:p>
              <a:pPr algn="ctr"/>
              <a:endParaRPr lang="zh-CN" altLang="en-US" sz="160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549405" y="1704975"/>
              <a:ext cx="1876659" cy="1436225"/>
            </a:xfrm>
            <a:custGeom>
              <a:avLst/>
              <a:gdLst>
                <a:gd name="connsiteX0" fmla="*/ 2642492 w 2653063"/>
                <a:gd name="connsiteY0" fmla="*/ 891294 h 2030415"/>
                <a:gd name="connsiteX1" fmla="*/ 1986932 w 2653063"/>
                <a:gd name="connsiteY1" fmla="*/ 12371 h 2030415"/>
                <a:gd name="connsiteX2" fmla="*/ 1969541 w 2653063"/>
                <a:gd name="connsiteY2" fmla="*/ 43 h 2030415"/>
                <a:gd name="connsiteX3" fmla="*/ 1960002 w 2653063"/>
                <a:gd name="connsiteY3" fmla="*/ 21103 h 2030415"/>
                <a:gd name="connsiteX4" fmla="*/ 1957874 w 2653063"/>
                <a:gd name="connsiteY4" fmla="*/ 174096 h 2030415"/>
                <a:gd name="connsiteX5" fmla="*/ 1193788 w 2653063"/>
                <a:gd name="connsiteY5" fmla="*/ 364366 h 2030415"/>
                <a:gd name="connsiteX6" fmla="*/ 383547 w 2653063"/>
                <a:gd name="connsiteY6" fmla="*/ 910519 h 2030415"/>
                <a:gd name="connsiteX7" fmla="*/ 0 w 2653063"/>
                <a:gd name="connsiteY7" fmla="*/ 1401051 h 2030415"/>
                <a:gd name="connsiteX8" fmla="*/ 738624 w 2653063"/>
                <a:gd name="connsiteY8" fmla="*/ 1211736 h 2030415"/>
                <a:gd name="connsiteX9" fmla="*/ 780229 w 2653063"/>
                <a:gd name="connsiteY9" fmla="*/ 1206526 h 2030415"/>
                <a:gd name="connsiteX10" fmla="*/ 934323 w 2653063"/>
                <a:gd name="connsiteY10" fmla="*/ 1295314 h 2030415"/>
                <a:gd name="connsiteX11" fmla="*/ 1347735 w 2653063"/>
                <a:gd name="connsiteY11" fmla="*/ 2030415 h 2030415"/>
                <a:gd name="connsiteX12" fmla="*/ 1937181 w 2653063"/>
                <a:gd name="connsiteY12" fmla="*/ 1660296 h 2030415"/>
                <a:gd name="connsiteX13" fmla="*/ 1935054 w 2653063"/>
                <a:gd name="connsiteY13" fmla="*/ 1812262 h 2030415"/>
                <a:gd name="connsiteX14" fmla="*/ 1945987 w 2653063"/>
                <a:gd name="connsiteY14" fmla="*/ 1833542 h 2030415"/>
                <a:gd name="connsiteX15" fmla="*/ 1961763 w 2653063"/>
                <a:gd name="connsiteY15" fmla="*/ 1821728 h 2030415"/>
                <a:gd name="connsiteX16" fmla="*/ 2641611 w 2653063"/>
                <a:gd name="connsiteY16" fmla="*/ 961076 h 2030415"/>
                <a:gd name="connsiteX17" fmla="*/ 2642492 w 2653063"/>
                <a:gd name="connsiteY17" fmla="*/ 891294 h 2030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53063" h="2030415">
                  <a:moveTo>
                    <a:pt x="2642492" y="891294"/>
                  </a:moveTo>
                  <a:lnTo>
                    <a:pt x="1986932" y="12371"/>
                  </a:lnTo>
                  <a:cubicBezTo>
                    <a:pt x="1980401" y="3566"/>
                    <a:pt x="1974311" y="-470"/>
                    <a:pt x="1969541" y="43"/>
                  </a:cubicBezTo>
                  <a:cubicBezTo>
                    <a:pt x="1963891" y="630"/>
                    <a:pt x="1960149" y="7822"/>
                    <a:pt x="1960002" y="21103"/>
                  </a:cubicBezTo>
                  <a:lnTo>
                    <a:pt x="1957874" y="174096"/>
                  </a:lnTo>
                  <a:cubicBezTo>
                    <a:pt x="1694520" y="197431"/>
                    <a:pt x="1438284" y="260903"/>
                    <a:pt x="1193788" y="364366"/>
                  </a:cubicBezTo>
                  <a:cubicBezTo>
                    <a:pt x="890076" y="492851"/>
                    <a:pt x="617477" y="676589"/>
                    <a:pt x="383547" y="910519"/>
                  </a:cubicBezTo>
                  <a:cubicBezTo>
                    <a:pt x="235030" y="1059036"/>
                    <a:pt x="106765" y="1223256"/>
                    <a:pt x="0" y="1401051"/>
                  </a:cubicBezTo>
                  <a:lnTo>
                    <a:pt x="738624" y="1211736"/>
                  </a:lnTo>
                  <a:cubicBezTo>
                    <a:pt x="752052" y="1208287"/>
                    <a:pt x="766067" y="1206526"/>
                    <a:pt x="780229" y="1206526"/>
                  </a:cubicBezTo>
                  <a:cubicBezTo>
                    <a:pt x="843481" y="1206526"/>
                    <a:pt x="904018" y="1241381"/>
                    <a:pt x="934323" y="1295314"/>
                  </a:cubicBezTo>
                  <a:lnTo>
                    <a:pt x="1347735" y="2030415"/>
                  </a:lnTo>
                  <a:cubicBezTo>
                    <a:pt x="1495959" y="1848804"/>
                    <a:pt x="1701858" y="1716064"/>
                    <a:pt x="1937181" y="1660296"/>
                  </a:cubicBezTo>
                  <a:lnTo>
                    <a:pt x="1935054" y="1812262"/>
                  </a:lnTo>
                  <a:cubicBezTo>
                    <a:pt x="1934834" y="1826938"/>
                    <a:pt x="1939163" y="1834276"/>
                    <a:pt x="1945987" y="1833542"/>
                  </a:cubicBezTo>
                  <a:cubicBezTo>
                    <a:pt x="1950390" y="1833028"/>
                    <a:pt x="1955820" y="1829213"/>
                    <a:pt x="1961763" y="1821728"/>
                  </a:cubicBezTo>
                  <a:lnTo>
                    <a:pt x="2641611" y="961076"/>
                  </a:lnTo>
                  <a:cubicBezTo>
                    <a:pt x="2656507" y="942145"/>
                    <a:pt x="2656947" y="910666"/>
                    <a:pt x="2642492" y="89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none" lIns="91440" tIns="45720" rIns="91440" bIns="45720" numCol="1" anchor="ctr" anchorCtr="0" compatLnSpc="1">
              <a:normAutofit/>
            </a:bodyPr>
            <a:lstStyle/>
            <a:p>
              <a:pPr algn="ctr"/>
              <a:endParaRPr lang="zh-CN" altLang="en-US" sz="16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9" name="IconMisc1"/>
            <p:cNvSpPr/>
            <p:nvPr/>
          </p:nvSpPr>
          <p:spPr>
            <a:xfrm>
              <a:off x="5816600" y="3365475"/>
              <a:ext cx="558800" cy="533450"/>
            </a:xfrm>
            <a:custGeom>
              <a:avLst/>
              <a:gdLst>
                <a:gd name="connsiteX0" fmla="*/ 0 w 530846"/>
                <a:gd name="connsiteY0" fmla="*/ 265419 h 506766"/>
                <a:gd name="connsiteX1" fmla="*/ 183282 w 530846"/>
                <a:gd name="connsiteY1" fmla="*/ 265419 h 506766"/>
                <a:gd name="connsiteX2" fmla="*/ 180907 w 530846"/>
                <a:gd name="connsiteY2" fmla="*/ 277494 h 506766"/>
                <a:gd name="connsiteX3" fmla="*/ 265383 w 530846"/>
                <a:gd name="connsiteY3" fmla="*/ 361982 h 506766"/>
                <a:gd name="connsiteX4" fmla="*/ 349860 w 530846"/>
                <a:gd name="connsiteY4" fmla="*/ 277494 h 506766"/>
                <a:gd name="connsiteX5" fmla="*/ 347484 w 530846"/>
                <a:gd name="connsiteY5" fmla="*/ 265498 h 506766"/>
                <a:gd name="connsiteX6" fmla="*/ 530846 w 530846"/>
                <a:gd name="connsiteY6" fmla="*/ 265498 h 506766"/>
                <a:gd name="connsiteX7" fmla="*/ 530846 w 530846"/>
                <a:gd name="connsiteY7" fmla="*/ 458505 h 506766"/>
                <a:gd name="connsiteX8" fmla="*/ 482591 w 530846"/>
                <a:gd name="connsiteY8" fmla="*/ 506766 h 506766"/>
                <a:gd name="connsiteX9" fmla="*/ 48255 w 530846"/>
                <a:gd name="connsiteY9" fmla="*/ 506766 h 506766"/>
                <a:gd name="connsiteX10" fmla="*/ 0 w 530846"/>
                <a:gd name="connsiteY10" fmla="*/ 458505 h 506766"/>
                <a:gd name="connsiteX11" fmla="*/ 231635 w 530846"/>
                <a:gd name="connsiteY11" fmla="*/ 265382 h 506766"/>
                <a:gd name="connsiteX12" fmla="*/ 299211 w 530846"/>
                <a:gd name="connsiteY12" fmla="*/ 265382 h 506766"/>
                <a:gd name="connsiteX13" fmla="*/ 301585 w 530846"/>
                <a:gd name="connsiteY13" fmla="*/ 277454 h 506766"/>
                <a:gd name="connsiteX14" fmla="*/ 265463 w 530846"/>
                <a:gd name="connsiteY14" fmla="*/ 313708 h 506766"/>
                <a:gd name="connsiteX15" fmla="*/ 229261 w 530846"/>
                <a:gd name="connsiteY15" fmla="*/ 277454 h 506766"/>
                <a:gd name="connsiteX16" fmla="*/ 231635 w 530846"/>
                <a:gd name="connsiteY16" fmla="*/ 265382 h 506766"/>
                <a:gd name="connsiteX17" fmla="*/ 180986 w 530846"/>
                <a:gd name="connsiteY17" fmla="*/ 48182 h 506766"/>
                <a:gd name="connsiteX18" fmla="*/ 168873 w 530846"/>
                <a:gd name="connsiteY18" fmla="*/ 60257 h 506766"/>
                <a:gd name="connsiteX19" fmla="*/ 168873 w 530846"/>
                <a:gd name="connsiteY19" fmla="*/ 96523 h 506766"/>
                <a:gd name="connsiteX20" fmla="*/ 361973 w 530846"/>
                <a:gd name="connsiteY20" fmla="*/ 96523 h 506766"/>
                <a:gd name="connsiteX21" fmla="*/ 361973 w 530846"/>
                <a:gd name="connsiteY21" fmla="*/ 60257 h 506766"/>
                <a:gd name="connsiteX22" fmla="*/ 349860 w 530846"/>
                <a:gd name="connsiteY22" fmla="*/ 48182 h 506766"/>
                <a:gd name="connsiteX23" fmla="*/ 168873 w 530846"/>
                <a:gd name="connsiteY23" fmla="*/ 0 h 506766"/>
                <a:gd name="connsiteX24" fmla="*/ 361973 w 530846"/>
                <a:gd name="connsiteY24" fmla="*/ 0 h 506766"/>
                <a:gd name="connsiteX25" fmla="*/ 410188 w 530846"/>
                <a:gd name="connsiteY25" fmla="*/ 48261 h 506766"/>
                <a:gd name="connsiteX26" fmla="*/ 410188 w 530846"/>
                <a:gd name="connsiteY26" fmla="*/ 96523 h 506766"/>
                <a:gd name="connsiteX27" fmla="*/ 482591 w 530846"/>
                <a:gd name="connsiteY27" fmla="*/ 96523 h 506766"/>
                <a:gd name="connsiteX28" fmla="*/ 530846 w 530846"/>
                <a:gd name="connsiteY28" fmla="*/ 144784 h 506766"/>
                <a:gd name="connsiteX29" fmla="*/ 530846 w 530846"/>
                <a:gd name="connsiteY29" fmla="*/ 217157 h 506766"/>
                <a:gd name="connsiteX30" fmla="*/ 0 w 530846"/>
                <a:gd name="connsiteY30" fmla="*/ 217157 h 506766"/>
                <a:gd name="connsiteX31" fmla="*/ 0 w 530846"/>
                <a:gd name="connsiteY31" fmla="*/ 144784 h 506766"/>
                <a:gd name="connsiteX32" fmla="*/ 48255 w 530846"/>
                <a:gd name="connsiteY32" fmla="*/ 96523 h 506766"/>
                <a:gd name="connsiteX33" fmla="*/ 120618 w 530846"/>
                <a:gd name="connsiteY33" fmla="*/ 96523 h 506766"/>
                <a:gd name="connsiteX34" fmla="*/ 120618 w 530846"/>
                <a:gd name="connsiteY34" fmla="*/ 48261 h 506766"/>
                <a:gd name="connsiteX35" fmla="*/ 168873 w 530846"/>
                <a:gd name="connsiteY35" fmla="*/ 0 h 506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30846" h="506766">
                  <a:moveTo>
                    <a:pt x="0" y="265419"/>
                  </a:moveTo>
                  <a:lnTo>
                    <a:pt x="183282" y="265419"/>
                  </a:lnTo>
                  <a:cubicBezTo>
                    <a:pt x="180907" y="270249"/>
                    <a:pt x="180907" y="272664"/>
                    <a:pt x="180907" y="277494"/>
                  </a:cubicBezTo>
                  <a:cubicBezTo>
                    <a:pt x="180907" y="323380"/>
                    <a:pt x="219503" y="361982"/>
                    <a:pt x="265383" y="361982"/>
                  </a:cubicBezTo>
                  <a:cubicBezTo>
                    <a:pt x="311224" y="361982"/>
                    <a:pt x="349860" y="323380"/>
                    <a:pt x="349860" y="277494"/>
                  </a:cubicBezTo>
                  <a:cubicBezTo>
                    <a:pt x="349860" y="272743"/>
                    <a:pt x="349860" y="270249"/>
                    <a:pt x="347484" y="265498"/>
                  </a:cubicBezTo>
                  <a:lnTo>
                    <a:pt x="530846" y="265498"/>
                  </a:lnTo>
                  <a:lnTo>
                    <a:pt x="530846" y="458505"/>
                  </a:lnTo>
                  <a:cubicBezTo>
                    <a:pt x="530846" y="485031"/>
                    <a:pt x="509074" y="506766"/>
                    <a:pt x="482591" y="506766"/>
                  </a:cubicBezTo>
                  <a:lnTo>
                    <a:pt x="48255" y="506766"/>
                  </a:lnTo>
                  <a:cubicBezTo>
                    <a:pt x="21733" y="506766"/>
                    <a:pt x="0" y="485031"/>
                    <a:pt x="0" y="458505"/>
                  </a:cubicBezTo>
                  <a:close/>
                  <a:moveTo>
                    <a:pt x="231635" y="265382"/>
                  </a:moveTo>
                  <a:lnTo>
                    <a:pt x="299211" y="265382"/>
                  </a:lnTo>
                  <a:cubicBezTo>
                    <a:pt x="301585" y="270211"/>
                    <a:pt x="301585" y="272625"/>
                    <a:pt x="301585" y="277454"/>
                  </a:cubicBezTo>
                  <a:cubicBezTo>
                    <a:pt x="301585" y="296808"/>
                    <a:pt x="284731" y="313708"/>
                    <a:pt x="265463" y="313708"/>
                  </a:cubicBezTo>
                  <a:cubicBezTo>
                    <a:pt x="246116" y="313708"/>
                    <a:pt x="229261" y="296729"/>
                    <a:pt x="229261" y="277454"/>
                  </a:cubicBezTo>
                  <a:cubicBezTo>
                    <a:pt x="229261" y="272625"/>
                    <a:pt x="229261" y="270211"/>
                    <a:pt x="231635" y="265382"/>
                  </a:cubicBezTo>
                  <a:close/>
                  <a:moveTo>
                    <a:pt x="180986" y="48182"/>
                  </a:moveTo>
                  <a:cubicBezTo>
                    <a:pt x="173742" y="48182"/>
                    <a:pt x="168873" y="53012"/>
                    <a:pt x="168873" y="60257"/>
                  </a:cubicBezTo>
                  <a:lnTo>
                    <a:pt x="168873" y="96523"/>
                  </a:lnTo>
                  <a:lnTo>
                    <a:pt x="361973" y="96523"/>
                  </a:lnTo>
                  <a:lnTo>
                    <a:pt x="361973" y="60257"/>
                  </a:lnTo>
                  <a:cubicBezTo>
                    <a:pt x="361973" y="53012"/>
                    <a:pt x="357104" y="48182"/>
                    <a:pt x="349860" y="48182"/>
                  </a:cubicBezTo>
                  <a:close/>
                  <a:moveTo>
                    <a:pt x="168873" y="0"/>
                  </a:moveTo>
                  <a:lnTo>
                    <a:pt x="361973" y="0"/>
                  </a:lnTo>
                  <a:cubicBezTo>
                    <a:pt x="388456" y="0"/>
                    <a:pt x="410188" y="21735"/>
                    <a:pt x="410188" y="48261"/>
                  </a:cubicBezTo>
                  <a:lnTo>
                    <a:pt x="410188" y="96523"/>
                  </a:lnTo>
                  <a:lnTo>
                    <a:pt x="482591" y="96523"/>
                  </a:lnTo>
                  <a:cubicBezTo>
                    <a:pt x="509193" y="96523"/>
                    <a:pt x="530846" y="118258"/>
                    <a:pt x="530846" y="144784"/>
                  </a:cubicBezTo>
                  <a:lnTo>
                    <a:pt x="530846" y="217157"/>
                  </a:lnTo>
                  <a:lnTo>
                    <a:pt x="0" y="217157"/>
                  </a:lnTo>
                  <a:lnTo>
                    <a:pt x="0" y="144784"/>
                  </a:lnTo>
                  <a:cubicBezTo>
                    <a:pt x="0" y="118258"/>
                    <a:pt x="21733" y="96523"/>
                    <a:pt x="48255" y="96523"/>
                  </a:cubicBezTo>
                  <a:lnTo>
                    <a:pt x="120618" y="96523"/>
                  </a:lnTo>
                  <a:lnTo>
                    <a:pt x="120618" y="48261"/>
                  </a:lnTo>
                  <a:cubicBezTo>
                    <a:pt x="120618" y="21735"/>
                    <a:pt x="142351" y="0"/>
                    <a:pt x="168873" y="0"/>
                  </a:cubicBezTo>
                  <a:close/>
                </a:path>
              </a:pathLst>
            </a:cu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lnSpc>
                  <a:spcPct val="120000"/>
                </a:lnSpc>
                <a:buSzPct val="25000"/>
              </a:pPr>
              <a:endParaRPr lang="en-US" sz="2000" b="1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0" name="Title"/>
            <p:cNvSpPr/>
            <p:nvPr/>
          </p:nvSpPr>
          <p:spPr>
            <a:xfrm>
              <a:off x="660400" y="1130300"/>
              <a:ext cx="10858500" cy="47329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r>
                <a:rPr lang="zh-CN" altLang="en-US" sz="2000" b="1" dirty="0">
                  <a:solidFill>
                    <a:schemeClr val="tx1"/>
                  </a:solidFill>
                  <a:cs typeface="+mn-ea"/>
                  <a:sym typeface="+mn-lt"/>
                </a:rPr>
                <a:t>模拟ZigBee星型网络通信过程与串口数据转发</a:t>
              </a:r>
              <a:endParaRPr lang="en-US" dirty="0"/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660400" y="1744497"/>
              <a:ext cx="3346450" cy="991726"/>
              <a:chOff x="660400" y="1744497"/>
              <a:chExt cx="3346450" cy="991726"/>
            </a:xfrm>
          </p:grpSpPr>
          <p:sp>
            <p:nvSpPr>
              <p:cNvPr id="40" name="Number1"/>
              <p:cNvSpPr/>
              <p:nvPr/>
            </p:nvSpPr>
            <p:spPr>
              <a:xfrm flipH="1">
                <a:off x="660400" y="1744497"/>
                <a:ext cx="472502" cy="391238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1.</a:t>
                </a:r>
                <a:endParaRPr sz="16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1" name="Bullet1"/>
              <p:cNvSpPr txBox="1"/>
              <p:nvPr/>
            </p:nvSpPr>
            <p:spPr>
              <a:xfrm>
                <a:off x="1158301" y="1744497"/>
                <a:ext cx="2848549" cy="391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latin typeface="+mn-lt"/>
                    <a:cs typeface="+mn-ea"/>
                    <a:sym typeface="+mn-lt"/>
                  </a:rPr>
                  <a:t>星型网络拓扑结构</a:t>
                </a:r>
                <a:endParaRPr lang="en-US" dirty="0"/>
              </a:p>
            </p:txBody>
          </p:sp>
          <p:sp>
            <p:nvSpPr>
              <p:cNvPr id="42" name="Text1"/>
              <p:cNvSpPr txBox="1"/>
              <p:nvPr/>
            </p:nvSpPr>
            <p:spPr>
              <a:xfrm>
                <a:off x="1158301" y="2135734"/>
                <a:ext cx="2848549" cy="6004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单一协调器连接3~10个终端节点，所有数据经协调器汇聚后上传至PC端服务器。</a:t>
                </a:r>
                <a:endParaRPr lang="en-US" dirty="0"/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8200093" y="1744497"/>
              <a:ext cx="3318807" cy="991726"/>
              <a:chOff x="8200093" y="1744497"/>
              <a:chExt cx="3318807" cy="991726"/>
            </a:xfrm>
          </p:grpSpPr>
          <p:sp>
            <p:nvSpPr>
              <p:cNvPr id="37" name="Number2"/>
              <p:cNvSpPr/>
              <p:nvPr/>
            </p:nvSpPr>
            <p:spPr>
              <a:xfrm flipH="1">
                <a:off x="8200093" y="1744497"/>
                <a:ext cx="472502" cy="391238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2.</a:t>
                </a:r>
                <a:endParaRPr sz="16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8" name="Bullet2"/>
              <p:cNvSpPr txBox="1"/>
              <p:nvPr/>
            </p:nvSpPr>
            <p:spPr>
              <a:xfrm>
                <a:off x="8670351" y="1744497"/>
                <a:ext cx="2848549" cy="391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latin typeface="+mn-lt"/>
                    <a:cs typeface="+mn-ea"/>
                    <a:sym typeface="+mn-lt"/>
                  </a:rPr>
                  <a:t>上行数据传输模拟</a:t>
                </a:r>
                <a:endParaRPr lang="en-US" dirty="0"/>
              </a:p>
            </p:txBody>
          </p:sp>
          <p:sp>
            <p:nvSpPr>
              <p:cNvPr id="39" name="Text2"/>
              <p:cNvSpPr txBox="1"/>
              <p:nvPr/>
            </p:nvSpPr>
            <p:spPr>
              <a:xfrm>
                <a:off x="8670351" y="2135734"/>
                <a:ext cx="2848549" cy="6004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终端节点将传感器数据封装成ZigBee帧格式，通过虚拟串口发送给协调器。</a:t>
                </a:r>
                <a:endParaRPr lang="en-US" dirty="0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8200093" y="2877123"/>
              <a:ext cx="3318807" cy="991726"/>
              <a:chOff x="8200093" y="2877123"/>
              <a:chExt cx="3318807" cy="991726"/>
            </a:xfrm>
          </p:grpSpPr>
          <p:sp>
            <p:nvSpPr>
              <p:cNvPr id="34" name="Number3"/>
              <p:cNvSpPr/>
              <p:nvPr/>
            </p:nvSpPr>
            <p:spPr>
              <a:xfrm flipH="1">
                <a:off x="8200093" y="2877123"/>
                <a:ext cx="472502" cy="391238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3.</a:t>
                </a:r>
                <a:endParaRPr sz="16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Bullet3"/>
              <p:cNvSpPr txBox="1"/>
              <p:nvPr/>
            </p:nvSpPr>
            <p:spPr>
              <a:xfrm>
                <a:off x="8670351" y="2877123"/>
                <a:ext cx="2848549" cy="391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latin typeface="+mn-lt"/>
                    <a:cs typeface="+mn-ea"/>
                    <a:sym typeface="+mn-lt"/>
                  </a:rPr>
                  <a:t>下行控制指令传递</a:t>
                </a:r>
                <a:endParaRPr lang="en-US" dirty="0"/>
              </a:p>
            </p:txBody>
          </p:sp>
          <p:sp>
            <p:nvSpPr>
              <p:cNvPr id="36" name="Text3"/>
              <p:cNvSpPr txBox="1"/>
              <p:nvPr/>
            </p:nvSpPr>
            <p:spPr>
              <a:xfrm>
                <a:off x="8670351" y="3268360"/>
                <a:ext cx="2848549" cy="6004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后端下发控制命令（如开启风机），协调器接收后转发至指定终端节点执行动作。</a:t>
                </a:r>
                <a:endParaRPr lang="en-US" dirty="0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8200093" y="4009749"/>
              <a:ext cx="3318807" cy="991726"/>
              <a:chOff x="8200093" y="4009749"/>
              <a:chExt cx="3318807" cy="991726"/>
            </a:xfrm>
          </p:grpSpPr>
          <p:sp>
            <p:nvSpPr>
              <p:cNvPr id="31" name="Number4"/>
              <p:cNvSpPr/>
              <p:nvPr/>
            </p:nvSpPr>
            <p:spPr>
              <a:xfrm flipH="1">
                <a:off x="8200093" y="4009749"/>
                <a:ext cx="472502" cy="391238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4.</a:t>
                </a:r>
                <a:endParaRPr sz="16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" name="Bullet4"/>
              <p:cNvSpPr txBox="1"/>
              <p:nvPr/>
            </p:nvSpPr>
            <p:spPr>
              <a:xfrm>
                <a:off x="8670351" y="4009749"/>
                <a:ext cx="2848549" cy="391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latin typeface="+mn-lt"/>
                    <a:cs typeface="+mn-ea"/>
                    <a:sym typeface="+mn-lt"/>
                  </a:rPr>
                  <a:t>串口通信参数配置</a:t>
                </a:r>
                <a:endParaRPr lang="en-US" dirty="0"/>
              </a:p>
            </p:txBody>
          </p:sp>
          <p:sp>
            <p:nvSpPr>
              <p:cNvPr id="33" name="Text4"/>
              <p:cNvSpPr txBox="1"/>
              <p:nvPr/>
            </p:nvSpPr>
            <p:spPr>
              <a:xfrm>
                <a:off x="8670351" y="4400986"/>
                <a:ext cx="2848549" cy="6004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支持波特率（默认115200）、数据位、停止位、校验位设置，确保数据同步准确。</a:t>
                </a:r>
                <a:endParaRPr lang="en-US" dirty="0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8200093" y="5142374"/>
              <a:ext cx="3318807" cy="991726"/>
              <a:chOff x="8200093" y="5142374"/>
              <a:chExt cx="3318807" cy="991726"/>
            </a:xfrm>
          </p:grpSpPr>
          <p:sp>
            <p:nvSpPr>
              <p:cNvPr id="28" name="Number5"/>
              <p:cNvSpPr/>
              <p:nvPr/>
            </p:nvSpPr>
            <p:spPr>
              <a:xfrm flipH="1">
                <a:off x="8200093" y="5142374"/>
                <a:ext cx="472502" cy="391238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5.</a:t>
                </a:r>
                <a:endParaRPr sz="16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9" name="Bullet5"/>
              <p:cNvSpPr txBox="1"/>
              <p:nvPr/>
            </p:nvSpPr>
            <p:spPr>
              <a:xfrm>
                <a:off x="8670351" y="5142374"/>
                <a:ext cx="2848549" cy="391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latin typeface="+mn-lt"/>
                    <a:cs typeface="+mn-ea"/>
                    <a:sym typeface="+mn-lt"/>
                  </a:rPr>
                  <a:t>虚拟串口工具使用</a:t>
                </a:r>
                <a:endParaRPr lang="en-US" dirty="0"/>
              </a:p>
            </p:txBody>
          </p:sp>
          <p:sp>
            <p:nvSpPr>
              <p:cNvPr id="30" name="Text5"/>
              <p:cNvSpPr txBox="1"/>
              <p:nvPr/>
            </p:nvSpPr>
            <p:spPr>
              <a:xfrm>
                <a:off x="8670351" y="5533611"/>
                <a:ext cx="2848549" cy="6004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推荐使用com0com（Windows）或socat（Linux/macOS）创建虚拟COM端口对进行调试。</a:t>
                </a:r>
                <a:endParaRPr lang="en-US" dirty="0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658813" y="5142374"/>
              <a:ext cx="3346450" cy="991726"/>
              <a:chOff x="658813" y="5142374"/>
              <a:chExt cx="3346450" cy="991726"/>
            </a:xfrm>
          </p:grpSpPr>
          <p:sp>
            <p:nvSpPr>
              <p:cNvPr id="25" name="Number6"/>
              <p:cNvSpPr/>
              <p:nvPr/>
            </p:nvSpPr>
            <p:spPr>
              <a:xfrm flipH="1">
                <a:off x="658813" y="5142374"/>
                <a:ext cx="472502" cy="391238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6.</a:t>
                </a:r>
                <a:endParaRPr sz="16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Bullet6"/>
              <p:cNvSpPr txBox="1"/>
              <p:nvPr/>
            </p:nvSpPr>
            <p:spPr>
              <a:xfrm>
                <a:off x="1156714" y="5142374"/>
                <a:ext cx="2848549" cy="391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latin typeface="+mn-lt"/>
                    <a:cs typeface="+mn-ea"/>
                    <a:sym typeface="+mn-lt"/>
                  </a:rPr>
                  <a:t>Socket通信备选方案</a:t>
                </a:r>
                <a:endParaRPr lang="en-US" dirty="0"/>
              </a:p>
            </p:txBody>
          </p:sp>
          <p:sp>
            <p:nvSpPr>
              <p:cNvPr id="27" name="Text6"/>
              <p:cNvSpPr txBox="1"/>
              <p:nvPr/>
            </p:nvSpPr>
            <p:spPr>
              <a:xfrm>
                <a:off x="1156714" y="5533611"/>
                <a:ext cx="2848549" cy="6004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当串口不稳定时，可通过TCP/IP协议替代，Python模拟器作为客户端向Java服务端发送数据。</a:t>
                </a:r>
                <a:endParaRPr lang="en-US" dirty="0"/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660400" y="3443435"/>
              <a:ext cx="3346450" cy="991726"/>
              <a:chOff x="660400" y="3443435"/>
              <a:chExt cx="3346450" cy="991726"/>
            </a:xfrm>
          </p:grpSpPr>
          <p:sp>
            <p:nvSpPr>
              <p:cNvPr id="22" name="Number7"/>
              <p:cNvSpPr/>
              <p:nvPr/>
            </p:nvSpPr>
            <p:spPr>
              <a:xfrm flipH="1">
                <a:off x="660400" y="3443435"/>
                <a:ext cx="472502" cy="391238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7.</a:t>
                </a:r>
                <a:endParaRPr sz="16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Bullet7"/>
              <p:cNvSpPr txBox="1"/>
              <p:nvPr/>
            </p:nvSpPr>
            <p:spPr>
              <a:xfrm>
                <a:off x="1158301" y="3443435"/>
                <a:ext cx="2848549" cy="391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latin typeface="+mn-lt"/>
                    <a:cs typeface="+mn-ea"/>
                    <a:sym typeface="+mn-lt"/>
                  </a:rPr>
                  <a:t>数据完整性校验机制</a:t>
                </a:r>
                <a:endParaRPr lang="en-US" dirty="0"/>
              </a:p>
            </p:txBody>
          </p:sp>
          <p:sp>
            <p:nvSpPr>
              <p:cNvPr id="24" name="Text7"/>
              <p:cNvSpPr txBox="1"/>
              <p:nvPr/>
            </p:nvSpPr>
            <p:spPr>
              <a:xfrm>
                <a:off x="1158301" y="3834672"/>
                <a:ext cx="2848549" cy="6004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每帧包含校验和字段，接收方验证无误后才解析数据，防止传输过程中出现丢包或错码。</a:t>
                </a:r>
                <a:endParaRPr 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网络层（模拟）通信机制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dd29c499-435b-4922-a603-9baf279d2645.source.7.zh-Hans.pptx"/>
          <p:cNvGrpSpPr/>
          <p:nvPr/>
        </p:nvGrpSpPr>
        <p:grpSpPr>
          <a:xfrm>
            <a:off x="658813" y="1130300"/>
            <a:ext cx="10860087" cy="5003800"/>
            <a:chOff x="658813" y="1130300"/>
            <a:chExt cx="10860087" cy="5003800"/>
          </a:xfrm>
        </p:grpSpPr>
        <p:sp>
          <p:nvSpPr>
            <p:cNvPr id="87" name="Title"/>
            <p:cNvSpPr/>
            <p:nvPr/>
          </p:nvSpPr>
          <p:spPr>
            <a:xfrm>
              <a:off x="658813" y="1130300"/>
              <a:ext cx="10858500" cy="617283"/>
            </a:xfrm>
            <a:prstGeom prst="roundRect">
              <a:avLst>
                <a:gd name="adj" fmla="val 10581"/>
              </a:avLst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zh-CN" altLang="en-US" sz="2000" b="1" dirty="0">
                  <a:solidFill>
                    <a:schemeClr val="tx1"/>
                  </a:solidFill>
                  <a:cs typeface="+mn-ea"/>
                  <a:sym typeface="+mn-lt"/>
                </a:rPr>
                <a:t>基于SSM框架构建后端服务，完成数据接收、解析、存储与控制逻辑</a:t>
              </a:r>
              <a:endParaRPr lang="en-US" dirty="0"/>
            </a:p>
          </p:txBody>
        </p:sp>
        <p:cxnSp>
          <p:nvCxnSpPr>
            <p:cNvPr id="88" name="连接符: 肘形 87"/>
            <p:cNvCxnSpPr>
              <a:stCxn id="131" idx="0"/>
              <a:endCxn id="119" idx="0"/>
            </p:cNvCxnSpPr>
            <p:nvPr/>
          </p:nvCxnSpPr>
          <p:spPr>
            <a:xfrm rot="5400000" flipH="1" flipV="1">
              <a:off x="6089650" y="-1735431"/>
              <a:ext cx="12700" cy="8263890"/>
            </a:xfrm>
            <a:prstGeom prst="bentConnector3">
              <a:avLst>
                <a:gd name="adj1" fmla="val 2533331"/>
              </a:avLst>
            </a:prstGeom>
            <a:ln w="6350">
              <a:solidFill>
                <a:schemeClr val="tx1">
                  <a:alpha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islide-3"/>
            <p:cNvSpPr/>
            <p:nvPr/>
          </p:nvSpPr>
          <p:spPr>
            <a:xfrm flipV="1">
              <a:off x="4712335" y="2084154"/>
              <a:ext cx="0" cy="299658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  <a:miter lim="400000"/>
              <a:headEnd type="triangle"/>
            </a:ln>
          </p:spPr>
          <p:txBody>
            <a:bodyPr lIns="0" tIns="0" rIns="0" bIns="0" anchor="ctr"/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600">
                <a:cs typeface="+mn-ea"/>
                <a:sym typeface="+mn-lt"/>
              </a:endParaRPr>
            </a:p>
          </p:txBody>
        </p:sp>
        <p:sp>
          <p:nvSpPr>
            <p:cNvPr id="90" name="islide-4"/>
            <p:cNvSpPr/>
            <p:nvPr/>
          </p:nvSpPr>
          <p:spPr>
            <a:xfrm flipV="1">
              <a:off x="7466965" y="2084154"/>
              <a:ext cx="0" cy="299658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  <a:miter lim="400000"/>
              <a:headEnd type="triangle"/>
            </a:ln>
          </p:spPr>
          <p:txBody>
            <a:bodyPr lIns="0" tIns="0" rIns="0" bIns="0" anchor="ctr"/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600" dirty="0">
                <a:cs typeface="+mn-ea"/>
                <a:sym typeface="+mn-lt"/>
              </a:endParaRPr>
            </a:p>
          </p:txBody>
        </p:sp>
        <p:cxnSp>
          <p:nvCxnSpPr>
            <p:cNvPr id="95" name="连接符: 肘形 94"/>
            <p:cNvCxnSpPr>
              <a:stCxn id="115" idx="0"/>
              <a:endCxn id="103" idx="0"/>
            </p:cNvCxnSpPr>
            <p:nvPr/>
          </p:nvCxnSpPr>
          <p:spPr>
            <a:xfrm rot="5400000" flipH="1" flipV="1">
              <a:off x="6089650" y="457828"/>
              <a:ext cx="12700" cy="8263890"/>
            </a:xfrm>
            <a:prstGeom prst="bentConnector3">
              <a:avLst>
                <a:gd name="adj1" fmla="val 2533331"/>
              </a:avLst>
            </a:prstGeom>
            <a:ln w="6350">
              <a:solidFill>
                <a:schemeClr val="tx1">
                  <a:alpha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islide-3"/>
            <p:cNvSpPr/>
            <p:nvPr/>
          </p:nvSpPr>
          <p:spPr>
            <a:xfrm flipV="1">
              <a:off x="6096000" y="4277413"/>
              <a:ext cx="0" cy="299658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  <a:miter lim="400000"/>
              <a:headEnd type="triangle"/>
            </a:ln>
          </p:spPr>
          <p:txBody>
            <a:bodyPr lIns="0" tIns="0" rIns="0" bIns="0" anchor="ctr"/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600">
                <a:cs typeface="+mn-ea"/>
                <a:sym typeface="+mn-lt"/>
              </a:endParaRPr>
            </a:p>
          </p:txBody>
        </p:sp>
        <p:grpSp>
          <p:nvGrpSpPr>
            <p:cNvPr id="134" name="组合 133"/>
            <p:cNvGrpSpPr/>
            <p:nvPr/>
          </p:nvGrpSpPr>
          <p:grpSpPr>
            <a:xfrm>
              <a:off x="660400" y="2396514"/>
              <a:ext cx="2594610" cy="1544327"/>
              <a:chOff x="660400" y="2396514"/>
              <a:chExt cx="2594610" cy="1544327"/>
            </a:xfrm>
          </p:grpSpPr>
          <p:sp>
            <p:nvSpPr>
              <p:cNvPr id="130" name="ComponentBackground1"/>
              <p:cNvSpPr/>
              <p:nvPr/>
            </p:nvSpPr>
            <p:spPr>
              <a:xfrm>
                <a:off x="660400" y="2480181"/>
                <a:ext cx="2594610" cy="1460660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1" name="Shape1"/>
              <p:cNvSpPr/>
              <p:nvPr/>
            </p:nvSpPr>
            <p:spPr>
              <a:xfrm>
                <a:off x="1880220" y="2396514"/>
                <a:ext cx="154970" cy="154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fontScale="25000" lnSpcReduction="20000"/>
              </a:bodyPr>
              <a:lstStyle/>
              <a:p>
                <a:pPr algn="ctr"/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2" name="Text1"/>
              <p:cNvSpPr txBox="1"/>
              <p:nvPr/>
            </p:nvSpPr>
            <p:spPr>
              <a:xfrm>
                <a:off x="738777" y="3150892"/>
                <a:ext cx="2437856" cy="65837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Spring负责IOC与AOP，Spring MVC处理HTTP请求，MyBatis完成ORM映射操作数据库。</a:t>
                </a:r>
                <a:endParaRPr lang="en-US" dirty="0"/>
              </a:p>
            </p:txBody>
          </p:sp>
          <p:sp>
            <p:nvSpPr>
              <p:cNvPr id="133" name="Bullet1"/>
              <p:cNvSpPr txBox="1"/>
              <p:nvPr/>
            </p:nvSpPr>
            <p:spPr>
              <a:xfrm>
                <a:off x="738777" y="2628481"/>
                <a:ext cx="2437856" cy="522409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后端技术栈组成</a:t>
                </a:r>
                <a:endParaRPr lang="en-US" dirty="0"/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3415030" y="2396514"/>
              <a:ext cx="2594610" cy="1544327"/>
              <a:chOff x="3415030" y="2396514"/>
              <a:chExt cx="2594610" cy="1544327"/>
            </a:xfrm>
          </p:grpSpPr>
          <p:sp>
            <p:nvSpPr>
              <p:cNvPr id="126" name="ComponentBackground2"/>
              <p:cNvSpPr/>
              <p:nvPr/>
            </p:nvSpPr>
            <p:spPr>
              <a:xfrm>
                <a:off x="3415030" y="2480181"/>
                <a:ext cx="2594610" cy="1460660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7" name="Shape2"/>
              <p:cNvSpPr/>
              <p:nvPr/>
            </p:nvSpPr>
            <p:spPr>
              <a:xfrm>
                <a:off x="4634850" y="2396514"/>
                <a:ext cx="154970" cy="154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fontScale="25000" lnSpcReduction="20000"/>
              </a:bodyPr>
              <a:lstStyle/>
              <a:p>
                <a:pPr algn="ctr"/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8" name="Text2"/>
              <p:cNvSpPr txBox="1"/>
              <p:nvPr/>
            </p:nvSpPr>
            <p:spPr>
              <a:xfrm>
                <a:off x="3493407" y="3150892"/>
                <a:ext cx="2437856" cy="65837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使用jSerialComm库监听指定串口，持续读取来自协调器的数据流并交由解析模块处理。</a:t>
                </a:r>
                <a:endParaRPr lang="en-US" dirty="0"/>
              </a:p>
            </p:txBody>
          </p:sp>
          <p:sp>
            <p:nvSpPr>
              <p:cNvPr id="129" name="Bullet2"/>
              <p:cNvSpPr txBox="1"/>
              <p:nvPr/>
            </p:nvSpPr>
            <p:spPr>
              <a:xfrm>
                <a:off x="3493407" y="2628481"/>
                <a:ext cx="2437856" cy="522409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串口监听服务实现</a:t>
                </a:r>
                <a:endParaRPr lang="en-US" dirty="0"/>
              </a:p>
            </p:txBody>
          </p:sp>
        </p:grpSp>
        <p:grpSp>
          <p:nvGrpSpPr>
            <p:cNvPr id="136" name="组合 135"/>
            <p:cNvGrpSpPr/>
            <p:nvPr/>
          </p:nvGrpSpPr>
          <p:grpSpPr>
            <a:xfrm>
              <a:off x="6169660" y="2396514"/>
              <a:ext cx="2594610" cy="1544327"/>
              <a:chOff x="6169660" y="2396514"/>
              <a:chExt cx="2594610" cy="1544327"/>
            </a:xfrm>
          </p:grpSpPr>
          <p:sp>
            <p:nvSpPr>
              <p:cNvPr id="122" name="ComponentBackground3"/>
              <p:cNvSpPr/>
              <p:nvPr/>
            </p:nvSpPr>
            <p:spPr>
              <a:xfrm>
                <a:off x="6169660" y="2480181"/>
                <a:ext cx="2594610" cy="1460660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3" name="Shape3"/>
              <p:cNvSpPr/>
              <p:nvPr/>
            </p:nvSpPr>
            <p:spPr>
              <a:xfrm>
                <a:off x="7389480" y="2396514"/>
                <a:ext cx="154970" cy="154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fontScale="25000" lnSpcReduction="20000"/>
              </a:bodyPr>
              <a:lstStyle/>
              <a:p>
                <a:pPr algn="ctr"/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4" name="Text3"/>
              <p:cNvSpPr txBox="1"/>
              <p:nvPr/>
            </p:nvSpPr>
            <p:spPr>
              <a:xfrm>
                <a:off x="6248037" y="3150892"/>
                <a:ext cx="2437856" cy="65837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按预设协议提取节点ID、时间戳、各传感器数值，进行单位转换与标准化处理。</a:t>
                </a:r>
                <a:endParaRPr lang="en-US" dirty="0"/>
              </a:p>
            </p:txBody>
          </p:sp>
          <p:sp>
            <p:nvSpPr>
              <p:cNvPr id="125" name="Bullet3"/>
              <p:cNvSpPr txBox="1"/>
              <p:nvPr/>
            </p:nvSpPr>
            <p:spPr>
              <a:xfrm>
                <a:off x="6248037" y="2628481"/>
                <a:ext cx="2437856" cy="522409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数据包解析流程</a:t>
                </a:r>
                <a:endParaRPr lang="en-US" dirty="0"/>
              </a:p>
            </p:txBody>
          </p:sp>
        </p:grpSp>
        <p:grpSp>
          <p:nvGrpSpPr>
            <p:cNvPr id="137" name="组合 136"/>
            <p:cNvGrpSpPr/>
            <p:nvPr/>
          </p:nvGrpSpPr>
          <p:grpSpPr>
            <a:xfrm>
              <a:off x="8924290" y="2396514"/>
              <a:ext cx="2594610" cy="1544327"/>
              <a:chOff x="8924290" y="2396514"/>
              <a:chExt cx="2594610" cy="1544327"/>
            </a:xfrm>
          </p:grpSpPr>
          <p:sp>
            <p:nvSpPr>
              <p:cNvPr id="118" name="ComponentBackground4"/>
              <p:cNvSpPr/>
              <p:nvPr/>
            </p:nvSpPr>
            <p:spPr>
              <a:xfrm>
                <a:off x="8924290" y="2480181"/>
                <a:ext cx="2594610" cy="1460660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9" name="Shape4"/>
              <p:cNvSpPr/>
              <p:nvPr/>
            </p:nvSpPr>
            <p:spPr>
              <a:xfrm>
                <a:off x="10144110" y="2396514"/>
                <a:ext cx="154970" cy="154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fontScale="25000" lnSpcReduction="20000"/>
              </a:bodyPr>
              <a:lstStyle/>
              <a:p>
                <a:pPr algn="ctr"/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0" name="Text4"/>
              <p:cNvSpPr txBox="1"/>
              <p:nvPr/>
            </p:nvSpPr>
            <p:spPr>
              <a:xfrm>
                <a:off x="9002667" y="3150892"/>
                <a:ext cx="2437856" cy="65837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对超出合理范围的数据（如温度&gt;50°C或&lt; -10°C）标记为异常，记录日志并触发告警。</a:t>
                </a:r>
                <a:endParaRPr lang="en-US" dirty="0"/>
              </a:p>
            </p:txBody>
          </p:sp>
          <p:sp>
            <p:nvSpPr>
              <p:cNvPr id="121" name="Bullet4"/>
              <p:cNvSpPr txBox="1"/>
              <p:nvPr/>
            </p:nvSpPr>
            <p:spPr>
              <a:xfrm>
                <a:off x="9002667" y="2628481"/>
                <a:ext cx="2437856" cy="522409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数据有效性验证规则</a:t>
                </a:r>
                <a:endParaRPr lang="en-US" dirty="0"/>
              </a:p>
            </p:txBody>
          </p:sp>
        </p:grpSp>
        <p:grpSp>
          <p:nvGrpSpPr>
            <p:cNvPr id="138" name="组合 137"/>
            <p:cNvGrpSpPr/>
            <p:nvPr/>
          </p:nvGrpSpPr>
          <p:grpSpPr>
            <a:xfrm>
              <a:off x="660400" y="4589773"/>
              <a:ext cx="2594610" cy="1544327"/>
              <a:chOff x="660400" y="4589773"/>
              <a:chExt cx="2594610" cy="1544327"/>
            </a:xfrm>
          </p:grpSpPr>
          <p:sp>
            <p:nvSpPr>
              <p:cNvPr id="114" name="ComponentBackground5"/>
              <p:cNvSpPr/>
              <p:nvPr/>
            </p:nvSpPr>
            <p:spPr>
              <a:xfrm>
                <a:off x="660400" y="4673440"/>
                <a:ext cx="2594610" cy="1460660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5" name="Shape5"/>
              <p:cNvSpPr/>
              <p:nvPr/>
            </p:nvSpPr>
            <p:spPr>
              <a:xfrm>
                <a:off x="1880220" y="4589773"/>
                <a:ext cx="154970" cy="154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fontScale="25000" lnSpcReduction="20000"/>
              </a:bodyPr>
              <a:lstStyle/>
              <a:p>
                <a:pPr algn="ctr"/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6" name="Text5"/>
              <p:cNvSpPr txBox="1"/>
              <p:nvPr/>
            </p:nvSpPr>
            <p:spPr>
              <a:xfrm>
                <a:off x="738777" y="5344151"/>
                <a:ext cx="2437856" cy="65837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采用MyBatis批量插入功能，每10条数据提交一次事务，显著提升MySQL写入性能。</a:t>
                </a:r>
                <a:endParaRPr lang="en-US" dirty="0"/>
              </a:p>
            </p:txBody>
          </p:sp>
          <p:sp>
            <p:nvSpPr>
              <p:cNvPr id="117" name="Bullet5"/>
              <p:cNvSpPr txBox="1"/>
              <p:nvPr/>
            </p:nvSpPr>
            <p:spPr>
              <a:xfrm>
                <a:off x="738777" y="4821740"/>
                <a:ext cx="2437856" cy="522409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批量写入数据库优化</a:t>
                </a:r>
                <a:endParaRPr lang="en-US" dirty="0"/>
              </a:p>
            </p:txBody>
          </p:sp>
        </p:grpSp>
        <p:grpSp>
          <p:nvGrpSpPr>
            <p:cNvPr id="139" name="组合 138"/>
            <p:cNvGrpSpPr/>
            <p:nvPr/>
          </p:nvGrpSpPr>
          <p:grpSpPr>
            <a:xfrm>
              <a:off x="4798695" y="4589773"/>
              <a:ext cx="2594610" cy="1544327"/>
              <a:chOff x="4798695" y="4589773"/>
              <a:chExt cx="2594610" cy="1544327"/>
            </a:xfrm>
          </p:grpSpPr>
          <p:sp>
            <p:nvSpPr>
              <p:cNvPr id="110" name="ComponentBackground6"/>
              <p:cNvSpPr/>
              <p:nvPr/>
            </p:nvSpPr>
            <p:spPr>
              <a:xfrm>
                <a:off x="4798695" y="4673440"/>
                <a:ext cx="2594610" cy="1460660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1" name="Shape6"/>
              <p:cNvSpPr/>
              <p:nvPr/>
            </p:nvSpPr>
            <p:spPr>
              <a:xfrm>
                <a:off x="6018515" y="4589773"/>
                <a:ext cx="154970" cy="154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fontScale="25000" lnSpcReduction="20000"/>
              </a:bodyPr>
              <a:lstStyle/>
              <a:p>
                <a:pPr algn="ctr"/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2" name="Text6"/>
              <p:cNvSpPr txBox="1"/>
              <p:nvPr/>
            </p:nvSpPr>
            <p:spPr>
              <a:xfrm>
                <a:off x="4877072" y="5344151"/>
                <a:ext cx="2437856" cy="65837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自动清理超过90天的历史记录，避免数据库膨胀影响查询效率。</a:t>
                </a:r>
                <a:endParaRPr lang="en-US" dirty="0"/>
              </a:p>
            </p:txBody>
          </p:sp>
          <p:sp>
            <p:nvSpPr>
              <p:cNvPr id="113" name="Bullet6"/>
              <p:cNvSpPr txBox="1"/>
              <p:nvPr/>
            </p:nvSpPr>
            <p:spPr>
              <a:xfrm>
                <a:off x="4877072" y="4821740"/>
                <a:ext cx="2437856" cy="522409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历史数据保留策略</a:t>
                </a:r>
                <a:endParaRPr lang="en-US" dirty="0"/>
              </a:p>
            </p:txBody>
          </p:sp>
        </p:grpSp>
        <p:grpSp>
          <p:nvGrpSpPr>
            <p:cNvPr id="140" name="组合 139"/>
            <p:cNvGrpSpPr/>
            <p:nvPr/>
          </p:nvGrpSpPr>
          <p:grpSpPr>
            <a:xfrm>
              <a:off x="8924290" y="4589773"/>
              <a:ext cx="2594610" cy="1544327"/>
              <a:chOff x="8924290" y="4589773"/>
              <a:chExt cx="2594610" cy="1544327"/>
            </a:xfrm>
          </p:grpSpPr>
          <p:sp>
            <p:nvSpPr>
              <p:cNvPr id="102" name="ComponentBackground7"/>
              <p:cNvSpPr/>
              <p:nvPr/>
            </p:nvSpPr>
            <p:spPr>
              <a:xfrm>
                <a:off x="8924290" y="4673440"/>
                <a:ext cx="2594610" cy="1460660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3" name="Shape7"/>
              <p:cNvSpPr/>
              <p:nvPr/>
            </p:nvSpPr>
            <p:spPr>
              <a:xfrm>
                <a:off x="10144110" y="4589773"/>
                <a:ext cx="154970" cy="154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fontScale="25000" lnSpcReduction="20000"/>
              </a:bodyPr>
              <a:lstStyle/>
              <a:p>
                <a:pPr algn="ctr"/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" name="Text7"/>
              <p:cNvSpPr txBox="1"/>
              <p:nvPr/>
            </p:nvSpPr>
            <p:spPr>
              <a:xfrm>
                <a:off x="9002667" y="5344151"/>
                <a:ext cx="2437856" cy="65837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Logback输出详细运行日志，包括数据接收时间、解析结果、异常堆栈等信息便于追踪。</a:t>
                </a:r>
                <a:endParaRPr lang="en-US" dirty="0"/>
              </a:p>
            </p:txBody>
          </p:sp>
          <p:sp>
            <p:nvSpPr>
              <p:cNvPr id="105" name="Bullet7"/>
              <p:cNvSpPr txBox="1"/>
              <p:nvPr/>
            </p:nvSpPr>
            <p:spPr>
              <a:xfrm>
                <a:off x="9002667" y="4821740"/>
                <a:ext cx="2437856" cy="522409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日志记录与问题排查</a:t>
                </a:r>
                <a:endParaRPr 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应用层业务逻辑实现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833de3d-20b0-411f-87bc-b473b85f369f.source.7.zh-Hans.pptx"/>
          <p:cNvGrpSpPr/>
          <p:nvPr/>
        </p:nvGrpSpPr>
        <p:grpSpPr>
          <a:xfrm>
            <a:off x="660399" y="1130299"/>
            <a:ext cx="10858501" cy="5727702"/>
            <a:chOff x="660399" y="1130299"/>
            <a:chExt cx="10858501" cy="5727702"/>
          </a:xfrm>
        </p:grpSpPr>
        <p:sp>
          <p:nvSpPr>
            <p:cNvPr id="53" name="islide-3"/>
            <p:cNvSpPr>
              <a:spLocks noChangeAspect="1"/>
            </p:cNvSpPr>
            <p:nvPr/>
          </p:nvSpPr>
          <p:spPr>
            <a:xfrm>
              <a:off x="4212189" y="1306386"/>
              <a:ext cx="397283" cy="397282"/>
            </a:xfrm>
            <a:prstGeom prst="flowChartConnector">
              <a:avLst/>
            </a:prstGeom>
            <a:solidFill>
              <a:schemeClr val="accent1"/>
            </a:solidFill>
            <a:ln w="571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342900" indent="-342900" algn="ctr" defTabSz="895350">
                <a:buSzPct val="120000"/>
              </a:pPr>
              <a:endParaRPr lang="id-ID" sz="16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1" name="梯形 50"/>
            <p:cNvSpPr/>
            <p:nvPr/>
          </p:nvSpPr>
          <p:spPr>
            <a:xfrm>
              <a:off x="3397973" y="5143343"/>
              <a:ext cx="5425082" cy="1714658"/>
            </a:xfrm>
            <a:prstGeom prst="trapezoid">
              <a:avLst>
                <a:gd name="adj" fmla="val 59884"/>
              </a:avLst>
            </a:prstGeom>
            <a:solidFill>
              <a:schemeClr val="tx1">
                <a:alpha val="1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3786343" y="2390582"/>
              <a:ext cx="4619314" cy="2854634"/>
              <a:chOff x="3036000" y="2148876"/>
              <a:chExt cx="6120000" cy="3782024"/>
            </a:xfrm>
          </p:grpSpPr>
          <p:pic>
            <p:nvPicPr>
              <p:cNvPr id="5" name="islide-2-1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36000" y="2148876"/>
                <a:ext cx="6120000" cy="3782024"/>
              </a:xfrm>
              <a:prstGeom prst="rect">
                <a:avLst/>
              </a:prstGeom>
            </p:spPr>
          </p:pic>
          <p:sp>
            <p:nvSpPr>
              <p:cNvPr id="6" name="PictureMisc"/>
              <p:cNvSpPr/>
              <p:nvPr/>
            </p:nvSpPr>
            <p:spPr bwMode="auto">
              <a:xfrm>
                <a:off x="3883805" y="2658383"/>
                <a:ext cx="4428001" cy="2773460"/>
              </a:xfrm>
              <a:prstGeom prst="rect">
                <a:avLst/>
              </a:prstGeom>
              <a:blipFill>
                <a:blip r:embed="rId2"/>
                <a:stretch>
                  <a:fillRect l="503" t="-69361" r="-503" b="-70123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" name="Title"/>
            <p:cNvSpPr txBox="1"/>
            <p:nvPr/>
          </p:nvSpPr>
          <p:spPr>
            <a:xfrm>
              <a:off x="4410831" y="1130299"/>
              <a:ext cx="3342210" cy="12915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>
                <a:defRPr sz="3200" spc="300">
                  <a:gradFill>
                    <a:gsLst>
                      <a:gs pos="0">
                        <a:schemeClr val="bg1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atin typeface="+mj-ea"/>
                  <a:ea typeface="+mj-ea"/>
                </a:defRPr>
              </a:lvl1pPr>
            </a:lstStyle>
            <a:p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基于Vue 3构建现代化前端界面，提供直观的数据可视化体验</a:t>
              </a:r>
              <a:endParaRPr lang="en-US" dirty="0"/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660399" y="1130300"/>
              <a:ext cx="3342210" cy="1115801"/>
              <a:chOff x="1666444" y="4302715"/>
              <a:chExt cx="3299180" cy="1284945"/>
            </a:xfrm>
          </p:grpSpPr>
          <p:sp>
            <p:nvSpPr>
              <p:cNvPr id="33" name="Text1"/>
              <p:cNvSpPr txBox="1"/>
              <p:nvPr/>
            </p:nvSpPr>
            <p:spPr>
              <a:xfrm>
                <a:off x="1666444" y="4698778"/>
                <a:ext cx="3299180" cy="88888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cs typeface="+mn-ea"/>
                    <a:sym typeface="+mn-lt"/>
                  </a:rPr>
                  <a:t>Vue 3组合式API提高开发效率，Pinia管理全局状态，Element Plus提供UI组件支持。</a:t>
                </a:r>
                <a:endParaRPr lang="en-US" dirty="0"/>
              </a:p>
            </p:txBody>
          </p:sp>
          <p:sp>
            <p:nvSpPr>
              <p:cNvPr id="34" name="Bullet1"/>
              <p:cNvSpPr txBox="1"/>
              <p:nvPr/>
            </p:nvSpPr>
            <p:spPr>
              <a:xfrm>
                <a:off x="1666444" y="4302715"/>
                <a:ext cx="3299180" cy="39606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前端技术栈构成</a:t>
                </a:r>
                <a:endParaRPr lang="en-US" dirty="0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8176690" y="1130300"/>
              <a:ext cx="3342210" cy="1115801"/>
              <a:chOff x="4834840" y="4302715"/>
              <a:chExt cx="3299180" cy="1284945"/>
            </a:xfrm>
          </p:grpSpPr>
          <p:sp>
            <p:nvSpPr>
              <p:cNvPr id="36" name="Text2"/>
              <p:cNvSpPr txBox="1"/>
              <p:nvPr/>
            </p:nvSpPr>
            <p:spPr>
              <a:xfrm>
                <a:off x="4834840" y="4698778"/>
                <a:ext cx="3299180" cy="88888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cs typeface="+mn-ea"/>
                    <a:sym typeface="+mn-lt"/>
                  </a:rPr>
                  <a:t>通过WebSocket建立长连接，后端主动推送最新数据，前端每5秒自动刷新显示内容。</a:t>
                </a:r>
                <a:endParaRPr lang="en-US" dirty="0"/>
              </a:p>
            </p:txBody>
          </p:sp>
          <p:sp>
            <p:nvSpPr>
              <p:cNvPr id="37" name="Bullet2"/>
              <p:cNvSpPr txBox="1"/>
              <p:nvPr/>
            </p:nvSpPr>
            <p:spPr>
              <a:xfrm>
                <a:off x="4834840" y="4302715"/>
                <a:ext cx="3299180" cy="39606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实时数据更新机制</a:t>
                </a:r>
                <a:endParaRPr lang="en-US" dirty="0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660399" y="2426300"/>
              <a:ext cx="3342210" cy="1115801"/>
              <a:chOff x="1666444" y="4302715"/>
              <a:chExt cx="3299180" cy="1284945"/>
            </a:xfrm>
          </p:grpSpPr>
          <p:sp>
            <p:nvSpPr>
              <p:cNvPr id="39" name="Text3"/>
              <p:cNvSpPr txBox="1"/>
              <p:nvPr/>
            </p:nvSpPr>
            <p:spPr>
              <a:xfrm>
                <a:off x="1666444" y="4698778"/>
                <a:ext cx="3299180" cy="88888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cs typeface="+mn-ea"/>
                    <a:sym typeface="+mn-lt"/>
                  </a:rPr>
                  <a:t>ECharts绘制折线图（趋势）、仪表盘（当前值）、柱状图（对比）、热力图（空间分布）。</a:t>
                </a:r>
                <a:endParaRPr lang="en-US" dirty="0"/>
              </a:p>
            </p:txBody>
          </p:sp>
          <p:sp>
            <p:nvSpPr>
              <p:cNvPr id="40" name="Bullet3"/>
              <p:cNvSpPr txBox="1"/>
              <p:nvPr/>
            </p:nvSpPr>
            <p:spPr>
              <a:xfrm>
                <a:off x="1666444" y="4302715"/>
                <a:ext cx="3299180" cy="39606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多维度图表展示</a:t>
                </a:r>
                <a:endParaRPr lang="en-US" dirty="0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8176690" y="3074300"/>
              <a:ext cx="3342210" cy="1115801"/>
              <a:chOff x="4834840" y="4302715"/>
              <a:chExt cx="3299180" cy="1284945"/>
            </a:xfrm>
          </p:grpSpPr>
          <p:sp>
            <p:nvSpPr>
              <p:cNvPr id="42" name="Text4"/>
              <p:cNvSpPr txBox="1"/>
              <p:nvPr/>
            </p:nvSpPr>
            <p:spPr>
              <a:xfrm>
                <a:off x="4834840" y="4698778"/>
                <a:ext cx="3299180" cy="88888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cs typeface="+mn-ea"/>
                    <a:sym typeface="+mn-lt"/>
                  </a:rPr>
                  <a:t>支持查看最近1小时、6小时、24小时、7天或自定义时间段内的历史数据变化曲线。</a:t>
                </a:r>
                <a:endParaRPr lang="en-US" dirty="0"/>
              </a:p>
            </p:txBody>
          </p:sp>
          <p:sp>
            <p:nvSpPr>
              <p:cNvPr id="43" name="Bullet4"/>
              <p:cNvSpPr txBox="1"/>
              <p:nvPr/>
            </p:nvSpPr>
            <p:spPr>
              <a:xfrm>
                <a:off x="4834840" y="4302715"/>
                <a:ext cx="3299180" cy="39606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时间范围筛选功能</a:t>
                </a:r>
                <a:endParaRPr lang="en-US" dirty="0"/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660399" y="3722299"/>
              <a:ext cx="3342210" cy="1115801"/>
              <a:chOff x="1666444" y="4302715"/>
              <a:chExt cx="3299180" cy="1284945"/>
            </a:xfrm>
          </p:grpSpPr>
          <p:sp>
            <p:nvSpPr>
              <p:cNvPr id="45" name="Text5"/>
              <p:cNvSpPr txBox="1"/>
              <p:nvPr/>
            </p:nvSpPr>
            <p:spPr>
              <a:xfrm>
                <a:off x="1666444" y="4698778"/>
                <a:ext cx="3299180" cy="88888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cs typeface="+mn-ea"/>
                    <a:sym typeface="+mn-lt"/>
                  </a:rPr>
                  <a:t>用户可将图表以PNG图片或CSV表格形式下载，便于汇报与存档分析。</a:t>
                </a:r>
                <a:endParaRPr lang="en-US" dirty="0"/>
              </a:p>
            </p:txBody>
          </p:sp>
          <p:sp>
            <p:nvSpPr>
              <p:cNvPr id="46" name="Bullet5"/>
              <p:cNvSpPr txBox="1"/>
              <p:nvPr/>
            </p:nvSpPr>
            <p:spPr>
              <a:xfrm>
                <a:off x="1666444" y="4302715"/>
                <a:ext cx="3299180" cy="39606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图表导出能力</a:t>
                </a:r>
                <a:endParaRPr lang="en-US" dirty="0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8176690" y="5018299"/>
              <a:ext cx="3342210" cy="1115801"/>
              <a:chOff x="4834840" y="5795175"/>
              <a:chExt cx="3299180" cy="1284945"/>
            </a:xfrm>
          </p:grpSpPr>
          <p:sp>
            <p:nvSpPr>
              <p:cNvPr id="48" name="Text6"/>
              <p:cNvSpPr txBox="1"/>
              <p:nvPr/>
            </p:nvSpPr>
            <p:spPr>
              <a:xfrm>
                <a:off x="4834840" y="6191238"/>
                <a:ext cx="3299180" cy="88888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cs typeface="+mn-ea"/>
                    <a:sym typeface="+mn-lt"/>
                  </a:rPr>
                  <a:t>页面自动适应不同屏幕尺寸，在PC、平板、手机等设备上均能正常浏览操作。</a:t>
                </a:r>
                <a:endParaRPr lang="en-US" dirty="0"/>
              </a:p>
            </p:txBody>
          </p:sp>
          <p:sp>
            <p:nvSpPr>
              <p:cNvPr id="49" name="Bullet6"/>
              <p:cNvSpPr txBox="1"/>
              <p:nvPr/>
            </p:nvSpPr>
            <p:spPr>
              <a:xfrm>
                <a:off x="4834840" y="5795175"/>
                <a:ext cx="3299180" cy="39606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响应式布局适配</a:t>
                </a:r>
                <a:endParaRPr lang="en-US" dirty="0"/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660399" y="5018299"/>
              <a:ext cx="3342210" cy="1115801"/>
              <a:chOff x="1666444" y="4302715"/>
              <a:chExt cx="3299180" cy="1284945"/>
            </a:xfrm>
          </p:grpSpPr>
          <p:sp>
            <p:nvSpPr>
              <p:cNvPr id="55" name="Text7"/>
              <p:cNvSpPr txBox="1"/>
              <p:nvPr/>
            </p:nvSpPr>
            <p:spPr>
              <a:xfrm>
                <a:off x="1666444" y="4698778"/>
                <a:ext cx="3299180" cy="88888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cs typeface="+mn-ea"/>
                    <a:sym typeface="+mn-lt"/>
                  </a:rPr>
                  <a:t>管理员可修改配置与控制设备，普通用户仅限查看数据，通过JWT Token实现身份认证。</a:t>
                </a:r>
                <a:endParaRPr lang="en-US" dirty="0"/>
              </a:p>
            </p:txBody>
          </p:sp>
          <p:sp>
            <p:nvSpPr>
              <p:cNvPr id="56" name="Bullet7"/>
              <p:cNvSpPr txBox="1"/>
              <p:nvPr/>
            </p:nvSpPr>
            <p:spPr>
              <a:xfrm>
                <a:off x="1666444" y="4302715"/>
                <a:ext cx="3299180" cy="39606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用户权限分级控制</a:t>
                </a:r>
                <a:endParaRPr lang="en-US" dirty="0"/>
              </a:p>
            </p:txBody>
          </p:sp>
        </p:grpSp>
      </p:grp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表示层交互设计</a:t>
            </a:r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核心功能模块详细设计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全面展开六大功能模块的设计细节与实现逻辑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4b193f43-bd29-432a-bf27-886e7f52c5b1.source.7.zh-Hans.pptx"/>
          <p:cNvGrpSpPr/>
          <p:nvPr/>
        </p:nvGrpSpPr>
        <p:grpSpPr>
          <a:xfrm>
            <a:off x="660399" y="1130301"/>
            <a:ext cx="10858501" cy="5016584"/>
            <a:chOff x="660399" y="1130301"/>
            <a:chExt cx="10858501" cy="5016584"/>
          </a:xfrm>
        </p:grpSpPr>
        <p:sp>
          <p:nvSpPr>
            <p:cNvPr id="3" name="Title"/>
            <p:cNvSpPr/>
            <p:nvPr/>
          </p:nvSpPr>
          <p:spPr>
            <a:xfrm>
              <a:off x="660399" y="1130301"/>
              <a:ext cx="10858501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r>
                <a:rPr kumimoji="1"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实现多节点、多模式、可配置的传感器数据生成机制</a:t>
              </a:r>
              <a:endParaRPr lang="en-US" dirty="0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660400" y="1955800"/>
              <a:ext cx="2667000" cy="2057400"/>
              <a:chOff x="660400" y="3263900"/>
              <a:chExt cx="2344400" cy="2057400"/>
            </a:xfrm>
          </p:grpSpPr>
          <p:sp>
            <p:nvSpPr>
              <p:cNvPr id="17" name="Bullet1"/>
              <p:cNvSpPr/>
              <p:nvPr/>
            </p:nvSpPr>
            <p:spPr>
              <a:xfrm>
                <a:off x="660400" y="3263900"/>
                <a:ext cx="2344400" cy="6164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多节点并发模拟</a:t>
                </a:r>
                <a:endParaRPr lang="en-US" dirty="0"/>
              </a:p>
            </p:txBody>
          </p:sp>
          <p:sp>
            <p:nvSpPr>
              <p:cNvPr id="18" name="Text1"/>
              <p:cNvSpPr/>
              <p:nvPr/>
            </p:nvSpPr>
            <p:spPr>
              <a:xfrm>
                <a:off x="660400" y="3879984"/>
                <a:ext cx="2344400" cy="14413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支持同时运行3~10个独立进程或线程，每个模拟一个完整传感器节点的数据输出。</a:t>
                </a:r>
                <a:endParaRPr lang="en-US" dirty="0"/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3390900" y="1955800"/>
              <a:ext cx="2667000" cy="2057400"/>
              <a:chOff x="660400" y="3263900"/>
              <a:chExt cx="2344400" cy="2057400"/>
            </a:xfrm>
          </p:grpSpPr>
          <p:sp>
            <p:nvSpPr>
              <p:cNvPr id="62" name="Bullet2"/>
              <p:cNvSpPr/>
              <p:nvPr/>
            </p:nvSpPr>
            <p:spPr>
              <a:xfrm>
                <a:off x="660400" y="3263900"/>
                <a:ext cx="2344400" cy="6164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数据采集周期可调</a:t>
                </a:r>
                <a:endParaRPr lang="en-US" dirty="0"/>
              </a:p>
            </p:txBody>
          </p:sp>
          <p:sp>
            <p:nvSpPr>
              <p:cNvPr id="63" name="Text2"/>
              <p:cNvSpPr/>
              <p:nvPr/>
            </p:nvSpPr>
            <p:spPr>
              <a:xfrm>
                <a:off x="660400" y="3879984"/>
                <a:ext cx="2344400" cy="14413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默认30秒采集一次，可通过配置文件修改为10~60秒范围内任意值，适应不同场景需求。</a:t>
                </a:r>
                <a:endParaRPr lang="en-US" dirty="0"/>
              </a:p>
            </p:txBody>
          </p:sp>
        </p:grpSp>
        <p:grpSp>
          <p:nvGrpSpPr>
            <p:cNvPr id="65" name="组合 64"/>
            <p:cNvGrpSpPr/>
            <p:nvPr/>
          </p:nvGrpSpPr>
          <p:grpSpPr>
            <a:xfrm>
              <a:off x="6121400" y="1955800"/>
              <a:ext cx="2667000" cy="2057400"/>
              <a:chOff x="660400" y="3263900"/>
              <a:chExt cx="2344400" cy="2057400"/>
            </a:xfrm>
          </p:grpSpPr>
          <p:sp>
            <p:nvSpPr>
              <p:cNvPr id="66" name="Bullet3"/>
              <p:cNvSpPr/>
              <p:nvPr/>
            </p:nvSpPr>
            <p:spPr>
              <a:xfrm>
                <a:off x="660400" y="3263900"/>
                <a:ext cx="2344400" cy="6164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正常模式数据生成</a:t>
                </a:r>
                <a:endParaRPr lang="en-US" dirty="0"/>
              </a:p>
            </p:txBody>
          </p:sp>
          <p:sp>
            <p:nvSpPr>
              <p:cNvPr id="67" name="Text3"/>
              <p:cNvSpPr/>
              <p:nvPr/>
            </p:nvSpPr>
            <p:spPr>
              <a:xfrm>
                <a:off x="660400" y="3879984"/>
                <a:ext cx="2344400" cy="14413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温度基准20°C ±5°C正弦波动，湿度60%±10%，氨气5±5ppm，硫化氢2±3ppm，模拟日常环境。</a:t>
                </a:r>
                <a:endParaRPr lang="en-US" dirty="0"/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8851900" y="1955800"/>
              <a:ext cx="2667000" cy="4178300"/>
              <a:chOff x="660400" y="3263900"/>
              <a:chExt cx="2344400" cy="4178300"/>
            </a:xfrm>
          </p:grpSpPr>
          <p:sp>
            <p:nvSpPr>
              <p:cNvPr id="70" name="Bullet4"/>
              <p:cNvSpPr/>
              <p:nvPr/>
            </p:nvSpPr>
            <p:spPr>
              <a:xfrm>
                <a:off x="660400" y="3263900"/>
                <a:ext cx="2344400" cy="6164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异常模式触发条件</a:t>
                </a:r>
                <a:endParaRPr lang="en-US" dirty="0"/>
              </a:p>
            </p:txBody>
          </p:sp>
          <p:sp>
            <p:nvSpPr>
              <p:cNvPr id="71" name="Text4"/>
              <p:cNvSpPr/>
              <p:nvPr/>
            </p:nvSpPr>
            <p:spPr>
              <a:xfrm>
                <a:off x="660400" y="3879984"/>
                <a:ext cx="2344400" cy="35622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氨气&gt;25ppm或&lt;0ppm、硫化氢&gt;10ppm、温度&lt;5°C或&gt;35°C时判定为异常，进入告警判断流程。</a:t>
                </a:r>
                <a:endParaRPr lang="en-US" dirty="0"/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660400" y="4076700"/>
              <a:ext cx="2667000" cy="2057400"/>
              <a:chOff x="660400" y="3263900"/>
              <a:chExt cx="2344400" cy="2057400"/>
            </a:xfrm>
          </p:grpSpPr>
          <p:sp>
            <p:nvSpPr>
              <p:cNvPr id="74" name="Bullet5"/>
              <p:cNvSpPr/>
              <p:nvPr/>
            </p:nvSpPr>
            <p:spPr>
              <a:xfrm>
                <a:off x="660400" y="3263900"/>
                <a:ext cx="2344400" cy="6164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故障模式模拟策略</a:t>
                </a:r>
                <a:endParaRPr lang="en-US" dirty="0"/>
              </a:p>
            </p:txBody>
          </p:sp>
          <p:sp>
            <p:nvSpPr>
              <p:cNvPr id="75" name="Text5"/>
              <p:cNvSpPr/>
              <p:nvPr/>
            </p:nvSpPr>
            <p:spPr>
              <a:xfrm>
                <a:off x="660400" y="3879984"/>
                <a:ext cx="2344400" cy="14413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随机插入无效数据（NaN）、固定值输出、通信中断30秒以上等方式测试系统容错能力。</a:t>
                </a:r>
                <a:endParaRPr lang="en-US" dirty="0"/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3390900" y="4076700"/>
              <a:ext cx="2667000" cy="2057400"/>
              <a:chOff x="660400" y="3263900"/>
              <a:chExt cx="2344400" cy="2057400"/>
            </a:xfrm>
          </p:grpSpPr>
          <p:sp>
            <p:nvSpPr>
              <p:cNvPr id="78" name="Bullet6"/>
              <p:cNvSpPr/>
              <p:nvPr/>
            </p:nvSpPr>
            <p:spPr>
              <a:xfrm>
                <a:off x="660400" y="3263900"/>
                <a:ext cx="2344400" cy="6164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数据包结构一致性</a:t>
                </a:r>
                <a:endParaRPr lang="en-US" dirty="0"/>
              </a:p>
            </p:txBody>
          </p:sp>
          <p:sp>
            <p:nvSpPr>
              <p:cNvPr id="79" name="Text6"/>
              <p:cNvSpPr/>
              <p:nvPr/>
            </p:nvSpPr>
            <p:spPr>
              <a:xfrm>
                <a:off x="660400" y="3879984"/>
                <a:ext cx="2344400" cy="14413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严格按照[帧头][节点ID][长度][数据][校验和][帧尾]格式封装，确保协议兼容性。</a:t>
                </a:r>
                <a:endParaRPr lang="en-US" dirty="0"/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6121400" y="4076700"/>
              <a:ext cx="2667000" cy="2057400"/>
              <a:chOff x="660400" y="3263900"/>
              <a:chExt cx="2344400" cy="2057400"/>
            </a:xfrm>
          </p:grpSpPr>
          <p:sp>
            <p:nvSpPr>
              <p:cNvPr id="82" name="Bullet7"/>
              <p:cNvSpPr/>
              <p:nvPr/>
            </p:nvSpPr>
            <p:spPr>
              <a:xfrm>
                <a:off x="660400" y="3263900"/>
                <a:ext cx="2344400" cy="6164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配置文件驱动运行</a:t>
                </a:r>
                <a:endParaRPr lang="en-US" dirty="0"/>
              </a:p>
            </p:txBody>
          </p:sp>
          <p:sp>
            <p:nvSpPr>
              <p:cNvPr id="83" name="Text7"/>
              <p:cNvSpPr/>
              <p:nvPr/>
            </p:nvSpPr>
            <p:spPr>
              <a:xfrm>
                <a:off x="660400" y="3879984"/>
                <a:ext cx="2344400" cy="14413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所有参数（节点数、采集间隔、异常概率）均可通过JSON或YAML配置文件动态调整。</a:t>
                </a:r>
                <a:endParaRPr lang="en-US" dirty="0"/>
              </a:p>
            </p:txBody>
          </p:sp>
        </p:grpSp>
        <p:cxnSp>
          <p:nvCxnSpPr>
            <p:cNvPr id="20" name="2"/>
            <p:cNvCxnSpPr/>
            <p:nvPr/>
          </p:nvCxnSpPr>
          <p:spPr>
            <a:xfrm>
              <a:off x="3359150" y="1955800"/>
              <a:ext cx="0" cy="4191085"/>
            </a:xfrm>
            <a:prstGeom prst="line">
              <a:avLst/>
            </a:prstGeom>
            <a:ln w="6350" cap="rnd">
              <a:solidFill>
                <a:schemeClr val="tx1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3"/>
            <p:cNvCxnSpPr/>
            <p:nvPr/>
          </p:nvCxnSpPr>
          <p:spPr>
            <a:xfrm>
              <a:off x="6089650" y="1955800"/>
              <a:ext cx="0" cy="4191085"/>
            </a:xfrm>
            <a:prstGeom prst="line">
              <a:avLst/>
            </a:prstGeom>
            <a:ln w="6350" cap="rnd">
              <a:solidFill>
                <a:schemeClr val="tx1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4"/>
            <p:cNvCxnSpPr/>
            <p:nvPr/>
          </p:nvCxnSpPr>
          <p:spPr>
            <a:xfrm>
              <a:off x="8820150" y="1955800"/>
              <a:ext cx="0" cy="4191085"/>
            </a:xfrm>
            <a:prstGeom prst="line">
              <a:avLst/>
            </a:prstGeom>
            <a:ln w="6350" cap="rnd">
              <a:solidFill>
                <a:schemeClr val="tx1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传感器数据模拟模块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b43b7569-d759-415c-b07e-947c1d4e373f.source.7.zh-Hans.pptx"/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cxnSp>
          <p:nvCxnSpPr>
            <p:cNvPr id="6" name="连接符: 肘形 5"/>
            <p:cNvCxnSpPr>
              <a:stCxn id="56" idx="0"/>
              <a:endCxn id="47" idx="0"/>
            </p:cNvCxnSpPr>
            <p:nvPr/>
          </p:nvCxnSpPr>
          <p:spPr>
            <a:xfrm rot="5400000" flipH="1" flipV="1">
              <a:off x="6089650" y="-1739941"/>
              <a:ext cx="12700" cy="8263890"/>
            </a:xfrm>
            <a:prstGeom prst="bentConnector3">
              <a:avLst>
                <a:gd name="adj1" fmla="val 2233331"/>
              </a:avLst>
            </a:prstGeom>
            <a:ln w="6350">
              <a:solidFill>
                <a:schemeClr val="tx1">
                  <a:alpha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islide-3"/>
            <p:cNvSpPr/>
            <p:nvPr/>
          </p:nvSpPr>
          <p:spPr>
            <a:xfrm flipV="1">
              <a:off x="4721819" y="2114550"/>
              <a:ext cx="0" cy="276250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  <a:miter lim="400000"/>
              <a:headEnd type="triangle"/>
            </a:ln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</a:defRPr>
              </a:pPr>
              <a:endParaRPr sz="1600" dirty="0">
                <a:cs typeface="+mn-ea"/>
                <a:sym typeface="+mn-lt"/>
              </a:endParaRPr>
            </a:p>
          </p:txBody>
        </p:sp>
        <p:sp>
          <p:nvSpPr>
            <p:cNvPr id="13" name="islide-3"/>
            <p:cNvSpPr/>
            <p:nvPr/>
          </p:nvSpPr>
          <p:spPr>
            <a:xfrm flipV="1">
              <a:off x="7455202" y="2114550"/>
              <a:ext cx="0" cy="276248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  <a:miter lim="400000"/>
              <a:headEnd type="triangle"/>
            </a:ln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</a:defRPr>
              </a:pPr>
              <a:endParaRPr sz="1600" dirty="0">
                <a:cs typeface="+mn-ea"/>
                <a:sym typeface="+mn-lt"/>
              </a:endParaRPr>
            </a:p>
          </p:txBody>
        </p:sp>
        <p:cxnSp>
          <p:nvCxnSpPr>
            <p:cNvPr id="15" name="连接符: 肘形 14"/>
            <p:cNvCxnSpPr>
              <a:stCxn id="44" idx="0"/>
              <a:endCxn id="35" idx="0"/>
            </p:cNvCxnSpPr>
            <p:nvPr/>
          </p:nvCxnSpPr>
          <p:spPr>
            <a:xfrm rot="5400000" flipH="1" flipV="1">
              <a:off x="6089650" y="846455"/>
              <a:ext cx="12700" cy="7374898"/>
            </a:xfrm>
            <a:prstGeom prst="bentConnector3">
              <a:avLst>
                <a:gd name="adj1" fmla="val 2212496"/>
              </a:avLst>
            </a:prstGeom>
            <a:ln w="6350">
              <a:solidFill>
                <a:schemeClr val="tx1">
                  <a:alpha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islide-3"/>
            <p:cNvSpPr/>
            <p:nvPr/>
          </p:nvSpPr>
          <p:spPr>
            <a:xfrm flipV="1">
              <a:off x="6096000" y="4256450"/>
              <a:ext cx="0" cy="276250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  <a:miter lim="400000"/>
              <a:headEnd type="triangle"/>
            </a:ln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</a:defRPr>
              </a:pPr>
              <a:endParaRPr sz="1600" dirty="0">
                <a:cs typeface="+mn-ea"/>
                <a:sym typeface="+mn-lt"/>
              </a:endParaRPr>
            </a:p>
          </p:txBody>
        </p:sp>
        <p:sp>
          <p:nvSpPr>
            <p:cNvPr id="18" name="Title"/>
            <p:cNvSpPr/>
            <p:nvPr/>
          </p:nvSpPr>
          <p:spPr>
            <a:xfrm>
              <a:off x="660400" y="1130300"/>
              <a:ext cx="10858500" cy="72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rm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cs typeface="+mn-ea"/>
                  <a:sym typeface="+mn-lt"/>
                </a:rPr>
                <a:t>完整复现ZigBee协议通信流程与数据交换机制</a:t>
              </a:r>
              <a:endParaRPr lang="en-US" dirty="0"/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660400" y="2392004"/>
              <a:ext cx="2594610" cy="1600196"/>
              <a:chOff x="660400" y="2392004"/>
              <a:chExt cx="2594610" cy="1600196"/>
            </a:xfrm>
          </p:grpSpPr>
          <p:sp>
            <p:nvSpPr>
              <p:cNvPr id="56" name="ComponentBackground1"/>
              <p:cNvSpPr/>
              <p:nvPr/>
            </p:nvSpPr>
            <p:spPr>
              <a:xfrm>
                <a:off x="660400" y="2392004"/>
                <a:ext cx="2594610" cy="1600196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7" name="Text1"/>
              <p:cNvSpPr txBox="1"/>
              <p:nvPr/>
            </p:nvSpPr>
            <p:spPr>
              <a:xfrm>
                <a:off x="707741" y="3043497"/>
                <a:ext cx="2499928" cy="88064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初始化网络、分配地址、接收终端数据、汇聚转发至PC、响应控制指令下发。</a:t>
                </a:r>
                <a:endParaRPr lang="en-US" dirty="0"/>
              </a:p>
            </p:txBody>
          </p:sp>
          <p:sp>
            <p:nvSpPr>
              <p:cNvPr id="58" name="Bullet1"/>
              <p:cNvSpPr txBox="1"/>
              <p:nvPr/>
            </p:nvSpPr>
            <p:spPr>
              <a:xfrm>
                <a:off x="707741" y="2460067"/>
                <a:ext cx="2499928" cy="583429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协调器核心职责</a:t>
                </a:r>
                <a:endParaRPr lang="en-US" dirty="0"/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3415030" y="2392004"/>
              <a:ext cx="2594610" cy="1600196"/>
              <a:chOff x="3415030" y="2392004"/>
              <a:chExt cx="2594610" cy="1600196"/>
            </a:xfrm>
          </p:grpSpPr>
          <p:sp>
            <p:nvSpPr>
              <p:cNvPr id="53" name="ComponentBackground2"/>
              <p:cNvSpPr/>
              <p:nvPr/>
            </p:nvSpPr>
            <p:spPr>
              <a:xfrm>
                <a:off x="3415030" y="2392004"/>
                <a:ext cx="2594610" cy="1600196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4" name="Text2"/>
              <p:cNvSpPr txBox="1"/>
              <p:nvPr/>
            </p:nvSpPr>
            <p:spPr>
              <a:xfrm>
                <a:off x="3462371" y="3043497"/>
                <a:ext cx="2499928" cy="88064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定期上报数据，休眠节能，接收下行命令并反馈执行结果，遵守ZigBee协议栈规则。</a:t>
                </a:r>
                <a:endParaRPr lang="en-US" dirty="0"/>
              </a:p>
            </p:txBody>
          </p:sp>
          <p:sp>
            <p:nvSpPr>
              <p:cNvPr id="55" name="Bullet2"/>
              <p:cNvSpPr txBox="1"/>
              <p:nvPr/>
            </p:nvSpPr>
            <p:spPr>
              <a:xfrm>
                <a:off x="3462371" y="2460067"/>
                <a:ext cx="2499928" cy="583429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终端节点行为规范</a:t>
                </a:r>
                <a:endParaRPr lang="en-US" dirty="0"/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6169660" y="2392004"/>
              <a:ext cx="2594610" cy="1600196"/>
              <a:chOff x="6169660" y="2392004"/>
              <a:chExt cx="2594610" cy="1600196"/>
            </a:xfrm>
          </p:grpSpPr>
          <p:sp>
            <p:nvSpPr>
              <p:cNvPr id="50" name="ComponentBackground3"/>
              <p:cNvSpPr/>
              <p:nvPr/>
            </p:nvSpPr>
            <p:spPr>
              <a:xfrm>
                <a:off x="6169660" y="2392004"/>
                <a:ext cx="2594610" cy="1600196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1" name="Text3"/>
              <p:cNvSpPr txBox="1"/>
              <p:nvPr/>
            </p:nvSpPr>
            <p:spPr>
              <a:xfrm>
                <a:off x="6217001" y="3043497"/>
                <a:ext cx="2499928" cy="88064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固定16字节长度：0xAA + 2字节NodeID + 1字节Len + 8字节传感器数据 + 1字节Checksum + 0x55。</a:t>
                </a:r>
                <a:endParaRPr lang="en-US" dirty="0"/>
              </a:p>
            </p:txBody>
          </p:sp>
          <p:sp>
            <p:nvSpPr>
              <p:cNvPr id="52" name="Bullet3"/>
              <p:cNvSpPr txBox="1"/>
              <p:nvPr/>
            </p:nvSpPr>
            <p:spPr>
              <a:xfrm>
                <a:off x="6217001" y="2460067"/>
                <a:ext cx="2499928" cy="583429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数据帧格式定义</a:t>
                </a:r>
                <a:endParaRPr lang="en-US" dirty="0"/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8924290" y="2392004"/>
              <a:ext cx="2594610" cy="1600196"/>
              <a:chOff x="8924290" y="2392004"/>
              <a:chExt cx="2594610" cy="1600196"/>
            </a:xfrm>
          </p:grpSpPr>
          <p:sp>
            <p:nvSpPr>
              <p:cNvPr id="47" name="ComponentBackground4"/>
              <p:cNvSpPr/>
              <p:nvPr/>
            </p:nvSpPr>
            <p:spPr>
              <a:xfrm>
                <a:off x="8924290" y="2392004"/>
                <a:ext cx="2594610" cy="1600196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8" name="Text4"/>
              <p:cNvSpPr txBox="1"/>
              <p:nvPr/>
            </p:nvSpPr>
            <p:spPr>
              <a:xfrm>
                <a:off x="8971631" y="3043497"/>
                <a:ext cx="2499928" cy="88064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对NodeID至H2S_L的所有字节进行异或运算，生成1字节校验值，防止数据篡改。</a:t>
                </a:r>
                <a:endParaRPr lang="en-US" dirty="0"/>
              </a:p>
            </p:txBody>
          </p:sp>
          <p:sp>
            <p:nvSpPr>
              <p:cNvPr id="49" name="Bullet4"/>
              <p:cNvSpPr txBox="1"/>
              <p:nvPr/>
            </p:nvSpPr>
            <p:spPr>
              <a:xfrm>
                <a:off x="8971631" y="2460067"/>
                <a:ext cx="2499928" cy="583429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校验和计算方法</a:t>
                </a:r>
                <a:endParaRPr lang="en-US" dirty="0"/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660399" y="4533904"/>
              <a:ext cx="3483603" cy="1600196"/>
              <a:chOff x="660399" y="4533904"/>
              <a:chExt cx="3483603" cy="1600196"/>
            </a:xfrm>
          </p:grpSpPr>
          <p:sp>
            <p:nvSpPr>
              <p:cNvPr id="44" name="ComponentBackground5"/>
              <p:cNvSpPr/>
              <p:nvPr/>
            </p:nvSpPr>
            <p:spPr>
              <a:xfrm>
                <a:off x="660399" y="4533904"/>
                <a:ext cx="3483603" cy="1600196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5" name="Text5"/>
              <p:cNvSpPr txBox="1"/>
              <p:nvPr/>
            </p:nvSpPr>
            <p:spPr>
              <a:xfrm>
                <a:off x="723960" y="5185397"/>
                <a:ext cx="3356480" cy="88064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添加重试机制，若未收到ACK确认，则最多重发3次，间隔1秒，提升传输成功率。</a:t>
                </a:r>
                <a:endParaRPr lang="en-US" dirty="0"/>
              </a:p>
            </p:txBody>
          </p:sp>
          <p:sp>
            <p:nvSpPr>
              <p:cNvPr id="46" name="Bullet5"/>
              <p:cNvSpPr txBox="1"/>
              <p:nvPr/>
            </p:nvSpPr>
            <p:spPr>
              <a:xfrm>
                <a:off x="723960" y="4601967"/>
                <a:ext cx="3356480" cy="583429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上行通信稳定性保障</a:t>
                </a:r>
                <a:endParaRPr lang="en-US" dirty="0"/>
              </a:p>
            </p:txBody>
          </p:sp>
        </p:grpSp>
        <p:grpSp>
          <p:nvGrpSpPr>
            <p:cNvPr id="65" name="组合 64"/>
            <p:cNvGrpSpPr/>
            <p:nvPr/>
          </p:nvGrpSpPr>
          <p:grpSpPr>
            <a:xfrm>
              <a:off x="4347848" y="4533904"/>
              <a:ext cx="3483603" cy="1600196"/>
              <a:chOff x="4347848" y="4533904"/>
              <a:chExt cx="3483603" cy="1600196"/>
            </a:xfrm>
          </p:grpSpPr>
          <p:sp>
            <p:nvSpPr>
              <p:cNvPr id="41" name="ComponentBackground6"/>
              <p:cNvSpPr/>
              <p:nvPr/>
            </p:nvSpPr>
            <p:spPr>
              <a:xfrm>
                <a:off x="4347848" y="4533904"/>
                <a:ext cx="3483603" cy="1600196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2" name="Text6"/>
              <p:cNvSpPr txBox="1"/>
              <p:nvPr/>
            </p:nvSpPr>
            <p:spPr>
              <a:xfrm>
                <a:off x="4411409" y="5185397"/>
                <a:ext cx="3356480" cy="88064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指令帧包含目标设备ID、操作类型（on/off）、控制模式（auto/manual），由协调器广播。</a:t>
                </a:r>
                <a:endParaRPr lang="en-US" dirty="0"/>
              </a:p>
            </p:txBody>
          </p:sp>
          <p:sp>
            <p:nvSpPr>
              <p:cNvPr id="43" name="Bullet6"/>
              <p:cNvSpPr txBox="1"/>
              <p:nvPr/>
            </p:nvSpPr>
            <p:spPr>
              <a:xfrm>
                <a:off x="4411409" y="4601967"/>
                <a:ext cx="3356480" cy="583429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下行控制指令格式</a:t>
                </a:r>
                <a:endParaRPr lang="en-US" dirty="0"/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8035297" y="4533904"/>
              <a:ext cx="3483603" cy="1600196"/>
              <a:chOff x="8035297" y="4533904"/>
              <a:chExt cx="3483603" cy="1600196"/>
            </a:xfrm>
          </p:grpSpPr>
          <p:sp>
            <p:nvSpPr>
              <p:cNvPr id="35" name="ComponentBackground7"/>
              <p:cNvSpPr/>
              <p:nvPr/>
            </p:nvSpPr>
            <p:spPr>
              <a:xfrm>
                <a:off x="8035297" y="4533904"/>
                <a:ext cx="3483603" cy="1600196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" name="Text7"/>
              <p:cNvSpPr txBox="1"/>
              <p:nvPr/>
            </p:nvSpPr>
            <p:spPr>
              <a:xfrm>
                <a:off x="8098858" y="5185397"/>
                <a:ext cx="3356480" cy="88064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在模拟环境中测量端到端延迟小于1秒，满足NFR-1.2性能要求，支持10节点并发接入。</a:t>
                </a:r>
                <a:endParaRPr lang="en-US" dirty="0"/>
              </a:p>
            </p:txBody>
          </p:sp>
          <p:sp>
            <p:nvSpPr>
              <p:cNvPr id="37" name="Bullet7"/>
              <p:cNvSpPr txBox="1"/>
              <p:nvPr/>
            </p:nvSpPr>
            <p:spPr>
              <a:xfrm>
                <a:off x="8098858" y="4601967"/>
                <a:ext cx="3356480" cy="583429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通信延迟与吞吐量测试</a:t>
                </a:r>
                <a:endParaRPr 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ZigBee网络通信模拟模块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9d1f2f6f-b760-42a9-ab32-8ec28e932538.source.8.zh-Hans.pptx"/>
          <p:cNvGrpSpPr/>
          <p:nvPr/>
        </p:nvGrpSpPr>
        <p:grpSpPr>
          <a:xfrm>
            <a:off x="660400" y="1130299"/>
            <a:ext cx="10858500" cy="5003801"/>
            <a:chOff x="660400" y="1130299"/>
            <a:chExt cx="10858500" cy="5003801"/>
          </a:xfrm>
        </p:grpSpPr>
        <p:sp>
          <p:nvSpPr>
            <p:cNvPr id="48" name="í$lîďè"/>
            <p:cNvSpPr/>
            <p:nvPr/>
          </p:nvSpPr>
          <p:spPr>
            <a:xfrm>
              <a:off x="660401" y="1840230"/>
              <a:ext cx="5393766" cy="4293870"/>
            </a:xfrm>
            <a:prstGeom prst="roundRect">
              <a:avLst>
                <a:gd name="adj" fmla="val 2000"/>
              </a:avLst>
            </a:prstGeom>
            <a:noFill/>
            <a:ln w="6350" cap="flat">
              <a:solidFill>
                <a:schemeClr val="tx1">
                  <a:alpha val="50000"/>
                </a:schemeClr>
              </a:solidFill>
              <a:prstDash val="solid"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3200" cap="none">
                  <a:solidFill>
                    <a:srgbClr val="FFFFFF"/>
                  </a:solidFill>
                </a:defRPr>
              </a:pPr>
              <a:endPara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3" name="í$lîďè"/>
            <p:cNvSpPr/>
            <p:nvPr/>
          </p:nvSpPr>
          <p:spPr>
            <a:xfrm>
              <a:off x="6125134" y="1840230"/>
              <a:ext cx="5393766" cy="4293870"/>
            </a:xfrm>
            <a:prstGeom prst="roundRect">
              <a:avLst>
                <a:gd name="adj" fmla="val 2000"/>
              </a:avLst>
            </a:prstGeom>
            <a:noFill/>
            <a:ln w="6350" cap="flat">
              <a:solidFill>
                <a:schemeClr val="tx1">
                  <a:alpha val="50000"/>
                </a:schemeClr>
              </a:solidFill>
              <a:prstDash val="solid"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3200" cap="none">
                  <a:solidFill>
                    <a:srgbClr val="FFFFFF"/>
                  </a:solidFill>
                </a:defRPr>
              </a:pPr>
              <a:endPara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Title"/>
            <p:cNvSpPr txBox="1"/>
            <p:nvPr/>
          </p:nvSpPr>
          <p:spPr>
            <a:xfrm>
              <a:off x="660400" y="1130299"/>
              <a:ext cx="10858500" cy="477521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实现高可靠性、高性能的数据接收、解析与持久化流程</a:t>
              </a:r>
              <a:endParaRPr lang="en-US" dirty="0"/>
            </a:p>
          </p:txBody>
        </p:sp>
        <p:sp>
          <p:nvSpPr>
            <p:cNvPr id="3" name="iSļiďè"/>
            <p:cNvSpPr/>
            <p:nvPr/>
          </p:nvSpPr>
          <p:spPr bwMode="auto">
            <a:xfrm>
              <a:off x="4897210" y="2757292"/>
              <a:ext cx="1156956" cy="1146717"/>
            </a:xfrm>
            <a:custGeom>
              <a:avLst/>
              <a:gdLst>
                <a:gd name="T0" fmla="*/ 0 w 7536"/>
                <a:gd name="T1" fmla="*/ 7472 h 7472"/>
                <a:gd name="T2" fmla="*/ 7536 w 7536"/>
                <a:gd name="T3" fmla="*/ 7472 h 7472"/>
                <a:gd name="T4" fmla="*/ 7536 w 7536"/>
                <a:gd name="T5" fmla="*/ 0 h 7472"/>
                <a:gd name="T6" fmla="*/ 2279 w 7536"/>
                <a:gd name="T7" fmla="*/ 2352 h 7472"/>
                <a:gd name="T8" fmla="*/ 0 w 7536"/>
                <a:gd name="T9" fmla="*/ 7472 h 7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36" h="7472">
                  <a:moveTo>
                    <a:pt x="0" y="7472"/>
                  </a:moveTo>
                  <a:lnTo>
                    <a:pt x="7536" y="7472"/>
                  </a:lnTo>
                  <a:lnTo>
                    <a:pt x="7536" y="0"/>
                  </a:lnTo>
                  <a:cubicBezTo>
                    <a:pt x="5552" y="99"/>
                    <a:pt x="3676" y="938"/>
                    <a:pt x="2279" y="2352"/>
                  </a:cubicBezTo>
                  <a:cubicBezTo>
                    <a:pt x="922" y="3725"/>
                    <a:pt x="112" y="5545"/>
                    <a:pt x="0" y="747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íṩlïḑe"/>
            <p:cNvSpPr/>
            <p:nvPr/>
          </p:nvSpPr>
          <p:spPr bwMode="auto">
            <a:xfrm flipH="1">
              <a:off x="6125129" y="2757292"/>
              <a:ext cx="1156955" cy="1146717"/>
            </a:xfrm>
            <a:custGeom>
              <a:avLst/>
              <a:gdLst>
                <a:gd name="T0" fmla="*/ 0 w 7536"/>
                <a:gd name="T1" fmla="*/ 7472 h 7472"/>
                <a:gd name="T2" fmla="*/ 7536 w 7536"/>
                <a:gd name="T3" fmla="*/ 7472 h 7472"/>
                <a:gd name="T4" fmla="*/ 7536 w 7536"/>
                <a:gd name="T5" fmla="*/ 0 h 7472"/>
                <a:gd name="T6" fmla="*/ 2279 w 7536"/>
                <a:gd name="T7" fmla="*/ 2352 h 7472"/>
                <a:gd name="T8" fmla="*/ 0 w 7536"/>
                <a:gd name="T9" fmla="*/ 7472 h 7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36" h="7472">
                  <a:moveTo>
                    <a:pt x="0" y="7472"/>
                  </a:moveTo>
                  <a:lnTo>
                    <a:pt x="7536" y="7472"/>
                  </a:lnTo>
                  <a:lnTo>
                    <a:pt x="7536" y="0"/>
                  </a:lnTo>
                  <a:cubicBezTo>
                    <a:pt x="5552" y="99"/>
                    <a:pt x="3676" y="938"/>
                    <a:pt x="2279" y="2352"/>
                  </a:cubicBezTo>
                  <a:cubicBezTo>
                    <a:pt x="922" y="3725"/>
                    <a:pt x="112" y="5545"/>
                    <a:pt x="0" y="747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" name="îSliḓè"/>
            <p:cNvSpPr/>
            <p:nvPr/>
          </p:nvSpPr>
          <p:spPr bwMode="auto">
            <a:xfrm flipH="1">
              <a:off x="6125130" y="3977612"/>
              <a:ext cx="1156955" cy="1146717"/>
            </a:xfrm>
            <a:custGeom>
              <a:avLst/>
              <a:gdLst>
                <a:gd name="T0" fmla="*/ 0 w 7536"/>
                <a:gd name="T1" fmla="*/ 0 h 7472"/>
                <a:gd name="T2" fmla="*/ 7536 w 7536"/>
                <a:gd name="T3" fmla="*/ 0 h 7472"/>
                <a:gd name="T4" fmla="*/ 7536 w 7536"/>
                <a:gd name="T5" fmla="*/ 7472 h 7472"/>
                <a:gd name="T6" fmla="*/ 2279 w 7536"/>
                <a:gd name="T7" fmla="*/ 5121 h 7472"/>
                <a:gd name="T8" fmla="*/ 0 w 7536"/>
                <a:gd name="T9" fmla="*/ 0 h 7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36" h="7472">
                  <a:moveTo>
                    <a:pt x="0" y="0"/>
                  </a:moveTo>
                  <a:lnTo>
                    <a:pt x="7536" y="0"/>
                  </a:lnTo>
                  <a:lnTo>
                    <a:pt x="7536" y="7472"/>
                  </a:lnTo>
                  <a:cubicBezTo>
                    <a:pt x="5552" y="7374"/>
                    <a:pt x="3676" y="6535"/>
                    <a:pt x="2279" y="5121"/>
                  </a:cubicBezTo>
                  <a:cubicBezTo>
                    <a:pt x="922" y="3748"/>
                    <a:pt x="112" y="1928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iṥḻíḋè"/>
            <p:cNvSpPr/>
            <p:nvPr/>
          </p:nvSpPr>
          <p:spPr bwMode="auto">
            <a:xfrm>
              <a:off x="4897210" y="3977612"/>
              <a:ext cx="1156956" cy="1146717"/>
            </a:xfrm>
            <a:custGeom>
              <a:avLst/>
              <a:gdLst>
                <a:gd name="T0" fmla="*/ 0 w 7536"/>
                <a:gd name="T1" fmla="*/ 0 h 7472"/>
                <a:gd name="T2" fmla="*/ 7536 w 7536"/>
                <a:gd name="T3" fmla="*/ 0 h 7472"/>
                <a:gd name="T4" fmla="*/ 7536 w 7536"/>
                <a:gd name="T5" fmla="*/ 7472 h 7472"/>
                <a:gd name="T6" fmla="*/ 2279 w 7536"/>
                <a:gd name="T7" fmla="*/ 5121 h 7472"/>
                <a:gd name="T8" fmla="*/ 0 w 7536"/>
                <a:gd name="T9" fmla="*/ 0 h 7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36" h="7472">
                  <a:moveTo>
                    <a:pt x="0" y="0"/>
                  </a:moveTo>
                  <a:lnTo>
                    <a:pt x="7536" y="0"/>
                  </a:lnTo>
                  <a:lnTo>
                    <a:pt x="7536" y="7472"/>
                  </a:lnTo>
                  <a:cubicBezTo>
                    <a:pt x="5552" y="7374"/>
                    <a:pt x="3676" y="6535"/>
                    <a:pt x="2279" y="5121"/>
                  </a:cubicBezTo>
                  <a:cubicBezTo>
                    <a:pt x="922" y="3748"/>
                    <a:pt x="112" y="1928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5578475" y="3437703"/>
              <a:ext cx="1022350" cy="1022350"/>
            </a:xfrm>
            <a:prstGeom prst="ellipse">
              <a:avLst/>
            </a:prstGeom>
            <a:solidFill>
              <a:schemeClr val="accent1"/>
            </a:solidFill>
            <a:ln w="19050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i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708023" y="1888490"/>
              <a:ext cx="5659455" cy="2337793"/>
              <a:chOff x="708023" y="1888490"/>
              <a:chExt cx="5659455" cy="2337793"/>
            </a:xfrm>
          </p:grpSpPr>
          <p:sp>
            <p:nvSpPr>
              <p:cNvPr id="55" name="Text1"/>
              <p:cNvSpPr txBox="1"/>
              <p:nvPr/>
            </p:nvSpPr>
            <p:spPr>
              <a:xfrm>
                <a:off x="708026" y="2303844"/>
                <a:ext cx="3753283" cy="55365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系统启动时自动打开指定COM端口（如COM3或/dev/ttyUSB0），开始监听数据流入。</a:t>
                </a:r>
                <a:endParaRPr lang="en-US" dirty="0"/>
              </a:p>
            </p:txBody>
          </p:sp>
          <p:sp>
            <p:nvSpPr>
              <p:cNvPr id="56" name="Bullet1"/>
              <p:cNvSpPr txBox="1"/>
              <p:nvPr/>
            </p:nvSpPr>
            <p:spPr>
              <a:xfrm>
                <a:off x="708023" y="1888490"/>
                <a:ext cx="3753283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串口监听服务启动</a:t>
                </a:r>
                <a:endParaRPr lang="en-US" dirty="0"/>
              </a:p>
            </p:txBody>
          </p:sp>
          <p:sp>
            <p:nvSpPr>
              <p:cNvPr id="4" name="Number1"/>
              <p:cNvSpPr/>
              <p:nvPr/>
            </p:nvSpPr>
            <p:spPr>
              <a:xfrm>
                <a:off x="5265157" y="2517025"/>
                <a:ext cx="573313" cy="57331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ctr" anchorCtr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1</a:t>
                </a:r>
                <a:endParaRPr lang="en-US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IconMisc1"/>
              <p:cNvSpPr/>
              <p:nvPr/>
            </p:nvSpPr>
            <p:spPr>
              <a:xfrm>
                <a:off x="5811824" y="3671473"/>
                <a:ext cx="555654" cy="554810"/>
              </a:xfrm>
              <a:custGeom>
                <a:avLst/>
                <a:gdLst>
                  <a:gd name="connsiteX0" fmla="*/ 113893 w 607639"/>
                  <a:gd name="connsiteY0" fmla="*/ 379219 h 606722"/>
                  <a:gd name="connsiteX1" fmla="*/ 493676 w 607639"/>
                  <a:gd name="connsiteY1" fmla="*/ 379219 h 606722"/>
                  <a:gd name="connsiteX2" fmla="*/ 493676 w 607639"/>
                  <a:gd name="connsiteY2" fmla="*/ 573485 h 606722"/>
                  <a:gd name="connsiteX3" fmla="*/ 455671 w 607639"/>
                  <a:gd name="connsiteY3" fmla="*/ 606722 h 606722"/>
                  <a:gd name="connsiteX4" fmla="*/ 151898 w 607639"/>
                  <a:gd name="connsiteY4" fmla="*/ 606722 h 606722"/>
                  <a:gd name="connsiteX5" fmla="*/ 113893 w 607639"/>
                  <a:gd name="connsiteY5" fmla="*/ 573485 h 606722"/>
                  <a:gd name="connsiteX6" fmla="*/ 531629 w 607639"/>
                  <a:gd name="connsiteY6" fmla="*/ 208589 h 606722"/>
                  <a:gd name="connsiteX7" fmla="*/ 493712 w 607639"/>
                  <a:gd name="connsiteY7" fmla="*/ 246444 h 606722"/>
                  <a:gd name="connsiteX8" fmla="*/ 531629 w 607639"/>
                  <a:gd name="connsiteY8" fmla="*/ 284389 h 606722"/>
                  <a:gd name="connsiteX9" fmla="*/ 569634 w 607639"/>
                  <a:gd name="connsiteY9" fmla="*/ 246444 h 606722"/>
                  <a:gd name="connsiteX10" fmla="*/ 531629 w 607639"/>
                  <a:gd name="connsiteY10" fmla="*/ 208589 h 606722"/>
                  <a:gd name="connsiteX11" fmla="*/ 417702 w 607639"/>
                  <a:gd name="connsiteY11" fmla="*/ 208589 h 606722"/>
                  <a:gd name="connsiteX12" fmla="*/ 379786 w 607639"/>
                  <a:gd name="connsiteY12" fmla="*/ 246444 h 606722"/>
                  <a:gd name="connsiteX13" fmla="*/ 417702 w 607639"/>
                  <a:gd name="connsiteY13" fmla="*/ 284389 h 606722"/>
                  <a:gd name="connsiteX14" fmla="*/ 455707 w 607639"/>
                  <a:gd name="connsiteY14" fmla="*/ 246444 h 606722"/>
                  <a:gd name="connsiteX15" fmla="*/ 417702 w 607639"/>
                  <a:gd name="connsiteY15" fmla="*/ 208589 h 606722"/>
                  <a:gd name="connsiteX16" fmla="*/ 38005 w 607639"/>
                  <a:gd name="connsiteY16" fmla="*/ 151716 h 606722"/>
                  <a:gd name="connsiteX17" fmla="*/ 569634 w 607639"/>
                  <a:gd name="connsiteY17" fmla="*/ 151716 h 606722"/>
                  <a:gd name="connsiteX18" fmla="*/ 607639 w 607639"/>
                  <a:gd name="connsiteY18" fmla="*/ 189572 h 606722"/>
                  <a:gd name="connsiteX19" fmla="*/ 607639 w 607639"/>
                  <a:gd name="connsiteY19" fmla="*/ 417062 h 606722"/>
                  <a:gd name="connsiteX20" fmla="*/ 569634 w 607639"/>
                  <a:gd name="connsiteY20" fmla="*/ 455006 h 606722"/>
                  <a:gd name="connsiteX21" fmla="*/ 531629 w 607639"/>
                  <a:gd name="connsiteY21" fmla="*/ 455006 h 606722"/>
                  <a:gd name="connsiteX22" fmla="*/ 531629 w 607639"/>
                  <a:gd name="connsiteY22" fmla="*/ 341261 h 606722"/>
                  <a:gd name="connsiteX23" fmla="*/ 75922 w 607639"/>
                  <a:gd name="connsiteY23" fmla="*/ 341261 h 606722"/>
                  <a:gd name="connsiteX24" fmla="*/ 75922 w 607639"/>
                  <a:gd name="connsiteY24" fmla="*/ 455006 h 606722"/>
                  <a:gd name="connsiteX25" fmla="*/ 38005 w 607639"/>
                  <a:gd name="connsiteY25" fmla="*/ 455006 h 606722"/>
                  <a:gd name="connsiteX26" fmla="*/ 0 w 607639"/>
                  <a:gd name="connsiteY26" fmla="*/ 417062 h 606722"/>
                  <a:gd name="connsiteX27" fmla="*/ 0 w 607639"/>
                  <a:gd name="connsiteY27" fmla="*/ 189572 h 606722"/>
                  <a:gd name="connsiteX28" fmla="*/ 38005 w 607639"/>
                  <a:gd name="connsiteY28" fmla="*/ 151716 h 606722"/>
                  <a:gd name="connsiteX29" fmla="*/ 151898 w 607639"/>
                  <a:gd name="connsiteY29" fmla="*/ 0 h 606722"/>
                  <a:gd name="connsiteX30" fmla="*/ 455671 w 607639"/>
                  <a:gd name="connsiteY30" fmla="*/ 0 h 606722"/>
                  <a:gd name="connsiteX31" fmla="*/ 493676 w 607639"/>
                  <a:gd name="connsiteY31" fmla="*/ 33148 h 606722"/>
                  <a:gd name="connsiteX32" fmla="*/ 493676 w 607639"/>
                  <a:gd name="connsiteY32" fmla="*/ 113752 h 606722"/>
                  <a:gd name="connsiteX33" fmla="*/ 113893 w 607639"/>
                  <a:gd name="connsiteY33" fmla="*/ 113752 h 606722"/>
                  <a:gd name="connsiteX34" fmla="*/ 113893 w 607639"/>
                  <a:gd name="connsiteY34" fmla="*/ 33148 h 606722"/>
                  <a:gd name="connsiteX35" fmla="*/ 151898 w 607639"/>
                  <a:gd name="connsiteY35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607639" h="606722">
                    <a:moveTo>
                      <a:pt x="113893" y="379219"/>
                    </a:moveTo>
                    <a:lnTo>
                      <a:pt x="493676" y="379219"/>
                    </a:lnTo>
                    <a:lnTo>
                      <a:pt x="493676" y="573485"/>
                    </a:lnTo>
                    <a:cubicBezTo>
                      <a:pt x="493676" y="591703"/>
                      <a:pt x="476587" y="606722"/>
                      <a:pt x="455671" y="606722"/>
                    </a:cubicBezTo>
                    <a:lnTo>
                      <a:pt x="151898" y="606722"/>
                    </a:lnTo>
                    <a:cubicBezTo>
                      <a:pt x="130982" y="606722"/>
                      <a:pt x="113893" y="591703"/>
                      <a:pt x="113893" y="573485"/>
                    </a:cubicBezTo>
                    <a:close/>
                    <a:moveTo>
                      <a:pt x="531629" y="208589"/>
                    </a:moveTo>
                    <a:cubicBezTo>
                      <a:pt x="510712" y="208589"/>
                      <a:pt x="493712" y="225473"/>
                      <a:pt x="493712" y="246444"/>
                    </a:cubicBezTo>
                    <a:cubicBezTo>
                      <a:pt x="493712" y="267416"/>
                      <a:pt x="510623" y="284389"/>
                      <a:pt x="531629" y="284389"/>
                    </a:cubicBezTo>
                    <a:cubicBezTo>
                      <a:pt x="552634" y="284389"/>
                      <a:pt x="569634" y="267416"/>
                      <a:pt x="569634" y="246444"/>
                    </a:cubicBezTo>
                    <a:cubicBezTo>
                      <a:pt x="569634" y="225473"/>
                      <a:pt x="552634" y="208589"/>
                      <a:pt x="531629" y="208589"/>
                    </a:cubicBezTo>
                    <a:close/>
                    <a:moveTo>
                      <a:pt x="417702" y="208589"/>
                    </a:moveTo>
                    <a:cubicBezTo>
                      <a:pt x="396786" y="208589"/>
                      <a:pt x="379786" y="225473"/>
                      <a:pt x="379786" y="246444"/>
                    </a:cubicBezTo>
                    <a:cubicBezTo>
                      <a:pt x="379786" y="267416"/>
                      <a:pt x="396697" y="284389"/>
                      <a:pt x="417702" y="284389"/>
                    </a:cubicBezTo>
                    <a:cubicBezTo>
                      <a:pt x="438707" y="284389"/>
                      <a:pt x="455707" y="267416"/>
                      <a:pt x="455707" y="246444"/>
                    </a:cubicBezTo>
                    <a:cubicBezTo>
                      <a:pt x="455707" y="225473"/>
                      <a:pt x="438707" y="208589"/>
                      <a:pt x="417702" y="208589"/>
                    </a:cubicBezTo>
                    <a:close/>
                    <a:moveTo>
                      <a:pt x="38005" y="151716"/>
                    </a:moveTo>
                    <a:lnTo>
                      <a:pt x="569634" y="151716"/>
                    </a:lnTo>
                    <a:cubicBezTo>
                      <a:pt x="590550" y="151716"/>
                      <a:pt x="607639" y="168778"/>
                      <a:pt x="607639" y="189572"/>
                    </a:cubicBezTo>
                    <a:lnTo>
                      <a:pt x="607639" y="417062"/>
                    </a:lnTo>
                    <a:cubicBezTo>
                      <a:pt x="607639" y="437945"/>
                      <a:pt x="590550" y="455006"/>
                      <a:pt x="569634" y="455006"/>
                    </a:cubicBezTo>
                    <a:lnTo>
                      <a:pt x="531629" y="455006"/>
                    </a:lnTo>
                    <a:lnTo>
                      <a:pt x="531629" y="341261"/>
                    </a:lnTo>
                    <a:lnTo>
                      <a:pt x="75922" y="341261"/>
                    </a:lnTo>
                    <a:lnTo>
                      <a:pt x="75922" y="455006"/>
                    </a:lnTo>
                    <a:lnTo>
                      <a:pt x="38005" y="455006"/>
                    </a:lnTo>
                    <a:cubicBezTo>
                      <a:pt x="17089" y="455006"/>
                      <a:pt x="0" y="437945"/>
                      <a:pt x="0" y="417062"/>
                    </a:cubicBezTo>
                    <a:lnTo>
                      <a:pt x="0" y="189572"/>
                    </a:lnTo>
                    <a:cubicBezTo>
                      <a:pt x="0" y="168778"/>
                      <a:pt x="17089" y="151716"/>
                      <a:pt x="38005" y="151716"/>
                    </a:cubicBezTo>
                    <a:close/>
                    <a:moveTo>
                      <a:pt x="151898" y="0"/>
                    </a:moveTo>
                    <a:lnTo>
                      <a:pt x="455671" y="0"/>
                    </a:lnTo>
                    <a:cubicBezTo>
                      <a:pt x="476587" y="0"/>
                      <a:pt x="493676" y="14930"/>
                      <a:pt x="493676" y="33148"/>
                    </a:cubicBezTo>
                    <a:lnTo>
                      <a:pt x="493676" y="113752"/>
                    </a:lnTo>
                    <a:lnTo>
                      <a:pt x="113893" y="113752"/>
                    </a:lnTo>
                    <a:lnTo>
                      <a:pt x="113893" y="33148"/>
                    </a:lnTo>
                    <a:cubicBezTo>
                      <a:pt x="113893" y="14930"/>
                      <a:pt x="130982" y="0"/>
                      <a:pt x="151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i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708023" y="2934326"/>
              <a:ext cx="4495907" cy="969010"/>
              <a:chOff x="708023" y="2934326"/>
              <a:chExt cx="4495907" cy="969010"/>
            </a:xfrm>
          </p:grpSpPr>
          <p:sp>
            <p:nvSpPr>
              <p:cNvPr id="57" name="Text2"/>
              <p:cNvSpPr txBox="1"/>
              <p:nvPr/>
            </p:nvSpPr>
            <p:spPr>
              <a:xfrm>
                <a:off x="708025" y="3349680"/>
                <a:ext cx="3753283" cy="55365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设置环形缓冲区暂存原始字节流，逐字节查找帧头0xAA与帧尾0x55，提取完整数据包。</a:t>
                </a:r>
                <a:endParaRPr lang="en-US" dirty="0"/>
              </a:p>
            </p:txBody>
          </p:sp>
          <p:sp>
            <p:nvSpPr>
              <p:cNvPr id="58" name="Bullet2"/>
              <p:cNvSpPr txBox="1"/>
              <p:nvPr/>
            </p:nvSpPr>
            <p:spPr>
              <a:xfrm>
                <a:off x="708023" y="2934326"/>
                <a:ext cx="3753283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数据流缓冲区管理</a:t>
                </a:r>
                <a:endParaRPr lang="en-US" dirty="0"/>
              </a:p>
            </p:txBody>
          </p:sp>
          <p:sp>
            <p:nvSpPr>
              <p:cNvPr id="15" name="Number2"/>
              <p:cNvSpPr/>
              <p:nvPr/>
            </p:nvSpPr>
            <p:spPr>
              <a:xfrm>
                <a:off x="4630617" y="3220308"/>
                <a:ext cx="573313" cy="57331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2</a:t>
                </a:r>
                <a:endParaRPr lang="en-US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708023" y="3980162"/>
              <a:ext cx="4495907" cy="969010"/>
              <a:chOff x="708023" y="3980162"/>
              <a:chExt cx="4495907" cy="969010"/>
            </a:xfrm>
          </p:grpSpPr>
          <p:sp>
            <p:nvSpPr>
              <p:cNvPr id="60" name="Text3"/>
              <p:cNvSpPr txBox="1"/>
              <p:nvPr/>
            </p:nvSpPr>
            <p:spPr>
              <a:xfrm>
                <a:off x="708026" y="4395516"/>
                <a:ext cx="3753283" cy="55365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验证帧长度是否匹配、校验和是否正确，任一失败则丢弃该包并记录错误日志。</a:t>
                </a:r>
                <a:endParaRPr lang="en-US" dirty="0"/>
              </a:p>
            </p:txBody>
          </p:sp>
          <p:sp>
            <p:nvSpPr>
              <p:cNvPr id="61" name="Bullet3"/>
              <p:cNvSpPr txBox="1"/>
              <p:nvPr/>
            </p:nvSpPr>
            <p:spPr>
              <a:xfrm>
                <a:off x="708023" y="3980162"/>
                <a:ext cx="3753283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数据包完整性校验</a:t>
                </a:r>
                <a:endParaRPr lang="en-US" dirty="0"/>
              </a:p>
            </p:txBody>
          </p:sp>
          <p:sp>
            <p:nvSpPr>
              <p:cNvPr id="16" name="Number3"/>
              <p:cNvSpPr/>
              <p:nvPr/>
            </p:nvSpPr>
            <p:spPr>
              <a:xfrm>
                <a:off x="4630617" y="4136569"/>
                <a:ext cx="573313" cy="57331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ctr" anchorCtr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3</a:t>
                </a:r>
                <a:endParaRPr lang="en-US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708023" y="4821071"/>
              <a:ext cx="5130447" cy="1173936"/>
              <a:chOff x="708023" y="4821071"/>
              <a:chExt cx="5130447" cy="1173936"/>
            </a:xfrm>
          </p:grpSpPr>
          <p:sp>
            <p:nvSpPr>
              <p:cNvPr id="62" name="Text4"/>
              <p:cNvSpPr txBox="1"/>
              <p:nvPr/>
            </p:nvSpPr>
            <p:spPr>
              <a:xfrm>
                <a:off x="708025" y="5441351"/>
                <a:ext cx="3753283" cy="55365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若数据包不含时间戳，则由接收端添加服务器本地时间（精确到毫秒），保证数据时效性。</a:t>
                </a:r>
                <a:endParaRPr lang="en-US" dirty="0"/>
              </a:p>
            </p:txBody>
          </p:sp>
          <p:sp>
            <p:nvSpPr>
              <p:cNvPr id="63" name="Bullet4"/>
              <p:cNvSpPr txBox="1"/>
              <p:nvPr/>
            </p:nvSpPr>
            <p:spPr>
              <a:xfrm>
                <a:off x="708023" y="5025997"/>
                <a:ext cx="3753283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时间戳生成策略</a:t>
                </a:r>
                <a:endParaRPr lang="en-US" dirty="0"/>
              </a:p>
            </p:txBody>
          </p:sp>
          <p:sp>
            <p:nvSpPr>
              <p:cNvPr id="17" name="Number4"/>
              <p:cNvSpPr/>
              <p:nvPr/>
            </p:nvSpPr>
            <p:spPr>
              <a:xfrm>
                <a:off x="5265157" y="4821071"/>
                <a:ext cx="573313" cy="57331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4</a:t>
                </a:r>
                <a:endParaRPr lang="en-US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6358488" y="1888490"/>
              <a:ext cx="5097471" cy="1201847"/>
              <a:chOff x="6358488" y="1888490"/>
              <a:chExt cx="5097471" cy="1201847"/>
            </a:xfrm>
          </p:grpSpPr>
          <p:sp>
            <p:nvSpPr>
              <p:cNvPr id="44" name="Text5"/>
              <p:cNvSpPr txBox="1"/>
              <p:nvPr/>
            </p:nvSpPr>
            <p:spPr>
              <a:xfrm>
                <a:off x="7586336" y="2303844"/>
                <a:ext cx="3869623" cy="55365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将高低字节合并为完整数值，例如Temp_H=0x14, Temp_L=0x02 → 温度=20.2°C。</a:t>
                </a:r>
                <a:endParaRPr lang="en-US" dirty="0"/>
              </a:p>
            </p:txBody>
          </p:sp>
          <p:sp>
            <p:nvSpPr>
              <p:cNvPr id="45" name="Bullet5"/>
              <p:cNvSpPr txBox="1"/>
              <p:nvPr/>
            </p:nvSpPr>
            <p:spPr>
              <a:xfrm>
                <a:off x="7586336" y="1888490"/>
                <a:ext cx="3869623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数据标准化处理</a:t>
                </a:r>
                <a:endParaRPr lang="en-US" dirty="0"/>
              </a:p>
            </p:txBody>
          </p:sp>
          <p:sp>
            <p:nvSpPr>
              <p:cNvPr id="26" name="Number5"/>
              <p:cNvSpPr/>
              <p:nvPr/>
            </p:nvSpPr>
            <p:spPr>
              <a:xfrm>
                <a:off x="6358488" y="2517025"/>
                <a:ext cx="573313" cy="57331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5</a:t>
                </a:r>
                <a:endParaRPr lang="en-US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6942056" y="2934326"/>
              <a:ext cx="4513903" cy="969010"/>
              <a:chOff x="6942056" y="2934326"/>
              <a:chExt cx="4513903" cy="969010"/>
            </a:xfrm>
          </p:grpSpPr>
          <p:sp>
            <p:nvSpPr>
              <p:cNvPr id="46" name="Text6"/>
              <p:cNvSpPr txBox="1"/>
              <p:nvPr/>
            </p:nvSpPr>
            <p:spPr>
              <a:xfrm>
                <a:off x="7586336" y="3349680"/>
                <a:ext cx="3869623" cy="55365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根据预设阈值判断数据状态：正常（0）、异常（1），写入sensor_data表data_status字段。</a:t>
                </a:r>
                <a:endParaRPr lang="en-US" dirty="0"/>
              </a:p>
            </p:txBody>
          </p:sp>
          <p:sp>
            <p:nvSpPr>
              <p:cNvPr id="47" name="Bullet6"/>
              <p:cNvSpPr txBox="1"/>
              <p:nvPr/>
            </p:nvSpPr>
            <p:spPr>
              <a:xfrm>
                <a:off x="7586336" y="2934326"/>
                <a:ext cx="3869623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数据状态标记规则</a:t>
                </a:r>
                <a:endParaRPr lang="en-US" dirty="0"/>
              </a:p>
            </p:txBody>
          </p:sp>
          <p:sp>
            <p:nvSpPr>
              <p:cNvPr id="28" name="Number6"/>
              <p:cNvSpPr/>
              <p:nvPr/>
            </p:nvSpPr>
            <p:spPr>
              <a:xfrm>
                <a:off x="6942056" y="3220308"/>
                <a:ext cx="573313" cy="57331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ctr" anchorCtr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6</a:t>
                </a:r>
                <a:endParaRPr lang="en-US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6942056" y="3980162"/>
              <a:ext cx="4513903" cy="969010"/>
              <a:chOff x="6942056" y="3980162"/>
              <a:chExt cx="4513903" cy="969010"/>
            </a:xfrm>
          </p:grpSpPr>
          <p:sp>
            <p:nvSpPr>
              <p:cNvPr id="65" name="Text7"/>
              <p:cNvSpPr txBox="1"/>
              <p:nvPr/>
            </p:nvSpPr>
            <p:spPr>
              <a:xfrm>
                <a:off x="7586336" y="4395516"/>
                <a:ext cx="3869623" cy="55365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对超限、格式错误、校验失败等情况记录至error_log表，供后期分析与系统优化参考。</a:t>
                </a:r>
                <a:endParaRPr lang="en-US" dirty="0"/>
              </a:p>
            </p:txBody>
          </p:sp>
          <p:sp>
            <p:nvSpPr>
              <p:cNvPr id="66" name="Bullet7"/>
              <p:cNvSpPr txBox="1"/>
              <p:nvPr/>
            </p:nvSpPr>
            <p:spPr>
              <a:xfrm>
                <a:off x="7586336" y="3980162"/>
                <a:ext cx="3869623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异常数据处理机制</a:t>
                </a:r>
                <a:endParaRPr lang="en-US" dirty="0"/>
              </a:p>
            </p:txBody>
          </p:sp>
          <p:sp>
            <p:nvSpPr>
              <p:cNvPr id="29" name="Number7"/>
              <p:cNvSpPr/>
              <p:nvPr/>
            </p:nvSpPr>
            <p:spPr>
              <a:xfrm>
                <a:off x="6942056" y="4136569"/>
                <a:ext cx="573313" cy="57331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7</a:t>
                </a:r>
                <a:endParaRPr lang="en-US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6358488" y="4821071"/>
              <a:ext cx="5097471" cy="1173936"/>
              <a:chOff x="6358488" y="4821071"/>
              <a:chExt cx="5097471" cy="1173936"/>
            </a:xfrm>
          </p:grpSpPr>
          <p:sp>
            <p:nvSpPr>
              <p:cNvPr id="67" name="Text8"/>
              <p:cNvSpPr txBox="1"/>
              <p:nvPr/>
            </p:nvSpPr>
            <p:spPr>
              <a:xfrm>
                <a:off x="7586336" y="5441351"/>
                <a:ext cx="3869623" cy="55365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使用线程池处理多节点数据，避免阻塞主线程，确保即使10个节点同时发送也能平稳运行。</a:t>
                </a:r>
                <a:endParaRPr lang="en-US" dirty="0"/>
              </a:p>
            </p:txBody>
          </p:sp>
          <p:sp>
            <p:nvSpPr>
              <p:cNvPr id="68" name="Bullet8"/>
              <p:cNvSpPr txBox="1"/>
              <p:nvPr/>
            </p:nvSpPr>
            <p:spPr>
              <a:xfrm>
                <a:off x="7586336" y="5025997"/>
                <a:ext cx="3869623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高并发数据接收能力</a:t>
                </a:r>
                <a:endParaRPr lang="en-US" dirty="0"/>
              </a:p>
            </p:txBody>
          </p:sp>
          <p:sp>
            <p:nvSpPr>
              <p:cNvPr id="27" name="Number8"/>
              <p:cNvSpPr/>
              <p:nvPr/>
            </p:nvSpPr>
            <p:spPr>
              <a:xfrm>
                <a:off x="6358488" y="4821071"/>
                <a:ext cx="573313" cy="57331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ctr" anchorCtr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8</a:t>
                </a:r>
                <a:endParaRPr lang="en-US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数据接收与处理模块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5f8c1633-75fe-4b4a-81ae-fcf08b0dcd4e.source.8.zh-Hans.pptx"/>
          <p:cNvGrpSpPr/>
          <p:nvPr/>
        </p:nvGrpSpPr>
        <p:grpSpPr>
          <a:xfrm>
            <a:off x="660400" y="1130300"/>
            <a:ext cx="10871200" cy="5003800"/>
            <a:chOff x="660400" y="1130300"/>
            <a:chExt cx="10871200" cy="5003800"/>
          </a:xfrm>
        </p:grpSpPr>
        <p:sp>
          <p:nvSpPr>
            <p:cNvPr id="45" name="PictureMisc1"/>
            <p:cNvSpPr/>
            <p:nvPr/>
          </p:nvSpPr>
          <p:spPr>
            <a:xfrm>
              <a:off x="660400" y="1130301"/>
              <a:ext cx="2566139" cy="3487419"/>
            </a:xfrm>
            <a:prstGeom prst="roundRect">
              <a:avLst>
                <a:gd name="adj" fmla="val 4500"/>
              </a:avLst>
            </a:prstGeom>
            <a:blipFill>
              <a:blip r:embed="rId1"/>
              <a:srcRect/>
              <a:stretch>
                <a:fillRect l="-13834" r="-9036"/>
              </a:stretch>
            </a:blipFill>
            <a:ln w="603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600" dirty="0">
                <a:cs typeface="+mn-ea"/>
                <a:sym typeface="+mn-lt"/>
              </a:endParaRPr>
            </a:p>
          </p:txBody>
        </p:sp>
        <p:cxnSp>
          <p:nvCxnSpPr>
            <p:cNvPr id="4" name="连接符: 肘形 3"/>
            <p:cNvCxnSpPr>
              <a:stCxn id="5" idx="1"/>
              <a:endCxn id="50" idx="1"/>
            </p:cNvCxnSpPr>
            <p:nvPr/>
          </p:nvCxnSpPr>
          <p:spPr>
            <a:xfrm rot="10800000" flipV="1">
              <a:off x="3839060" y="1407868"/>
              <a:ext cx="12700" cy="3793806"/>
            </a:xfrm>
            <a:prstGeom prst="bentConnector3">
              <a:avLst>
                <a:gd name="adj1" fmla="val 1800000"/>
              </a:avLst>
            </a:prstGeom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3620302" y="2672470"/>
              <a:ext cx="218757" cy="0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3620302" y="3937072"/>
              <a:ext cx="218757" cy="0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连接符: 肘形 7"/>
            <p:cNvCxnSpPr>
              <a:stCxn id="11" idx="1"/>
              <a:endCxn id="17" idx="1"/>
            </p:cNvCxnSpPr>
            <p:nvPr/>
          </p:nvCxnSpPr>
          <p:spPr>
            <a:xfrm rot="10800000" flipV="1">
              <a:off x="7991591" y="1407868"/>
              <a:ext cx="12700" cy="3793806"/>
            </a:xfrm>
            <a:prstGeom prst="bentConnector3">
              <a:avLst>
                <a:gd name="adj1" fmla="val 1800000"/>
              </a:avLst>
            </a:prstGeom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7772833" y="2672470"/>
              <a:ext cx="218757" cy="0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7772833" y="3937072"/>
              <a:ext cx="218757" cy="0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itle"/>
            <p:cNvSpPr/>
            <p:nvPr/>
          </p:nvSpPr>
          <p:spPr>
            <a:xfrm>
              <a:off x="660400" y="4744720"/>
              <a:ext cx="2566139" cy="13893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rmAutofit/>
            </a:bodyPr>
            <a:lstStyle/>
            <a:p>
              <a:r>
                <a:rPr lang="zh-CN" altLang="en-US" sz="2000" b="1" dirty="0">
                  <a:solidFill>
                    <a:schemeClr val="tx1"/>
                  </a:solidFill>
                  <a:cs typeface="+mn-ea"/>
                  <a:sym typeface="+mn-lt"/>
                </a:rPr>
                <a:t>建立多层次、可配置、自动化的环境异常预警体系</a:t>
              </a:r>
              <a:endParaRPr 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3839060" y="1130300"/>
              <a:ext cx="3540009" cy="1209992"/>
              <a:chOff x="3839060" y="1130300"/>
              <a:chExt cx="3540009" cy="1209992"/>
            </a:xfrm>
          </p:grpSpPr>
          <p:sp>
            <p:nvSpPr>
              <p:cNvPr id="5" name="Bullet1"/>
              <p:cNvSpPr/>
              <p:nvPr/>
            </p:nvSpPr>
            <p:spPr>
              <a:xfrm>
                <a:off x="3839060" y="1130300"/>
                <a:ext cx="3540009" cy="555136"/>
              </a:xfrm>
              <a:prstGeom prst="roundRect">
                <a:avLst>
                  <a:gd name="adj" fmla="val 7074"/>
                </a:avLst>
              </a:prstGeom>
              <a:solidFill>
                <a:schemeClr val="accent1"/>
              </a:solidFill>
              <a:ln w="6350" cap="sq">
                <a:noFill/>
                <a:prstDash val="solid"/>
                <a:miter/>
              </a:ln>
            </p:spPr>
            <p:txBody>
              <a:bodyPr wrap="non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6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默认告警阈值设定</a:t>
                </a:r>
                <a:endParaRPr lang="en-US" dirty="0"/>
              </a:p>
            </p:txBody>
          </p:sp>
          <p:sp>
            <p:nvSpPr>
              <p:cNvPr id="6" name="Text1"/>
              <p:cNvSpPr/>
              <p:nvPr/>
            </p:nvSpPr>
            <p:spPr>
              <a:xfrm>
                <a:off x="3839060" y="1740046"/>
                <a:ext cx="3540009" cy="600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氨气&gt;25ppm（警告）、&gt;40ppm（严重）；硫化氢&gt;10ppm（警告）、&gt;20ppm（严重）；温度&lt;5°C或&gt;35°C（警告）；湿度&lt;30%或&gt;85%（警告）。</a:t>
                </a:r>
                <a:endParaRPr lang="en-US" dirty="0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3839060" y="2394902"/>
              <a:ext cx="3540009" cy="1209992"/>
              <a:chOff x="3839060" y="2394902"/>
              <a:chExt cx="3540009" cy="1209992"/>
            </a:xfrm>
          </p:grpSpPr>
          <p:sp>
            <p:nvSpPr>
              <p:cNvPr id="35" name="Bullet2"/>
              <p:cNvSpPr/>
              <p:nvPr/>
            </p:nvSpPr>
            <p:spPr>
              <a:xfrm>
                <a:off x="3839060" y="2394902"/>
                <a:ext cx="3540009" cy="555136"/>
              </a:xfrm>
              <a:prstGeom prst="roundRect">
                <a:avLst>
                  <a:gd name="adj" fmla="val 7074"/>
                </a:avLst>
              </a:prstGeom>
              <a:solidFill>
                <a:schemeClr val="accent2">
                  <a:alpha val="15000"/>
                </a:schemeClr>
              </a:solidFill>
              <a:ln w="6350" cap="sq">
                <a:noFill/>
                <a:prstDash val="solid"/>
                <a:miter/>
              </a:ln>
            </p:spPr>
            <p:txBody>
              <a:bodyPr wrap="non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自定义阈值配置接口</a:t>
                </a:r>
                <a:endParaRPr lang="en-US" dirty="0"/>
              </a:p>
            </p:txBody>
          </p:sp>
          <p:sp>
            <p:nvSpPr>
              <p:cNvPr id="37" name="Text2"/>
              <p:cNvSpPr/>
              <p:nvPr/>
            </p:nvSpPr>
            <p:spPr>
              <a:xfrm>
                <a:off x="3839060" y="3004648"/>
                <a:ext cx="3540009" cy="600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管理员可通过前端页面修改各项参数的告警上下限，满足不同地区、季节的养殖需求。</a:t>
                </a:r>
                <a:endParaRPr lang="en-US" dirty="0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3839060" y="3659504"/>
              <a:ext cx="3540009" cy="1209992"/>
              <a:chOff x="3839060" y="3659504"/>
              <a:chExt cx="3540009" cy="1209992"/>
            </a:xfrm>
          </p:grpSpPr>
          <p:sp>
            <p:nvSpPr>
              <p:cNvPr id="43" name="Bullet3"/>
              <p:cNvSpPr/>
              <p:nvPr/>
            </p:nvSpPr>
            <p:spPr>
              <a:xfrm>
                <a:off x="3839060" y="3659504"/>
                <a:ext cx="3540009" cy="555136"/>
              </a:xfrm>
              <a:prstGeom prst="roundRect">
                <a:avLst>
                  <a:gd name="adj" fmla="val 7074"/>
                </a:avLst>
              </a:prstGeom>
              <a:solidFill>
                <a:schemeClr val="accent1"/>
              </a:solidFill>
              <a:ln w="6350" cap="sq">
                <a:noFill/>
                <a:prstDash val="solid"/>
                <a:miter/>
              </a:ln>
            </p:spPr>
            <p:txBody>
              <a:bodyPr wrap="non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6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多级告警级别划分</a:t>
                </a:r>
                <a:endParaRPr lang="en-US" dirty="0"/>
              </a:p>
            </p:txBody>
          </p:sp>
          <p:sp>
            <p:nvSpPr>
              <p:cNvPr id="48" name="Text3"/>
              <p:cNvSpPr/>
              <p:nvPr/>
            </p:nvSpPr>
            <p:spPr>
              <a:xfrm>
                <a:off x="3839060" y="4269250"/>
                <a:ext cx="3540009" cy="600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分为正常（0）、警告（1）、严重（2）、紧急（3）四级，对应不同颜色标识与通知强度。</a:t>
                </a:r>
                <a:endParaRPr lang="en-US" dirty="0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3839060" y="4924106"/>
              <a:ext cx="3540009" cy="1209994"/>
              <a:chOff x="3839060" y="4924106"/>
              <a:chExt cx="3540009" cy="1209994"/>
            </a:xfrm>
          </p:grpSpPr>
          <p:sp>
            <p:nvSpPr>
              <p:cNvPr id="50" name="Bullet4"/>
              <p:cNvSpPr/>
              <p:nvPr/>
            </p:nvSpPr>
            <p:spPr>
              <a:xfrm>
                <a:off x="3839060" y="4924106"/>
                <a:ext cx="3540009" cy="555136"/>
              </a:xfrm>
              <a:prstGeom prst="roundRect">
                <a:avLst>
                  <a:gd name="adj" fmla="val 7074"/>
                </a:avLst>
              </a:prstGeom>
              <a:solidFill>
                <a:schemeClr val="accent2">
                  <a:alpha val="15000"/>
                </a:schemeClr>
              </a:solidFill>
              <a:ln w="6350" cap="sq">
                <a:noFill/>
                <a:prstDash val="solid"/>
                <a:miter/>
              </a:ln>
            </p:spPr>
            <p:txBody>
              <a:bodyPr wrap="non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告警去重机制设计</a:t>
                </a:r>
                <a:endParaRPr lang="en-US" dirty="0"/>
              </a:p>
            </p:txBody>
          </p:sp>
          <p:sp>
            <p:nvSpPr>
              <p:cNvPr id="51" name="Text4"/>
              <p:cNvSpPr/>
              <p:nvPr/>
            </p:nvSpPr>
            <p:spPr>
              <a:xfrm>
                <a:off x="3839060" y="5533854"/>
                <a:ext cx="3540009" cy="600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同一节点同一类型告警在10分钟内不再重复触发，避免频繁打扰用户。</a:t>
                </a:r>
                <a:endParaRPr lang="en-US" dirty="0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7991591" y="1130300"/>
              <a:ext cx="3540009" cy="1209992"/>
              <a:chOff x="7991591" y="1130300"/>
              <a:chExt cx="3540009" cy="1209992"/>
            </a:xfrm>
          </p:grpSpPr>
          <p:sp>
            <p:nvSpPr>
              <p:cNvPr id="11" name="Bullet5"/>
              <p:cNvSpPr/>
              <p:nvPr/>
            </p:nvSpPr>
            <p:spPr>
              <a:xfrm>
                <a:off x="7991591" y="1130300"/>
                <a:ext cx="3540009" cy="555136"/>
              </a:xfrm>
              <a:prstGeom prst="roundRect">
                <a:avLst>
                  <a:gd name="adj" fmla="val 7074"/>
                </a:avLst>
              </a:prstGeom>
              <a:solidFill>
                <a:schemeClr val="accent1"/>
              </a:solidFill>
              <a:ln w="6350" cap="sq">
                <a:noFill/>
                <a:prstDash val="solid"/>
                <a:miter/>
              </a:ln>
            </p:spPr>
            <p:txBody>
              <a:bodyPr wrap="non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6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告警记录字段定义</a:t>
                </a:r>
                <a:endParaRPr lang="en-US" dirty="0"/>
              </a:p>
            </p:txBody>
          </p:sp>
          <p:sp>
            <p:nvSpPr>
              <p:cNvPr id="12" name="Text5"/>
              <p:cNvSpPr/>
              <p:nvPr/>
            </p:nvSpPr>
            <p:spPr>
              <a:xfrm>
                <a:off x="7991591" y="1740046"/>
                <a:ext cx="3540009" cy="600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包含告警ID、时间、节点ID、类型、级别、当前值、阈值、处理状态（未/已处理）、备注。</a:t>
                </a:r>
                <a:endParaRPr lang="en-US" dirty="0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7991591" y="2394902"/>
              <a:ext cx="3540009" cy="1209992"/>
              <a:chOff x="7991591" y="2394902"/>
              <a:chExt cx="3540009" cy="1209992"/>
            </a:xfrm>
          </p:grpSpPr>
          <p:sp>
            <p:nvSpPr>
              <p:cNvPr id="13" name="Bullet6"/>
              <p:cNvSpPr/>
              <p:nvPr/>
            </p:nvSpPr>
            <p:spPr>
              <a:xfrm>
                <a:off x="7991591" y="2394902"/>
                <a:ext cx="3540009" cy="555136"/>
              </a:xfrm>
              <a:prstGeom prst="roundRect">
                <a:avLst>
                  <a:gd name="adj" fmla="val 7074"/>
                </a:avLst>
              </a:prstGeom>
              <a:solidFill>
                <a:schemeClr val="accent2">
                  <a:alpha val="15000"/>
                </a:schemeClr>
              </a:solidFill>
              <a:ln w="6350" cap="sq">
                <a:noFill/>
                <a:prstDash val="solid"/>
                <a:miter/>
              </a:ln>
            </p:spPr>
            <p:txBody>
              <a:bodyPr wrap="non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前端实时推送实现</a:t>
                </a:r>
                <a:endParaRPr lang="en-US" dirty="0"/>
              </a:p>
            </p:txBody>
          </p:sp>
          <p:sp>
            <p:nvSpPr>
              <p:cNvPr id="14" name="Text6"/>
              <p:cNvSpPr/>
              <p:nvPr/>
            </p:nvSpPr>
            <p:spPr>
              <a:xfrm>
                <a:off x="7991591" y="3004648"/>
                <a:ext cx="3540009" cy="600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使用WebSocket推送告警消息，前端接收到后弹出模态框并播放提示音，吸引注意力。</a:t>
                </a:r>
                <a:endParaRPr lang="en-US" dirty="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7991591" y="3659504"/>
              <a:ext cx="3540009" cy="1209992"/>
              <a:chOff x="7991591" y="3659504"/>
              <a:chExt cx="3540009" cy="1209992"/>
            </a:xfrm>
          </p:grpSpPr>
          <p:sp>
            <p:nvSpPr>
              <p:cNvPr id="15" name="Bullet7"/>
              <p:cNvSpPr/>
              <p:nvPr/>
            </p:nvSpPr>
            <p:spPr>
              <a:xfrm>
                <a:off x="7991591" y="3659504"/>
                <a:ext cx="3540009" cy="555136"/>
              </a:xfrm>
              <a:prstGeom prst="roundRect">
                <a:avLst>
                  <a:gd name="adj" fmla="val 7074"/>
                </a:avLst>
              </a:prstGeom>
              <a:solidFill>
                <a:schemeClr val="accent1"/>
              </a:solidFill>
              <a:ln w="6350" cap="sq">
                <a:noFill/>
                <a:prstDash val="solid"/>
                <a:miter/>
              </a:ln>
            </p:spPr>
            <p:txBody>
              <a:bodyPr wrap="non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6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告警历史查询功能</a:t>
                </a:r>
                <a:endParaRPr lang="en-US" dirty="0"/>
              </a:p>
            </p:txBody>
          </p:sp>
          <p:sp>
            <p:nvSpPr>
              <p:cNvPr id="16" name="Text7"/>
              <p:cNvSpPr/>
              <p:nvPr/>
            </p:nvSpPr>
            <p:spPr>
              <a:xfrm>
                <a:off x="7991591" y="4269250"/>
                <a:ext cx="3540009" cy="600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支持按时间、节点、类型、级别筛选告警记录，导出CSV用于事故追溯与统计分析。</a:t>
                </a:r>
                <a:endParaRPr lang="en-US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7991591" y="4924106"/>
              <a:ext cx="3540009" cy="1209994"/>
              <a:chOff x="7991591" y="4924106"/>
              <a:chExt cx="3540009" cy="1209994"/>
            </a:xfrm>
          </p:grpSpPr>
          <p:sp>
            <p:nvSpPr>
              <p:cNvPr id="17" name="Bullet8"/>
              <p:cNvSpPr/>
              <p:nvPr/>
            </p:nvSpPr>
            <p:spPr>
              <a:xfrm>
                <a:off x="7991591" y="4924106"/>
                <a:ext cx="3540009" cy="555136"/>
              </a:xfrm>
              <a:prstGeom prst="roundRect">
                <a:avLst>
                  <a:gd name="adj" fmla="val 7074"/>
                </a:avLst>
              </a:prstGeom>
              <a:solidFill>
                <a:schemeClr val="accent2">
                  <a:alpha val="15000"/>
                </a:schemeClr>
              </a:solidFill>
              <a:ln w="6350" cap="sq">
                <a:noFill/>
                <a:prstDash val="solid"/>
                <a:miter/>
              </a:ln>
            </p:spPr>
            <p:txBody>
              <a:bodyPr wrap="non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告警状态更新机制</a:t>
                </a:r>
                <a:endParaRPr lang="en-US" dirty="0"/>
              </a:p>
            </p:txBody>
          </p:sp>
          <p:sp>
            <p:nvSpPr>
              <p:cNvPr id="18" name="Text8"/>
              <p:cNvSpPr/>
              <p:nvPr/>
            </p:nvSpPr>
            <p:spPr>
              <a:xfrm>
                <a:off x="7991591" y="5533854"/>
                <a:ext cx="3540009" cy="600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用户点击“已处理”按钮后，后台更新handle_time与status字段，关闭弹窗提示。</a:t>
                </a:r>
                <a:endParaRPr 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智能告警模块设计</a:t>
            </a:r>
            <a:endParaRPr lang="en-US" dirty="0"/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8a48597c-6204-4079-be67-74789727e6ff.source.8.zh-Hans.pptx"/>
          <p:cNvGrpSpPr/>
          <p:nvPr/>
        </p:nvGrpSpPr>
        <p:grpSpPr>
          <a:xfrm>
            <a:off x="660400" y="1130301"/>
            <a:ext cx="10858501" cy="5003799"/>
            <a:chOff x="660400" y="1130301"/>
            <a:chExt cx="10858501" cy="5003799"/>
          </a:xfrm>
        </p:grpSpPr>
        <p:sp>
          <p:nvSpPr>
            <p:cNvPr id="76" name="任意多边形: 形状 75"/>
            <p:cNvSpPr/>
            <p:nvPr/>
          </p:nvSpPr>
          <p:spPr>
            <a:xfrm>
              <a:off x="4249777" y="2065501"/>
              <a:ext cx="2477439" cy="2401107"/>
            </a:xfrm>
            <a:custGeom>
              <a:avLst/>
              <a:gdLst>
                <a:gd name="connsiteX0" fmla="*/ 607132 w 1252678"/>
                <a:gd name="connsiteY0" fmla="*/ 923175 h 1214084"/>
                <a:gd name="connsiteX1" fmla="*/ 807845 w 1252678"/>
                <a:gd name="connsiteY1" fmla="*/ 852052 h 1214084"/>
                <a:gd name="connsiteX2" fmla="*/ 1013371 w 1252678"/>
                <a:gd name="connsiteY2" fmla="*/ 1057578 h 1214084"/>
                <a:gd name="connsiteX3" fmla="*/ 607132 w 1252678"/>
                <a:gd name="connsiteY3" fmla="*/ 1214085 h 1214084"/>
                <a:gd name="connsiteX4" fmla="*/ 0 w 1252678"/>
                <a:gd name="connsiteY4" fmla="*/ 607132 h 1214084"/>
                <a:gd name="connsiteX5" fmla="*/ 607132 w 1252678"/>
                <a:gd name="connsiteY5" fmla="*/ 0 h 1214084"/>
                <a:gd name="connsiteX6" fmla="*/ 1090912 w 1252678"/>
                <a:gd name="connsiteY6" fmla="*/ 241890 h 1214084"/>
                <a:gd name="connsiteX7" fmla="*/ 1193764 w 1252678"/>
                <a:gd name="connsiteY7" fmla="*/ 164350 h 1214084"/>
                <a:gd name="connsiteX8" fmla="*/ 1223711 w 1252678"/>
                <a:gd name="connsiteY8" fmla="*/ 159537 h 1214084"/>
                <a:gd name="connsiteX9" fmla="*/ 1252231 w 1252678"/>
                <a:gd name="connsiteY9" fmla="*/ 200713 h 1214084"/>
                <a:gd name="connsiteX10" fmla="*/ 1200003 w 1252678"/>
                <a:gd name="connsiteY10" fmla="*/ 583246 h 1214084"/>
                <a:gd name="connsiteX11" fmla="*/ 1158826 w 1252678"/>
                <a:gd name="connsiteY11" fmla="*/ 613192 h 1214084"/>
                <a:gd name="connsiteX12" fmla="*/ 776294 w 1252678"/>
                <a:gd name="connsiteY12" fmla="*/ 559360 h 1214084"/>
                <a:gd name="connsiteX13" fmla="*/ 744743 w 1252678"/>
                <a:gd name="connsiteY13" fmla="*/ 519787 h 1214084"/>
                <a:gd name="connsiteX14" fmla="*/ 759004 w 1252678"/>
                <a:gd name="connsiteY14" fmla="*/ 491267 h 1214084"/>
                <a:gd name="connsiteX15" fmla="*/ 860252 w 1252678"/>
                <a:gd name="connsiteY15" fmla="*/ 415331 h 1214084"/>
                <a:gd name="connsiteX16" fmla="*/ 607310 w 1252678"/>
                <a:gd name="connsiteY16" fmla="*/ 288771 h 1214084"/>
                <a:gd name="connsiteX17" fmla="*/ 289484 w 1252678"/>
                <a:gd name="connsiteY17" fmla="*/ 606597 h 1214084"/>
                <a:gd name="connsiteX18" fmla="*/ 607132 w 1252678"/>
                <a:gd name="connsiteY18" fmla="*/ 923175 h 121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52678" h="1214084">
                  <a:moveTo>
                    <a:pt x="607132" y="923175"/>
                  </a:moveTo>
                  <a:cubicBezTo>
                    <a:pt x="683068" y="923175"/>
                    <a:pt x="754191" y="896259"/>
                    <a:pt x="807845" y="852052"/>
                  </a:cubicBezTo>
                  <a:lnTo>
                    <a:pt x="1013371" y="1057578"/>
                  </a:lnTo>
                  <a:cubicBezTo>
                    <a:pt x="905884" y="1154013"/>
                    <a:pt x="763638" y="1214085"/>
                    <a:pt x="607132" y="1214085"/>
                  </a:cubicBezTo>
                  <a:cubicBezTo>
                    <a:pt x="271837" y="1214085"/>
                    <a:pt x="0" y="942248"/>
                    <a:pt x="0" y="607132"/>
                  </a:cubicBezTo>
                  <a:cubicBezTo>
                    <a:pt x="0" y="271837"/>
                    <a:pt x="271837" y="0"/>
                    <a:pt x="607132" y="0"/>
                  </a:cubicBezTo>
                  <a:cubicBezTo>
                    <a:pt x="804636" y="0"/>
                    <a:pt x="980216" y="94831"/>
                    <a:pt x="1090912" y="241890"/>
                  </a:cubicBezTo>
                  <a:lnTo>
                    <a:pt x="1193764" y="164350"/>
                  </a:lnTo>
                  <a:cubicBezTo>
                    <a:pt x="1203211" y="159537"/>
                    <a:pt x="1212659" y="156507"/>
                    <a:pt x="1223711" y="159537"/>
                  </a:cubicBezTo>
                  <a:cubicBezTo>
                    <a:pt x="1242605" y="162745"/>
                    <a:pt x="1255261" y="181640"/>
                    <a:pt x="1252231" y="200713"/>
                  </a:cubicBezTo>
                  <a:lnTo>
                    <a:pt x="1200003" y="583246"/>
                  </a:lnTo>
                  <a:cubicBezTo>
                    <a:pt x="1196794" y="602140"/>
                    <a:pt x="1177899" y="616401"/>
                    <a:pt x="1158826" y="613192"/>
                  </a:cubicBezTo>
                  <a:cubicBezTo>
                    <a:pt x="1030840" y="595723"/>
                    <a:pt x="904280" y="576828"/>
                    <a:pt x="776294" y="559360"/>
                  </a:cubicBezTo>
                  <a:cubicBezTo>
                    <a:pt x="757399" y="556151"/>
                    <a:pt x="743139" y="538860"/>
                    <a:pt x="744743" y="519787"/>
                  </a:cubicBezTo>
                  <a:cubicBezTo>
                    <a:pt x="744743" y="507131"/>
                    <a:pt x="750982" y="499288"/>
                    <a:pt x="759004" y="491267"/>
                  </a:cubicBezTo>
                  <a:lnTo>
                    <a:pt x="860252" y="415331"/>
                  </a:lnTo>
                  <a:cubicBezTo>
                    <a:pt x="803389" y="337790"/>
                    <a:pt x="709984" y="288771"/>
                    <a:pt x="607310" y="288771"/>
                  </a:cubicBezTo>
                  <a:cubicBezTo>
                    <a:pt x="431908" y="288771"/>
                    <a:pt x="289484" y="431017"/>
                    <a:pt x="289484" y="606597"/>
                  </a:cubicBezTo>
                  <a:cubicBezTo>
                    <a:pt x="289305" y="782533"/>
                    <a:pt x="431552" y="923175"/>
                    <a:pt x="607132" y="923175"/>
                  </a:cubicBezTo>
                  <a:close/>
                </a:path>
              </a:pathLst>
            </a:cu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lnSpc>
                  <a:spcPct val="120000"/>
                </a:lnSpc>
                <a:buSzPct val="25000"/>
              </a:pPr>
              <a:endParaRPr lang="zh-CN" altLang="en-US" sz="2400" b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5464782" y="3356833"/>
              <a:ext cx="2477439" cy="2401459"/>
            </a:xfrm>
            <a:custGeom>
              <a:avLst/>
              <a:gdLst>
                <a:gd name="connsiteX0" fmla="*/ 645726 w 1252678"/>
                <a:gd name="connsiteY0" fmla="*/ 289305 h 1214262"/>
                <a:gd name="connsiteX1" fmla="*/ 445012 w 1252678"/>
                <a:gd name="connsiteY1" fmla="*/ 362033 h 1214262"/>
                <a:gd name="connsiteX2" fmla="*/ 239308 w 1252678"/>
                <a:gd name="connsiteY2" fmla="*/ 156507 h 1214262"/>
                <a:gd name="connsiteX3" fmla="*/ 645547 w 1252678"/>
                <a:gd name="connsiteY3" fmla="*/ 0 h 1214262"/>
                <a:gd name="connsiteX4" fmla="*/ 1252679 w 1252678"/>
                <a:gd name="connsiteY4" fmla="*/ 607132 h 1214262"/>
                <a:gd name="connsiteX5" fmla="*/ 645547 w 1252678"/>
                <a:gd name="connsiteY5" fmla="*/ 1214263 h 1214262"/>
                <a:gd name="connsiteX6" fmla="*/ 161767 w 1252678"/>
                <a:gd name="connsiteY6" fmla="*/ 972373 h 1214262"/>
                <a:gd name="connsiteX7" fmla="*/ 60519 w 1252678"/>
                <a:gd name="connsiteY7" fmla="*/ 1049913 h 1214262"/>
                <a:gd name="connsiteX8" fmla="*/ 28969 w 1252678"/>
                <a:gd name="connsiteY8" fmla="*/ 1054726 h 1214262"/>
                <a:gd name="connsiteX9" fmla="*/ 448 w 1252678"/>
                <a:gd name="connsiteY9" fmla="*/ 1013550 h 1214262"/>
                <a:gd name="connsiteX10" fmla="*/ 54280 w 1252678"/>
                <a:gd name="connsiteY10" fmla="*/ 631017 h 1214262"/>
                <a:gd name="connsiteX11" fmla="*/ 93853 w 1252678"/>
                <a:gd name="connsiteY11" fmla="*/ 600893 h 1214262"/>
                <a:gd name="connsiteX12" fmla="*/ 476385 w 1252678"/>
                <a:gd name="connsiteY12" fmla="*/ 654725 h 1214262"/>
                <a:gd name="connsiteX13" fmla="*/ 507936 w 1252678"/>
                <a:gd name="connsiteY13" fmla="*/ 694298 h 1214262"/>
                <a:gd name="connsiteX14" fmla="*/ 493675 w 1252678"/>
                <a:gd name="connsiteY14" fmla="*/ 721214 h 1214262"/>
                <a:gd name="connsiteX15" fmla="*/ 392427 w 1252678"/>
                <a:gd name="connsiteY15" fmla="*/ 798754 h 1214262"/>
                <a:gd name="connsiteX16" fmla="*/ 645369 w 1252678"/>
                <a:gd name="connsiteY16" fmla="*/ 925314 h 1214262"/>
                <a:gd name="connsiteX17" fmla="*/ 963195 w 1252678"/>
                <a:gd name="connsiteY17" fmla="*/ 607488 h 1214262"/>
                <a:gd name="connsiteX18" fmla="*/ 645726 w 1252678"/>
                <a:gd name="connsiteY18" fmla="*/ 289305 h 1214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52678" h="1214262">
                  <a:moveTo>
                    <a:pt x="645726" y="289305"/>
                  </a:moveTo>
                  <a:cubicBezTo>
                    <a:pt x="569790" y="289305"/>
                    <a:pt x="500271" y="317826"/>
                    <a:pt x="445012" y="362033"/>
                  </a:cubicBezTo>
                  <a:lnTo>
                    <a:pt x="239308" y="156507"/>
                  </a:lnTo>
                  <a:cubicBezTo>
                    <a:pt x="346795" y="60071"/>
                    <a:pt x="489041" y="0"/>
                    <a:pt x="645547" y="0"/>
                  </a:cubicBezTo>
                  <a:cubicBezTo>
                    <a:pt x="980664" y="0"/>
                    <a:pt x="1252679" y="271837"/>
                    <a:pt x="1252679" y="607132"/>
                  </a:cubicBezTo>
                  <a:cubicBezTo>
                    <a:pt x="1252679" y="942248"/>
                    <a:pt x="980842" y="1214263"/>
                    <a:pt x="645547" y="1214263"/>
                  </a:cubicBezTo>
                  <a:cubicBezTo>
                    <a:pt x="447864" y="1214263"/>
                    <a:pt x="272463" y="1119432"/>
                    <a:pt x="161767" y="972373"/>
                  </a:cubicBezTo>
                  <a:lnTo>
                    <a:pt x="60519" y="1049913"/>
                  </a:lnTo>
                  <a:cubicBezTo>
                    <a:pt x="51072" y="1054726"/>
                    <a:pt x="40020" y="1057756"/>
                    <a:pt x="28969" y="1054726"/>
                  </a:cubicBezTo>
                  <a:cubicBezTo>
                    <a:pt x="10074" y="1051518"/>
                    <a:pt x="-2582" y="1032623"/>
                    <a:pt x="448" y="1013550"/>
                  </a:cubicBezTo>
                  <a:lnTo>
                    <a:pt x="54280" y="631017"/>
                  </a:lnTo>
                  <a:cubicBezTo>
                    <a:pt x="57489" y="612123"/>
                    <a:pt x="74780" y="597862"/>
                    <a:pt x="93853" y="600893"/>
                  </a:cubicBezTo>
                  <a:cubicBezTo>
                    <a:pt x="221839" y="618361"/>
                    <a:pt x="348399" y="637256"/>
                    <a:pt x="476385" y="654725"/>
                  </a:cubicBezTo>
                  <a:cubicBezTo>
                    <a:pt x="495280" y="657934"/>
                    <a:pt x="509540" y="675224"/>
                    <a:pt x="507936" y="694298"/>
                  </a:cubicBezTo>
                  <a:cubicBezTo>
                    <a:pt x="507936" y="706954"/>
                    <a:pt x="503123" y="714797"/>
                    <a:pt x="493675" y="721214"/>
                  </a:cubicBezTo>
                  <a:lnTo>
                    <a:pt x="392427" y="798754"/>
                  </a:lnTo>
                  <a:cubicBezTo>
                    <a:pt x="450895" y="874690"/>
                    <a:pt x="542695" y="925314"/>
                    <a:pt x="645369" y="925314"/>
                  </a:cubicBezTo>
                  <a:cubicBezTo>
                    <a:pt x="820771" y="925314"/>
                    <a:pt x="963195" y="783068"/>
                    <a:pt x="963195" y="607488"/>
                  </a:cubicBezTo>
                  <a:cubicBezTo>
                    <a:pt x="963374" y="431552"/>
                    <a:pt x="821127" y="289305"/>
                    <a:pt x="645726" y="289305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endParaRPr lang="zh-CN" alt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" name="Title"/>
            <p:cNvSpPr/>
            <p:nvPr/>
          </p:nvSpPr>
          <p:spPr>
            <a:xfrm>
              <a:off x="660400" y="1130301"/>
              <a:ext cx="10858500" cy="466042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实现自动化环境调节与人工干预相结合的双重控制机制</a:t>
              </a:r>
              <a:endParaRPr lang="en-US" dirty="0"/>
            </a:p>
          </p:txBody>
        </p:sp>
        <p:grpSp>
          <p:nvGrpSpPr>
            <p:cNvPr id="115" name="组合 114"/>
            <p:cNvGrpSpPr/>
            <p:nvPr/>
          </p:nvGrpSpPr>
          <p:grpSpPr>
            <a:xfrm>
              <a:off x="660400" y="1656362"/>
              <a:ext cx="4485519" cy="1074420"/>
              <a:chOff x="660400" y="1656362"/>
              <a:chExt cx="4485519" cy="1074420"/>
            </a:xfrm>
          </p:grpSpPr>
          <p:sp>
            <p:nvSpPr>
              <p:cNvPr id="4" name="Bullet1"/>
              <p:cNvSpPr txBox="1"/>
              <p:nvPr/>
            </p:nvSpPr>
            <p:spPr>
              <a:xfrm>
                <a:off x="660400" y="1656362"/>
                <a:ext cx="3325813" cy="396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ea typeface="微软雅黑" panose="020B0503020204020204" pitchFamily="34" charset="-122"/>
                    <a:sym typeface="Arial" panose="020B0604020202020204" pitchFamily="34" charset="0"/>
                  </a:rPr>
                  <a:t>模拟控制设备种类</a:t>
                </a:r>
                <a:endParaRPr lang="en-US" dirty="0"/>
              </a:p>
            </p:txBody>
          </p:sp>
          <p:sp>
            <p:nvSpPr>
              <p:cNvPr id="5" name="Text1"/>
              <p:cNvSpPr txBox="1"/>
              <p:nvPr/>
            </p:nvSpPr>
            <p:spPr>
              <a:xfrm>
                <a:off x="660400" y="2053043"/>
                <a:ext cx="3325813" cy="6777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风机（通风）、卷帘（采光/通风）、供热系统（冬季保温），每类设备均有独立ID与状态。</a:t>
                </a:r>
                <a:endParaRPr lang="en-US" dirty="0"/>
              </a:p>
            </p:txBody>
          </p:sp>
          <p:sp>
            <p:nvSpPr>
              <p:cNvPr id="19" name="Number1"/>
              <p:cNvSpPr/>
              <p:nvPr/>
            </p:nvSpPr>
            <p:spPr>
              <a:xfrm flipH="1">
                <a:off x="4696943" y="1985747"/>
                <a:ext cx="448976" cy="44897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FF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1</a:t>
                </a:r>
                <a:endParaRPr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11" name="组合 110"/>
            <p:cNvGrpSpPr/>
            <p:nvPr/>
          </p:nvGrpSpPr>
          <p:grpSpPr>
            <a:xfrm>
              <a:off x="6479013" y="1656362"/>
              <a:ext cx="5039888" cy="1074420"/>
              <a:chOff x="6479013" y="1656362"/>
              <a:chExt cx="5039888" cy="1074420"/>
            </a:xfrm>
          </p:grpSpPr>
          <p:sp>
            <p:nvSpPr>
              <p:cNvPr id="24" name="Bullet2"/>
              <p:cNvSpPr txBox="1"/>
              <p:nvPr/>
            </p:nvSpPr>
            <p:spPr>
              <a:xfrm flipH="1">
                <a:off x="8193087" y="1656362"/>
                <a:ext cx="3325813" cy="396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ea typeface="微软雅黑" panose="020B0503020204020204" pitchFamily="34" charset="-122"/>
                    <a:sym typeface="Arial" panose="020B0604020202020204" pitchFamily="34" charset="0"/>
                  </a:rPr>
                  <a:t>自动控制策略逻辑</a:t>
                </a:r>
                <a:endParaRPr lang="en-US" dirty="0"/>
              </a:p>
            </p:txBody>
          </p:sp>
          <p:sp>
            <p:nvSpPr>
              <p:cNvPr id="25" name="Text2"/>
              <p:cNvSpPr txBox="1"/>
              <p:nvPr/>
            </p:nvSpPr>
            <p:spPr>
              <a:xfrm flipH="1">
                <a:off x="8193088" y="2053043"/>
                <a:ext cx="3325813" cy="6777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氨气或H₂S超标→启动风机；温度&gt;30°C→开卷帘+启风机；温度&lt;5°C→启供热系统。</a:t>
                </a:r>
                <a:endParaRPr lang="en-US" dirty="0"/>
              </a:p>
            </p:txBody>
          </p:sp>
          <p:sp>
            <p:nvSpPr>
              <p:cNvPr id="23" name="Number2"/>
              <p:cNvSpPr/>
              <p:nvPr/>
            </p:nvSpPr>
            <p:spPr>
              <a:xfrm>
                <a:off x="6479013" y="2175145"/>
                <a:ext cx="448976" cy="44897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FF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2</a:t>
                </a:r>
                <a:endParaRPr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6678899" y="2790801"/>
              <a:ext cx="4840002" cy="1074420"/>
              <a:chOff x="6678899" y="2790801"/>
              <a:chExt cx="4840002" cy="1074420"/>
            </a:xfrm>
          </p:grpSpPr>
          <p:sp>
            <p:nvSpPr>
              <p:cNvPr id="29" name="Bullet3"/>
              <p:cNvSpPr txBox="1"/>
              <p:nvPr/>
            </p:nvSpPr>
            <p:spPr>
              <a:xfrm flipH="1">
                <a:off x="8193087" y="2790801"/>
                <a:ext cx="3325813" cy="396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ea typeface="微软雅黑" panose="020B0503020204020204" pitchFamily="34" charset="-122"/>
                    <a:sym typeface="Arial" panose="020B0604020202020204" pitchFamily="34" charset="0"/>
                  </a:rPr>
                  <a:t>延迟关闭机制设计</a:t>
                </a:r>
                <a:endParaRPr lang="en-US" dirty="0"/>
              </a:p>
            </p:txBody>
          </p:sp>
          <p:sp>
            <p:nvSpPr>
              <p:cNvPr id="30" name="Text3"/>
              <p:cNvSpPr txBox="1"/>
              <p:nvPr/>
            </p:nvSpPr>
            <p:spPr>
              <a:xfrm flipH="1">
                <a:off x="8193088" y="3187482"/>
                <a:ext cx="3325813" cy="6777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环境恢复正常后延时5分钟再关闭设备，防止频繁启停损坏电机，延长使用寿命。</a:t>
                </a:r>
                <a:endParaRPr lang="en-US" dirty="0"/>
              </a:p>
            </p:txBody>
          </p:sp>
          <p:sp>
            <p:nvSpPr>
              <p:cNvPr id="28" name="Number3"/>
              <p:cNvSpPr/>
              <p:nvPr/>
            </p:nvSpPr>
            <p:spPr>
              <a:xfrm>
                <a:off x="6678899" y="3162821"/>
                <a:ext cx="448976" cy="448976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rgbClr val="FFFF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3</a:t>
                </a:r>
                <a:endParaRPr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13" name="组合 112"/>
            <p:cNvGrpSpPr/>
            <p:nvPr/>
          </p:nvGrpSpPr>
          <p:grpSpPr>
            <a:xfrm>
              <a:off x="7685374" y="3925240"/>
              <a:ext cx="3833527" cy="1074420"/>
              <a:chOff x="7685374" y="3925240"/>
              <a:chExt cx="3833527" cy="1074420"/>
            </a:xfrm>
          </p:grpSpPr>
          <p:sp>
            <p:nvSpPr>
              <p:cNvPr id="34" name="Bullet4"/>
              <p:cNvSpPr txBox="1"/>
              <p:nvPr/>
            </p:nvSpPr>
            <p:spPr>
              <a:xfrm flipH="1">
                <a:off x="8193087" y="3925240"/>
                <a:ext cx="3325813" cy="396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ea typeface="微软雅黑" panose="020B0503020204020204" pitchFamily="34" charset="-122"/>
                    <a:sym typeface="Arial" panose="020B0604020202020204" pitchFamily="34" charset="0"/>
                  </a:rPr>
                  <a:t>手动控制优先原则</a:t>
                </a:r>
                <a:endParaRPr lang="en-US" dirty="0"/>
              </a:p>
            </p:txBody>
          </p:sp>
          <p:sp>
            <p:nvSpPr>
              <p:cNvPr id="35" name="Text4"/>
              <p:cNvSpPr txBox="1"/>
              <p:nvPr/>
            </p:nvSpPr>
            <p:spPr>
              <a:xfrm flipH="1">
                <a:off x="8193088" y="4321921"/>
                <a:ext cx="3325813" cy="6777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用户通过前端点击“开启/关闭”按钮可立即执行操作，优先级高于自动逻辑，确保灵活性。</a:t>
                </a:r>
                <a:endParaRPr lang="en-US" dirty="0"/>
              </a:p>
            </p:txBody>
          </p:sp>
          <p:sp>
            <p:nvSpPr>
              <p:cNvPr id="33" name="Number4"/>
              <p:cNvSpPr/>
              <p:nvPr/>
            </p:nvSpPr>
            <p:spPr>
              <a:xfrm>
                <a:off x="7685374" y="4254625"/>
                <a:ext cx="448976" cy="448976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rgbClr val="FFFF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4</a:t>
                </a:r>
                <a:endParaRPr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14" name="组合 113"/>
            <p:cNvGrpSpPr/>
            <p:nvPr/>
          </p:nvGrpSpPr>
          <p:grpSpPr>
            <a:xfrm>
              <a:off x="7076568" y="5059680"/>
              <a:ext cx="4442333" cy="1074420"/>
              <a:chOff x="7076568" y="5059680"/>
              <a:chExt cx="4442333" cy="1074420"/>
            </a:xfrm>
          </p:grpSpPr>
          <p:sp>
            <p:nvSpPr>
              <p:cNvPr id="39" name="Bullet5"/>
              <p:cNvSpPr txBox="1"/>
              <p:nvPr/>
            </p:nvSpPr>
            <p:spPr>
              <a:xfrm flipH="1">
                <a:off x="8193087" y="5059680"/>
                <a:ext cx="3325813" cy="396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ea typeface="微软雅黑" panose="020B0503020204020204" pitchFamily="34" charset="-122"/>
                    <a:sym typeface="Arial" panose="020B0604020202020204" pitchFamily="34" charset="0"/>
                  </a:rPr>
                  <a:t>控制指令下发流程</a:t>
                </a:r>
                <a:endParaRPr lang="en-US" dirty="0"/>
              </a:p>
            </p:txBody>
          </p:sp>
          <p:sp>
            <p:nvSpPr>
              <p:cNvPr id="40" name="Text5"/>
              <p:cNvSpPr txBox="1"/>
              <p:nvPr/>
            </p:nvSpPr>
            <p:spPr>
              <a:xfrm flipH="1">
                <a:off x="8193088" y="5456361"/>
                <a:ext cx="3325813" cy="6777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前端→后端API→串口→协调器→终端节点→设备执行，全程记录日志便于审计追踪。</a:t>
                </a:r>
                <a:endParaRPr lang="en-US" dirty="0"/>
              </a:p>
            </p:txBody>
          </p:sp>
          <p:sp>
            <p:nvSpPr>
              <p:cNvPr id="38" name="Number5"/>
              <p:cNvSpPr/>
              <p:nvPr/>
            </p:nvSpPr>
            <p:spPr>
              <a:xfrm>
                <a:off x="7076568" y="5389065"/>
                <a:ext cx="448976" cy="448976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rgbClr val="FFFF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5</a:t>
                </a:r>
                <a:endParaRPr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16" name="组合 115"/>
            <p:cNvGrpSpPr/>
            <p:nvPr/>
          </p:nvGrpSpPr>
          <p:grpSpPr>
            <a:xfrm>
              <a:off x="660400" y="5059680"/>
              <a:ext cx="5764937" cy="1074420"/>
              <a:chOff x="660400" y="5059680"/>
              <a:chExt cx="5764937" cy="1074420"/>
            </a:xfrm>
          </p:grpSpPr>
          <p:sp>
            <p:nvSpPr>
              <p:cNvPr id="44" name="Bullet6"/>
              <p:cNvSpPr txBox="1"/>
              <p:nvPr/>
            </p:nvSpPr>
            <p:spPr>
              <a:xfrm>
                <a:off x="660400" y="5059680"/>
                <a:ext cx="3325813" cy="396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ea typeface="微软雅黑" panose="020B0503020204020204" pitchFamily="34" charset="-122"/>
                    <a:sym typeface="Arial" panose="020B0604020202020204" pitchFamily="34" charset="0"/>
                  </a:rPr>
                  <a:t>设备状态反馈机制</a:t>
                </a:r>
                <a:endParaRPr lang="en-US" dirty="0"/>
              </a:p>
            </p:txBody>
          </p:sp>
          <p:sp>
            <p:nvSpPr>
              <p:cNvPr id="45" name="Text6"/>
              <p:cNvSpPr txBox="1"/>
              <p:nvPr/>
            </p:nvSpPr>
            <p:spPr>
              <a:xfrm>
                <a:off x="660400" y="5456361"/>
                <a:ext cx="3325813" cy="6777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控制成功后，设备返回状态变更信息，前端界面实时更新图标与文字描述。</a:t>
                </a:r>
                <a:endParaRPr lang="en-US" dirty="0"/>
              </a:p>
            </p:txBody>
          </p:sp>
          <p:sp>
            <p:nvSpPr>
              <p:cNvPr id="43" name="Number6"/>
              <p:cNvSpPr/>
              <p:nvPr/>
            </p:nvSpPr>
            <p:spPr>
              <a:xfrm flipH="1">
                <a:off x="5976361" y="5389065"/>
                <a:ext cx="448976" cy="448976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rgbClr val="FFFF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6</a:t>
                </a:r>
                <a:endParaRPr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17" name="组合 116"/>
            <p:cNvGrpSpPr/>
            <p:nvPr/>
          </p:nvGrpSpPr>
          <p:grpSpPr>
            <a:xfrm>
              <a:off x="660400" y="3925240"/>
              <a:ext cx="4681495" cy="1074420"/>
              <a:chOff x="660400" y="3925240"/>
              <a:chExt cx="4681495" cy="1074420"/>
            </a:xfrm>
          </p:grpSpPr>
          <p:sp>
            <p:nvSpPr>
              <p:cNvPr id="49" name="Bullet7"/>
              <p:cNvSpPr txBox="1"/>
              <p:nvPr/>
            </p:nvSpPr>
            <p:spPr>
              <a:xfrm>
                <a:off x="660400" y="3925240"/>
                <a:ext cx="3325813" cy="396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ea typeface="微软雅黑" panose="020B0503020204020204" pitchFamily="34" charset="-122"/>
                    <a:sym typeface="Arial" panose="020B0604020202020204" pitchFamily="34" charset="0"/>
                  </a:rPr>
                  <a:t>控制日志存储结构</a:t>
                </a:r>
                <a:endParaRPr lang="en-US" dirty="0"/>
              </a:p>
            </p:txBody>
          </p:sp>
          <p:sp>
            <p:nvSpPr>
              <p:cNvPr id="50" name="Text7"/>
              <p:cNvSpPr txBox="1"/>
              <p:nvPr/>
            </p:nvSpPr>
            <p:spPr>
              <a:xfrm>
                <a:off x="660400" y="4321921"/>
                <a:ext cx="3325813" cy="6777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device_control_log表记录设备ID、动作（on/off）、模式（手动/自动）、操作者、时间、原因。</a:t>
                </a:r>
                <a:endParaRPr lang="en-US" dirty="0"/>
              </a:p>
            </p:txBody>
          </p:sp>
          <p:sp>
            <p:nvSpPr>
              <p:cNvPr id="48" name="Number7"/>
              <p:cNvSpPr/>
              <p:nvPr/>
            </p:nvSpPr>
            <p:spPr>
              <a:xfrm flipH="1">
                <a:off x="4892919" y="4155833"/>
                <a:ext cx="448976" cy="44897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FF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7</a:t>
                </a:r>
                <a:endParaRPr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18" name="组合 117"/>
            <p:cNvGrpSpPr/>
            <p:nvPr/>
          </p:nvGrpSpPr>
          <p:grpSpPr>
            <a:xfrm>
              <a:off x="660400" y="2790801"/>
              <a:ext cx="3822615" cy="1074420"/>
              <a:chOff x="660400" y="2790801"/>
              <a:chExt cx="3822615" cy="1074420"/>
            </a:xfrm>
          </p:grpSpPr>
          <p:sp>
            <p:nvSpPr>
              <p:cNvPr id="54" name="Bullet8"/>
              <p:cNvSpPr txBox="1"/>
              <p:nvPr/>
            </p:nvSpPr>
            <p:spPr>
              <a:xfrm>
                <a:off x="660400" y="2790801"/>
                <a:ext cx="3325813" cy="396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ea typeface="微软雅黑" panose="020B0503020204020204" pitchFamily="34" charset="-122"/>
                    <a:sym typeface="Arial" panose="020B0604020202020204" pitchFamily="34" charset="0"/>
                  </a:rPr>
                  <a:t>控制安全性校验</a:t>
                </a:r>
                <a:endParaRPr lang="en-US" dirty="0"/>
              </a:p>
            </p:txBody>
          </p:sp>
          <p:sp>
            <p:nvSpPr>
              <p:cNvPr id="55" name="Text8"/>
              <p:cNvSpPr txBox="1"/>
              <p:nvPr/>
            </p:nvSpPr>
            <p:spPr>
              <a:xfrm>
                <a:off x="660400" y="3187482"/>
                <a:ext cx="3325813" cy="6777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下发指令前验证设备是否存在、是否在线、是否有权限操作，防止非法访问与误操作。</a:t>
                </a:r>
                <a:endParaRPr lang="en-US" dirty="0"/>
              </a:p>
            </p:txBody>
          </p:sp>
          <p:sp>
            <p:nvSpPr>
              <p:cNvPr id="53" name="Number8"/>
              <p:cNvSpPr/>
              <p:nvPr/>
            </p:nvSpPr>
            <p:spPr>
              <a:xfrm flipH="1">
                <a:off x="4034039" y="3120186"/>
                <a:ext cx="448976" cy="44897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FF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8</a:t>
                </a:r>
                <a:endParaRPr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设备联动控制模块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9214851e-1d48-4355-8a1f-713c1f45446c.source.8.zh-Hans.pptx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272" name="Title"/>
            <p:cNvSpPr txBox="1"/>
            <p:nvPr/>
          </p:nvSpPr>
          <p:spPr>
            <a:xfrm>
              <a:off x="660400" y="1130300"/>
              <a:ext cx="10858500" cy="53340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构建直观、交互性强的Web监控界面，提升用户体验</a:t>
              </a:r>
              <a:endParaRPr lang="en-US" dirty="0"/>
            </a:p>
          </p:txBody>
        </p:sp>
        <p:grpSp>
          <p:nvGrpSpPr>
            <p:cNvPr id="273" name="组合 272"/>
            <p:cNvGrpSpPr/>
            <p:nvPr/>
          </p:nvGrpSpPr>
          <p:grpSpPr>
            <a:xfrm>
              <a:off x="660400" y="1663700"/>
              <a:ext cx="3705860" cy="1057909"/>
              <a:chOff x="660400" y="1663700"/>
              <a:chExt cx="3705860" cy="1057909"/>
            </a:xfrm>
          </p:grpSpPr>
          <p:sp>
            <p:nvSpPr>
              <p:cNvPr id="295" name="Text1"/>
              <p:cNvSpPr txBox="1"/>
              <p:nvPr/>
            </p:nvSpPr>
            <p:spPr>
              <a:xfrm>
                <a:off x="660402" y="2079054"/>
                <a:ext cx="3705858" cy="642555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展示所有节点地图分布、实时读数、设备运行状态、当前告警数量，一目了然掌握全局。</a:t>
                </a:r>
                <a:endParaRPr lang="en-US" dirty="0"/>
              </a:p>
            </p:txBody>
          </p:sp>
          <p:sp>
            <p:nvSpPr>
              <p:cNvPr id="296" name="Bullet1"/>
              <p:cNvSpPr txBox="1"/>
              <p:nvPr/>
            </p:nvSpPr>
            <p:spPr>
              <a:xfrm>
                <a:off x="660400" y="1663700"/>
                <a:ext cx="3705860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首页综合状态概览</a:t>
                </a:r>
                <a:endParaRPr lang="en-US" dirty="0"/>
              </a:p>
            </p:txBody>
          </p:sp>
        </p:grpSp>
        <p:grpSp>
          <p:nvGrpSpPr>
            <p:cNvPr id="274" name="组合 273"/>
            <p:cNvGrpSpPr/>
            <p:nvPr/>
          </p:nvGrpSpPr>
          <p:grpSpPr>
            <a:xfrm>
              <a:off x="660400" y="2801197"/>
              <a:ext cx="3705860" cy="1057909"/>
              <a:chOff x="660400" y="2801197"/>
              <a:chExt cx="3705860" cy="1057909"/>
            </a:xfrm>
          </p:grpSpPr>
          <p:sp>
            <p:nvSpPr>
              <p:cNvPr id="293" name="Text2"/>
              <p:cNvSpPr txBox="1"/>
              <p:nvPr/>
            </p:nvSpPr>
            <p:spPr>
              <a:xfrm>
                <a:off x="660402" y="3216551"/>
                <a:ext cx="3705858" cy="642555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ECharts绘制温度、湿度、氨气、硫化氢随时间变化曲线，支持缩放与拖拽查看细节。</a:t>
                </a:r>
                <a:endParaRPr lang="en-US" dirty="0"/>
              </a:p>
            </p:txBody>
          </p:sp>
          <p:sp>
            <p:nvSpPr>
              <p:cNvPr id="294" name="Bullet2"/>
              <p:cNvSpPr txBox="1"/>
              <p:nvPr/>
            </p:nvSpPr>
            <p:spPr>
              <a:xfrm>
                <a:off x="660400" y="2801197"/>
                <a:ext cx="3705860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折线图展示趋势变化</a:t>
                </a:r>
                <a:endParaRPr lang="en-US" dirty="0"/>
              </a:p>
            </p:txBody>
          </p:sp>
        </p:grpSp>
        <p:grpSp>
          <p:nvGrpSpPr>
            <p:cNvPr id="275" name="组合 274"/>
            <p:cNvGrpSpPr/>
            <p:nvPr/>
          </p:nvGrpSpPr>
          <p:grpSpPr>
            <a:xfrm>
              <a:off x="660400" y="3938694"/>
              <a:ext cx="3705860" cy="1057909"/>
              <a:chOff x="660400" y="3938694"/>
              <a:chExt cx="3705860" cy="1057909"/>
            </a:xfrm>
          </p:grpSpPr>
          <p:sp>
            <p:nvSpPr>
              <p:cNvPr id="291" name="Text3"/>
              <p:cNvSpPr txBox="1"/>
              <p:nvPr/>
            </p:nvSpPr>
            <p:spPr>
              <a:xfrm>
                <a:off x="660402" y="4354048"/>
                <a:ext cx="3705858" cy="642555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类似汽车仪表，用指针或进度条显示各项参数当前水平，绿色安全、黄色警告、红色危险。</a:t>
                </a:r>
                <a:endParaRPr lang="en-US" dirty="0"/>
              </a:p>
            </p:txBody>
          </p:sp>
          <p:sp>
            <p:nvSpPr>
              <p:cNvPr id="292" name="Bullet3"/>
              <p:cNvSpPr txBox="1"/>
              <p:nvPr/>
            </p:nvSpPr>
            <p:spPr>
              <a:xfrm>
                <a:off x="660400" y="3938694"/>
                <a:ext cx="3705860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仪表盘呈现当前值</a:t>
                </a:r>
                <a:endParaRPr lang="en-US" dirty="0"/>
              </a:p>
            </p:txBody>
          </p:sp>
        </p:grpSp>
        <p:grpSp>
          <p:nvGrpSpPr>
            <p:cNvPr id="276" name="组合 275"/>
            <p:cNvGrpSpPr/>
            <p:nvPr/>
          </p:nvGrpSpPr>
          <p:grpSpPr>
            <a:xfrm>
              <a:off x="660400" y="5076191"/>
              <a:ext cx="3705860" cy="1057909"/>
              <a:chOff x="660400" y="5076191"/>
              <a:chExt cx="3705860" cy="1057909"/>
            </a:xfrm>
          </p:grpSpPr>
          <p:sp>
            <p:nvSpPr>
              <p:cNvPr id="289" name="Text4"/>
              <p:cNvSpPr txBox="1"/>
              <p:nvPr/>
            </p:nvSpPr>
            <p:spPr>
              <a:xfrm>
                <a:off x="660402" y="5491545"/>
                <a:ext cx="3705858" cy="642555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并列显示各节点相同参数数值，便于发现局部异常区域，辅助定位问题源头。</a:t>
                </a:r>
                <a:endParaRPr lang="en-US" dirty="0"/>
              </a:p>
            </p:txBody>
          </p:sp>
          <p:sp>
            <p:nvSpPr>
              <p:cNvPr id="290" name="Bullet4"/>
              <p:cNvSpPr txBox="1"/>
              <p:nvPr/>
            </p:nvSpPr>
            <p:spPr>
              <a:xfrm>
                <a:off x="660400" y="5076191"/>
                <a:ext cx="3705860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柱状图对比多节点数据</a:t>
                </a:r>
                <a:endParaRPr lang="en-US" dirty="0"/>
              </a:p>
            </p:txBody>
          </p:sp>
        </p:grpSp>
        <p:grpSp>
          <p:nvGrpSpPr>
            <p:cNvPr id="277" name="组合 276"/>
            <p:cNvGrpSpPr/>
            <p:nvPr/>
          </p:nvGrpSpPr>
          <p:grpSpPr>
            <a:xfrm>
              <a:off x="7813040" y="1663700"/>
              <a:ext cx="3705860" cy="1057909"/>
              <a:chOff x="7813040" y="1663700"/>
              <a:chExt cx="3705860" cy="1057909"/>
            </a:xfrm>
          </p:grpSpPr>
          <p:sp>
            <p:nvSpPr>
              <p:cNvPr id="287" name="Text5"/>
              <p:cNvSpPr txBox="1"/>
              <p:nvPr/>
            </p:nvSpPr>
            <p:spPr>
              <a:xfrm>
                <a:off x="7813042" y="2079054"/>
                <a:ext cx="3705858" cy="642555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（可选）根据节点位置绘制二维平面图，用颜色深浅表示某参数（如氨气）的空间梯度分布。</a:t>
                </a:r>
                <a:endParaRPr lang="en-US" dirty="0"/>
              </a:p>
            </p:txBody>
          </p:sp>
          <p:sp>
            <p:nvSpPr>
              <p:cNvPr id="288" name="Bullet5"/>
              <p:cNvSpPr txBox="1"/>
              <p:nvPr/>
            </p:nvSpPr>
            <p:spPr>
              <a:xfrm>
                <a:off x="7813040" y="1663700"/>
                <a:ext cx="3705860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热力图反映空间分布</a:t>
                </a:r>
                <a:endParaRPr lang="en-US" dirty="0"/>
              </a:p>
            </p:txBody>
          </p:sp>
        </p:grpSp>
        <p:grpSp>
          <p:nvGrpSpPr>
            <p:cNvPr id="278" name="组合 277"/>
            <p:cNvGrpSpPr/>
            <p:nvPr/>
          </p:nvGrpSpPr>
          <p:grpSpPr>
            <a:xfrm>
              <a:off x="7813040" y="2801197"/>
              <a:ext cx="3705860" cy="1057909"/>
              <a:chOff x="7813040" y="2801197"/>
              <a:chExt cx="3705860" cy="1057909"/>
            </a:xfrm>
          </p:grpSpPr>
          <p:sp>
            <p:nvSpPr>
              <p:cNvPr id="285" name="Text6"/>
              <p:cNvSpPr txBox="1"/>
              <p:nvPr/>
            </p:nvSpPr>
            <p:spPr>
              <a:xfrm>
                <a:off x="7813042" y="3216551"/>
                <a:ext cx="3705858" cy="642555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点击任一节点进入详情页，查看其基本信息、历史曲线、告警记录、控制面板等全部信息。</a:t>
                </a:r>
                <a:endParaRPr lang="en-US" dirty="0"/>
              </a:p>
            </p:txBody>
          </p:sp>
          <p:sp>
            <p:nvSpPr>
              <p:cNvPr id="286" name="Bullet6"/>
              <p:cNvSpPr txBox="1"/>
              <p:nvPr/>
            </p:nvSpPr>
            <p:spPr>
              <a:xfrm>
                <a:off x="7813040" y="2801197"/>
                <a:ext cx="3705860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节点详情页功能</a:t>
                </a:r>
                <a:endParaRPr lang="en-US" dirty="0"/>
              </a:p>
            </p:txBody>
          </p:sp>
        </p:grpSp>
        <p:grpSp>
          <p:nvGrpSpPr>
            <p:cNvPr id="279" name="组合 278"/>
            <p:cNvGrpSpPr/>
            <p:nvPr/>
          </p:nvGrpSpPr>
          <p:grpSpPr>
            <a:xfrm>
              <a:off x="7813040" y="3938694"/>
              <a:ext cx="3705860" cy="1057909"/>
              <a:chOff x="7813040" y="3938694"/>
              <a:chExt cx="3705860" cy="1057909"/>
            </a:xfrm>
          </p:grpSpPr>
          <p:sp>
            <p:nvSpPr>
              <p:cNvPr id="283" name="Text7"/>
              <p:cNvSpPr txBox="1"/>
              <p:nvPr/>
            </p:nvSpPr>
            <p:spPr>
              <a:xfrm>
                <a:off x="7813042" y="4354048"/>
                <a:ext cx="3705858" cy="642555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用户选择起止时间，系统查询对应区间数据并重新渲染图表，支持跨天、跨月分析。</a:t>
                </a:r>
                <a:endParaRPr lang="en-US" dirty="0"/>
              </a:p>
            </p:txBody>
          </p:sp>
          <p:sp>
            <p:nvSpPr>
              <p:cNvPr id="284" name="Bullet7"/>
              <p:cNvSpPr txBox="1"/>
              <p:nvPr/>
            </p:nvSpPr>
            <p:spPr>
              <a:xfrm>
                <a:off x="7813040" y="3938694"/>
                <a:ext cx="3705860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自定义时间范围查询</a:t>
                </a:r>
                <a:endParaRPr lang="en-US" dirty="0"/>
              </a:p>
            </p:txBody>
          </p:sp>
        </p:grpSp>
        <p:grpSp>
          <p:nvGrpSpPr>
            <p:cNvPr id="280" name="组合 279"/>
            <p:cNvGrpSpPr/>
            <p:nvPr/>
          </p:nvGrpSpPr>
          <p:grpSpPr>
            <a:xfrm>
              <a:off x="7813040" y="5076191"/>
              <a:ext cx="3705860" cy="1057909"/>
              <a:chOff x="7813040" y="5076191"/>
              <a:chExt cx="3705860" cy="1057909"/>
            </a:xfrm>
          </p:grpSpPr>
          <p:sp>
            <p:nvSpPr>
              <p:cNvPr id="281" name="Text8"/>
              <p:cNvSpPr txBox="1"/>
              <p:nvPr/>
            </p:nvSpPr>
            <p:spPr>
              <a:xfrm>
                <a:off x="7813042" y="5491545"/>
                <a:ext cx="3705858" cy="642555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点击折线图某一点，其他图表同步聚焦该时刻数据，增强数据关联性理解。</a:t>
                </a:r>
                <a:endParaRPr lang="en-US" dirty="0"/>
              </a:p>
            </p:txBody>
          </p:sp>
          <p:sp>
            <p:nvSpPr>
              <p:cNvPr id="282" name="Bullet8"/>
              <p:cNvSpPr txBox="1"/>
              <p:nvPr/>
            </p:nvSpPr>
            <p:spPr>
              <a:xfrm>
                <a:off x="7813040" y="5076191"/>
                <a:ext cx="3705860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多图表联动交互</a:t>
                </a:r>
                <a:endParaRPr lang="en-US" dirty="0"/>
              </a:p>
            </p:txBody>
          </p:sp>
        </p:grpSp>
        <p:grpSp>
          <p:nvGrpSpPr>
            <p:cNvPr id="2" name="组合 1"/>
            <p:cNvGrpSpPr/>
            <p:nvPr/>
          </p:nvGrpSpPr>
          <p:grpSpPr>
            <a:xfrm>
              <a:off x="4602101" y="2506078"/>
              <a:ext cx="2987800" cy="2773473"/>
              <a:chOff x="4602101" y="2506078"/>
              <a:chExt cx="2987800" cy="2773473"/>
            </a:xfrm>
          </p:grpSpPr>
          <p:cxnSp>
            <p:nvCxnSpPr>
              <p:cNvPr id="3" name="直接箭头连接符 2"/>
              <p:cNvCxnSpPr/>
              <p:nvPr/>
            </p:nvCxnSpPr>
            <p:spPr>
              <a:xfrm>
                <a:off x="6089650" y="2749550"/>
                <a:ext cx="0" cy="2294572"/>
              </a:xfrm>
              <a:prstGeom prst="straightConnector1">
                <a:avLst/>
              </a:prstGeom>
              <a:ln w="6350" cap="rnd">
                <a:solidFill>
                  <a:schemeClr val="tx1">
                    <a:alpha val="50000"/>
                  </a:schemeClr>
                </a:solidFill>
                <a:round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直接箭头连接符 3"/>
              <p:cNvCxnSpPr/>
              <p:nvPr/>
            </p:nvCxnSpPr>
            <p:spPr>
              <a:xfrm>
                <a:off x="4835741" y="3892549"/>
                <a:ext cx="2507818" cy="0"/>
              </a:xfrm>
              <a:prstGeom prst="straightConnector1">
                <a:avLst/>
              </a:prstGeom>
              <a:ln w="6350" cap="rnd">
                <a:solidFill>
                  <a:schemeClr val="tx1">
                    <a:alpha val="50000"/>
                  </a:schemeClr>
                </a:solidFill>
                <a:round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矩形: 圆角 4"/>
              <p:cNvSpPr/>
              <p:nvPr/>
            </p:nvSpPr>
            <p:spPr>
              <a:xfrm>
                <a:off x="4602101" y="2506078"/>
                <a:ext cx="1260000" cy="1260000"/>
              </a:xfrm>
              <a:prstGeom prst="roundRect">
                <a:avLst>
                  <a:gd name="adj" fmla="val 12758"/>
                </a:avLst>
              </a:prstGeom>
              <a:solidFill>
                <a:schemeClr val="accent1"/>
              </a:solidFill>
              <a:ln w="190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i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" name="矩形: 圆角 5"/>
              <p:cNvSpPr/>
              <p:nvPr/>
            </p:nvSpPr>
            <p:spPr>
              <a:xfrm>
                <a:off x="6329901" y="2506078"/>
                <a:ext cx="1260000" cy="1260000"/>
              </a:xfrm>
              <a:prstGeom prst="roundRect">
                <a:avLst>
                  <a:gd name="adj" fmla="val 12758"/>
                </a:avLst>
              </a:prstGeom>
              <a:solidFill>
                <a:schemeClr val="accent2"/>
              </a:solidFill>
              <a:ln w="6350">
                <a:noFill/>
                <a:miter lim="400000"/>
              </a:ln>
            </p:spPr>
            <p:txBody>
              <a:bodyPr wrap="non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" name="矩形: 圆角 6"/>
              <p:cNvSpPr/>
              <p:nvPr/>
            </p:nvSpPr>
            <p:spPr>
              <a:xfrm>
                <a:off x="4602101" y="4019551"/>
                <a:ext cx="1260000" cy="1260000"/>
              </a:xfrm>
              <a:prstGeom prst="roundRect">
                <a:avLst>
                  <a:gd name="adj" fmla="val 12758"/>
                </a:avLst>
              </a:prstGeom>
              <a:solidFill>
                <a:schemeClr val="accent2"/>
              </a:solidFill>
              <a:ln w="6350">
                <a:noFill/>
                <a:miter lim="400000"/>
              </a:ln>
            </p:spPr>
            <p:txBody>
              <a:bodyPr wrap="non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" name="矩形: 圆角 7"/>
              <p:cNvSpPr/>
              <p:nvPr/>
            </p:nvSpPr>
            <p:spPr>
              <a:xfrm>
                <a:off x="6329901" y="4019551"/>
                <a:ext cx="1260000" cy="1260000"/>
              </a:xfrm>
              <a:prstGeom prst="roundRect">
                <a:avLst>
                  <a:gd name="adj" fmla="val 12758"/>
                </a:avLst>
              </a:prstGeom>
              <a:solidFill>
                <a:schemeClr val="accent1"/>
              </a:solidFill>
              <a:ln w="190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i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4920516" y="2824493"/>
                <a:ext cx="623170" cy="623170"/>
              </a:xfrm>
              <a:prstGeom prst="ellipse">
                <a:avLst/>
              </a:prstGeom>
              <a:solidFill>
                <a:srgbClr val="FFFFFF"/>
              </a:solidFill>
              <a:ln w="190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i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6648316" y="2824493"/>
                <a:ext cx="623170" cy="623170"/>
              </a:xfrm>
              <a:prstGeom prst="ellipse">
                <a:avLst/>
              </a:prstGeom>
              <a:solidFill>
                <a:srgbClr val="FFFFFF"/>
              </a:solidFill>
              <a:ln w="190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i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4920516" y="4337966"/>
                <a:ext cx="623170" cy="623170"/>
              </a:xfrm>
              <a:prstGeom prst="ellipse">
                <a:avLst/>
              </a:prstGeom>
              <a:solidFill>
                <a:srgbClr val="FFFFFF"/>
              </a:solidFill>
              <a:ln w="190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i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6648316" y="4337966"/>
                <a:ext cx="623170" cy="623170"/>
              </a:xfrm>
              <a:prstGeom prst="ellipse">
                <a:avLst/>
              </a:prstGeom>
              <a:solidFill>
                <a:srgbClr val="FFFFFF"/>
              </a:solidFill>
              <a:ln w="190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i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IconMisc1"/>
              <p:cNvSpPr/>
              <p:nvPr/>
            </p:nvSpPr>
            <p:spPr>
              <a:xfrm>
                <a:off x="5067410" y="2966730"/>
                <a:ext cx="329382" cy="338697"/>
              </a:xfrm>
              <a:custGeom>
                <a:avLst/>
                <a:gdLst>
                  <a:gd name="connsiteX0" fmla="*/ 55716 w 548304"/>
                  <a:gd name="connsiteY0" fmla="*/ 411052 h 563809"/>
                  <a:gd name="connsiteX1" fmla="*/ 31536 w 548304"/>
                  <a:gd name="connsiteY1" fmla="*/ 438274 h 563809"/>
                  <a:gd name="connsiteX2" fmla="*/ 55716 w 548304"/>
                  <a:gd name="connsiteY2" fmla="*/ 465451 h 563809"/>
                  <a:gd name="connsiteX3" fmla="*/ 150498 w 548304"/>
                  <a:gd name="connsiteY3" fmla="*/ 465451 h 563809"/>
                  <a:gd name="connsiteX4" fmla="*/ 174635 w 548304"/>
                  <a:gd name="connsiteY4" fmla="*/ 438274 h 563809"/>
                  <a:gd name="connsiteX5" fmla="*/ 150498 w 548304"/>
                  <a:gd name="connsiteY5" fmla="*/ 411052 h 563809"/>
                  <a:gd name="connsiteX6" fmla="*/ 332628 w 548304"/>
                  <a:gd name="connsiteY6" fmla="*/ 405539 h 563809"/>
                  <a:gd name="connsiteX7" fmla="*/ 390676 w 548304"/>
                  <a:gd name="connsiteY7" fmla="*/ 463201 h 563809"/>
                  <a:gd name="connsiteX8" fmla="*/ 304705 w 548304"/>
                  <a:gd name="connsiteY8" fmla="*/ 490776 h 563809"/>
                  <a:gd name="connsiteX9" fmla="*/ 55716 w 548304"/>
                  <a:gd name="connsiteY9" fmla="*/ 254463 h 563809"/>
                  <a:gd name="connsiteX10" fmla="*/ 31536 w 548304"/>
                  <a:gd name="connsiteY10" fmla="*/ 281640 h 563809"/>
                  <a:gd name="connsiteX11" fmla="*/ 55716 w 548304"/>
                  <a:gd name="connsiteY11" fmla="*/ 308862 h 563809"/>
                  <a:gd name="connsiteX12" fmla="*/ 150498 w 548304"/>
                  <a:gd name="connsiteY12" fmla="*/ 308862 h 563809"/>
                  <a:gd name="connsiteX13" fmla="*/ 174635 w 548304"/>
                  <a:gd name="connsiteY13" fmla="*/ 281640 h 563809"/>
                  <a:gd name="connsiteX14" fmla="*/ 150498 w 548304"/>
                  <a:gd name="connsiteY14" fmla="*/ 254463 h 563809"/>
                  <a:gd name="connsiteX15" fmla="*/ 55716 w 548304"/>
                  <a:gd name="connsiteY15" fmla="*/ 97742 h 563809"/>
                  <a:gd name="connsiteX16" fmla="*/ 31536 w 548304"/>
                  <a:gd name="connsiteY16" fmla="*/ 124963 h 563809"/>
                  <a:gd name="connsiteX17" fmla="*/ 55716 w 548304"/>
                  <a:gd name="connsiteY17" fmla="*/ 152141 h 563809"/>
                  <a:gd name="connsiteX18" fmla="*/ 150498 w 548304"/>
                  <a:gd name="connsiteY18" fmla="*/ 152141 h 563809"/>
                  <a:gd name="connsiteX19" fmla="*/ 174635 w 548304"/>
                  <a:gd name="connsiteY19" fmla="*/ 124963 h 563809"/>
                  <a:gd name="connsiteX20" fmla="*/ 150498 w 548304"/>
                  <a:gd name="connsiteY20" fmla="*/ 97742 h 563809"/>
                  <a:gd name="connsiteX21" fmla="*/ 91127 w 548304"/>
                  <a:gd name="connsiteY21" fmla="*/ 0 h 563809"/>
                  <a:gd name="connsiteX22" fmla="*/ 548128 w 548304"/>
                  <a:gd name="connsiteY22" fmla="*/ 0 h 563809"/>
                  <a:gd name="connsiteX23" fmla="*/ 548128 w 548304"/>
                  <a:gd name="connsiteY23" fmla="*/ 168702 h 563809"/>
                  <a:gd name="connsiteX24" fmla="*/ 545573 w 548304"/>
                  <a:gd name="connsiteY24" fmla="*/ 166148 h 563809"/>
                  <a:gd name="connsiteX25" fmla="*/ 315311 w 548304"/>
                  <a:gd name="connsiteY25" fmla="*/ 395019 h 563809"/>
                  <a:gd name="connsiteX26" fmla="*/ 274086 w 548304"/>
                  <a:gd name="connsiteY26" fmla="*/ 521391 h 563809"/>
                  <a:gd name="connsiteX27" fmla="*/ 401285 w 548304"/>
                  <a:gd name="connsiteY27" fmla="*/ 480295 h 563809"/>
                  <a:gd name="connsiteX28" fmla="*/ 548304 w 548304"/>
                  <a:gd name="connsiteY28" fmla="*/ 334145 h 563809"/>
                  <a:gd name="connsiteX29" fmla="*/ 548304 w 548304"/>
                  <a:gd name="connsiteY29" fmla="*/ 563809 h 563809"/>
                  <a:gd name="connsiteX30" fmla="*/ 91127 w 548304"/>
                  <a:gd name="connsiteY30" fmla="*/ 563809 h 563809"/>
                  <a:gd name="connsiteX31" fmla="*/ 91127 w 548304"/>
                  <a:gd name="connsiteY31" fmla="*/ 496637 h 563809"/>
                  <a:gd name="connsiteX32" fmla="*/ 55716 w 548304"/>
                  <a:gd name="connsiteY32" fmla="*/ 496637 h 563809"/>
                  <a:gd name="connsiteX33" fmla="*/ 0 w 548304"/>
                  <a:gd name="connsiteY33" fmla="*/ 438141 h 563809"/>
                  <a:gd name="connsiteX34" fmla="*/ 55716 w 548304"/>
                  <a:gd name="connsiteY34" fmla="*/ 379602 h 563809"/>
                  <a:gd name="connsiteX35" fmla="*/ 91127 w 548304"/>
                  <a:gd name="connsiteY35" fmla="*/ 379602 h 563809"/>
                  <a:gd name="connsiteX36" fmla="*/ 91127 w 548304"/>
                  <a:gd name="connsiteY36" fmla="*/ 340003 h 563809"/>
                  <a:gd name="connsiteX37" fmla="*/ 55716 w 548304"/>
                  <a:gd name="connsiteY37" fmla="*/ 340003 h 563809"/>
                  <a:gd name="connsiteX38" fmla="*/ 0 w 548304"/>
                  <a:gd name="connsiteY38" fmla="*/ 281552 h 563809"/>
                  <a:gd name="connsiteX39" fmla="*/ 55716 w 548304"/>
                  <a:gd name="connsiteY39" fmla="*/ 222969 h 563809"/>
                  <a:gd name="connsiteX40" fmla="*/ 91127 w 548304"/>
                  <a:gd name="connsiteY40" fmla="*/ 222969 h 563809"/>
                  <a:gd name="connsiteX41" fmla="*/ 91127 w 548304"/>
                  <a:gd name="connsiteY41" fmla="*/ 183414 h 563809"/>
                  <a:gd name="connsiteX42" fmla="*/ 55716 w 548304"/>
                  <a:gd name="connsiteY42" fmla="*/ 183414 h 563809"/>
                  <a:gd name="connsiteX43" fmla="*/ 0 w 548304"/>
                  <a:gd name="connsiteY43" fmla="*/ 124963 h 563809"/>
                  <a:gd name="connsiteX44" fmla="*/ 55716 w 548304"/>
                  <a:gd name="connsiteY44" fmla="*/ 66468 h 563809"/>
                  <a:gd name="connsiteX45" fmla="*/ 91127 w 548304"/>
                  <a:gd name="connsiteY45" fmla="*/ 66468 h 563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48304" h="563809">
                    <a:moveTo>
                      <a:pt x="55716" y="411052"/>
                    </a:moveTo>
                    <a:cubicBezTo>
                      <a:pt x="38539" y="411052"/>
                      <a:pt x="31536" y="418981"/>
                      <a:pt x="31536" y="438274"/>
                    </a:cubicBezTo>
                    <a:cubicBezTo>
                      <a:pt x="31536" y="457655"/>
                      <a:pt x="38450" y="465451"/>
                      <a:pt x="55716" y="465451"/>
                    </a:cubicBezTo>
                    <a:lnTo>
                      <a:pt x="150498" y="465451"/>
                    </a:lnTo>
                    <a:cubicBezTo>
                      <a:pt x="167764" y="465451"/>
                      <a:pt x="174635" y="457655"/>
                      <a:pt x="174635" y="438274"/>
                    </a:cubicBezTo>
                    <a:cubicBezTo>
                      <a:pt x="174635" y="418893"/>
                      <a:pt x="167764" y="411052"/>
                      <a:pt x="150498" y="411052"/>
                    </a:cubicBezTo>
                    <a:close/>
                    <a:moveTo>
                      <a:pt x="332628" y="405539"/>
                    </a:moveTo>
                    <a:lnTo>
                      <a:pt x="390676" y="463201"/>
                    </a:lnTo>
                    <a:lnTo>
                      <a:pt x="304705" y="490776"/>
                    </a:lnTo>
                    <a:close/>
                    <a:moveTo>
                      <a:pt x="55716" y="254463"/>
                    </a:moveTo>
                    <a:cubicBezTo>
                      <a:pt x="38539" y="254463"/>
                      <a:pt x="31536" y="262348"/>
                      <a:pt x="31536" y="281640"/>
                    </a:cubicBezTo>
                    <a:cubicBezTo>
                      <a:pt x="31536" y="301021"/>
                      <a:pt x="38450" y="308862"/>
                      <a:pt x="55716" y="308862"/>
                    </a:cubicBezTo>
                    <a:lnTo>
                      <a:pt x="150498" y="308862"/>
                    </a:lnTo>
                    <a:cubicBezTo>
                      <a:pt x="167764" y="308862"/>
                      <a:pt x="174635" y="301021"/>
                      <a:pt x="174635" y="281640"/>
                    </a:cubicBezTo>
                    <a:cubicBezTo>
                      <a:pt x="174635" y="262260"/>
                      <a:pt x="167764" y="254463"/>
                      <a:pt x="150498" y="254463"/>
                    </a:cubicBezTo>
                    <a:close/>
                    <a:moveTo>
                      <a:pt x="55716" y="97742"/>
                    </a:moveTo>
                    <a:cubicBezTo>
                      <a:pt x="38539" y="97742"/>
                      <a:pt x="31536" y="105670"/>
                      <a:pt x="31536" y="124963"/>
                    </a:cubicBezTo>
                    <a:cubicBezTo>
                      <a:pt x="31536" y="144344"/>
                      <a:pt x="38450" y="152141"/>
                      <a:pt x="55716" y="152141"/>
                    </a:cubicBezTo>
                    <a:lnTo>
                      <a:pt x="150498" y="152141"/>
                    </a:lnTo>
                    <a:cubicBezTo>
                      <a:pt x="167764" y="152141"/>
                      <a:pt x="174635" y="144344"/>
                      <a:pt x="174635" y="124963"/>
                    </a:cubicBezTo>
                    <a:cubicBezTo>
                      <a:pt x="174635" y="105538"/>
                      <a:pt x="167764" y="97742"/>
                      <a:pt x="150498" y="97742"/>
                    </a:cubicBezTo>
                    <a:close/>
                    <a:moveTo>
                      <a:pt x="91127" y="0"/>
                    </a:moveTo>
                    <a:lnTo>
                      <a:pt x="548128" y="0"/>
                    </a:lnTo>
                    <a:lnTo>
                      <a:pt x="548128" y="168702"/>
                    </a:lnTo>
                    <a:lnTo>
                      <a:pt x="545573" y="166148"/>
                    </a:lnTo>
                    <a:lnTo>
                      <a:pt x="315311" y="395019"/>
                    </a:lnTo>
                    <a:lnTo>
                      <a:pt x="274086" y="521391"/>
                    </a:lnTo>
                    <a:lnTo>
                      <a:pt x="401285" y="480295"/>
                    </a:lnTo>
                    <a:lnTo>
                      <a:pt x="548304" y="334145"/>
                    </a:lnTo>
                    <a:lnTo>
                      <a:pt x="548304" y="563809"/>
                    </a:lnTo>
                    <a:lnTo>
                      <a:pt x="91127" y="563809"/>
                    </a:lnTo>
                    <a:lnTo>
                      <a:pt x="91127" y="496637"/>
                    </a:lnTo>
                    <a:lnTo>
                      <a:pt x="55716" y="496637"/>
                    </a:lnTo>
                    <a:cubicBezTo>
                      <a:pt x="20789" y="496637"/>
                      <a:pt x="0" y="474789"/>
                      <a:pt x="0" y="438141"/>
                    </a:cubicBezTo>
                    <a:cubicBezTo>
                      <a:pt x="0" y="401538"/>
                      <a:pt x="20789" y="379602"/>
                      <a:pt x="55716" y="379602"/>
                    </a:cubicBezTo>
                    <a:lnTo>
                      <a:pt x="91127" y="379602"/>
                    </a:lnTo>
                    <a:lnTo>
                      <a:pt x="91127" y="340003"/>
                    </a:lnTo>
                    <a:lnTo>
                      <a:pt x="55716" y="340003"/>
                    </a:lnTo>
                    <a:cubicBezTo>
                      <a:pt x="20789" y="340003"/>
                      <a:pt x="0" y="318288"/>
                      <a:pt x="0" y="281552"/>
                    </a:cubicBezTo>
                    <a:cubicBezTo>
                      <a:pt x="0" y="244905"/>
                      <a:pt x="20789" y="222969"/>
                      <a:pt x="55716" y="222969"/>
                    </a:cubicBezTo>
                    <a:lnTo>
                      <a:pt x="91127" y="222969"/>
                    </a:lnTo>
                    <a:lnTo>
                      <a:pt x="91127" y="183414"/>
                    </a:lnTo>
                    <a:lnTo>
                      <a:pt x="55716" y="183414"/>
                    </a:lnTo>
                    <a:cubicBezTo>
                      <a:pt x="20789" y="183414"/>
                      <a:pt x="0" y="161699"/>
                      <a:pt x="0" y="124963"/>
                    </a:cubicBezTo>
                    <a:cubicBezTo>
                      <a:pt x="0" y="88404"/>
                      <a:pt x="20789" y="66468"/>
                      <a:pt x="55716" y="66468"/>
                    </a:cubicBezTo>
                    <a:lnTo>
                      <a:pt x="91127" y="66468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i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IconMisc2"/>
              <p:cNvSpPr/>
              <p:nvPr/>
            </p:nvSpPr>
            <p:spPr>
              <a:xfrm>
                <a:off x="6790579" y="2966730"/>
                <a:ext cx="338644" cy="338697"/>
              </a:xfrm>
              <a:custGeom>
                <a:avLst/>
                <a:gdLst>
                  <a:gd name="connsiteX0" fmla="*/ 116292 w 372033"/>
                  <a:gd name="connsiteY0" fmla="*/ 302332 h 372091"/>
                  <a:gd name="connsiteX1" fmla="*/ 255799 w 372033"/>
                  <a:gd name="connsiteY1" fmla="*/ 302332 h 372091"/>
                  <a:gd name="connsiteX2" fmla="*/ 255799 w 372033"/>
                  <a:gd name="connsiteY2" fmla="*/ 325588 h 372091"/>
                  <a:gd name="connsiteX3" fmla="*/ 116292 w 372033"/>
                  <a:gd name="connsiteY3" fmla="*/ 325588 h 372091"/>
                  <a:gd name="connsiteX4" fmla="*/ 116292 w 372033"/>
                  <a:gd name="connsiteY4" fmla="*/ 232563 h 372091"/>
                  <a:gd name="connsiteX5" fmla="*/ 255799 w 372033"/>
                  <a:gd name="connsiteY5" fmla="*/ 232563 h 372091"/>
                  <a:gd name="connsiteX6" fmla="*/ 255799 w 372033"/>
                  <a:gd name="connsiteY6" fmla="*/ 255819 h 372091"/>
                  <a:gd name="connsiteX7" fmla="*/ 116292 w 372033"/>
                  <a:gd name="connsiteY7" fmla="*/ 255819 h 372091"/>
                  <a:gd name="connsiteX8" fmla="*/ 93023 w 372033"/>
                  <a:gd name="connsiteY8" fmla="*/ 209313 h 372091"/>
                  <a:gd name="connsiteX9" fmla="*/ 93023 w 372033"/>
                  <a:gd name="connsiteY9" fmla="*/ 348837 h 372091"/>
                  <a:gd name="connsiteX10" fmla="*/ 279068 w 372033"/>
                  <a:gd name="connsiteY10" fmla="*/ 348837 h 372091"/>
                  <a:gd name="connsiteX11" fmla="*/ 279068 w 372033"/>
                  <a:gd name="connsiteY11" fmla="*/ 209313 h 372091"/>
                  <a:gd name="connsiteX12" fmla="*/ 48604 w 372033"/>
                  <a:gd name="connsiteY12" fmla="*/ 113332 h 372091"/>
                  <a:gd name="connsiteX13" fmla="*/ 29244 w 372033"/>
                  <a:gd name="connsiteY13" fmla="*/ 132749 h 372091"/>
                  <a:gd name="connsiteX14" fmla="*/ 48604 w 372033"/>
                  <a:gd name="connsiteY14" fmla="*/ 152137 h 372091"/>
                  <a:gd name="connsiteX15" fmla="*/ 67994 w 372033"/>
                  <a:gd name="connsiteY15" fmla="*/ 132749 h 372091"/>
                  <a:gd name="connsiteX16" fmla="*/ 48604 w 372033"/>
                  <a:gd name="connsiteY16" fmla="*/ 113332 h 372091"/>
                  <a:gd name="connsiteX17" fmla="*/ 15523 w 372033"/>
                  <a:gd name="connsiteY17" fmla="*/ 69789 h 372091"/>
                  <a:gd name="connsiteX18" fmla="*/ 356597 w 372033"/>
                  <a:gd name="connsiteY18" fmla="*/ 69789 h 372091"/>
                  <a:gd name="connsiteX19" fmla="*/ 372033 w 372033"/>
                  <a:gd name="connsiteY19" fmla="*/ 93043 h 372091"/>
                  <a:gd name="connsiteX20" fmla="*/ 372033 w 372033"/>
                  <a:gd name="connsiteY20" fmla="*/ 263582 h 372091"/>
                  <a:gd name="connsiteX21" fmla="*/ 356568 w 372033"/>
                  <a:gd name="connsiteY21" fmla="*/ 279075 h 372091"/>
                  <a:gd name="connsiteX22" fmla="*/ 302324 w 372033"/>
                  <a:gd name="connsiteY22" fmla="*/ 279075 h 372091"/>
                  <a:gd name="connsiteX23" fmla="*/ 302324 w 372033"/>
                  <a:gd name="connsiteY23" fmla="*/ 364330 h 372091"/>
                  <a:gd name="connsiteX24" fmla="*/ 294562 w 372033"/>
                  <a:gd name="connsiteY24" fmla="*/ 372091 h 372091"/>
                  <a:gd name="connsiteX25" fmla="*/ 77500 w 372033"/>
                  <a:gd name="connsiteY25" fmla="*/ 372091 h 372091"/>
                  <a:gd name="connsiteX26" fmla="*/ 69767 w 372033"/>
                  <a:gd name="connsiteY26" fmla="*/ 364330 h 372091"/>
                  <a:gd name="connsiteX27" fmla="*/ 69767 w 372033"/>
                  <a:gd name="connsiteY27" fmla="*/ 279075 h 372091"/>
                  <a:gd name="connsiteX28" fmla="*/ 15523 w 372033"/>
                  <a:gd name="connsiteY28" fmla="*/ 279075 h 372091"/>
                  <a:gd name="connsiteX29" fmla="*/ 0 w 372033"/>
                  <a:gd name="connsiteY29" fmla="*/ 263582 h 372091"/>
                  <a:gd name="connsiteX30" fmla="*/ 0 w 372033"/>
                  <a:gd name="connsiteY30" fmla="*/ 93043 h 372091"/>
                  <a:gd name="connsiteX31" fmla="*/ 15523 w 372033"/>
                  <a:gd name="connsiteY31" fmla="*/ 69789 h 372091"/>
                  <a:gd name="connsiteX32" fmla="*/ 77520 w 372033"/>
                  <a:gd name="connsiteY32" fmla="*/ 0 h 372091"/>
                  <a:gd name="connsiteX33" fmla="*/ 294542 w 372033"/>
                  <a:gd name="connsiteY33" fmla="*/ 0 h 372091"/>
                  <a:gd name="connsiteX34" fmla="*/ 302302 w 372033"/>
                  <a:gd name="connsiteY34" fmla="*/ 7762 h 372091"/>
                  <a:gd name="connsiteX35" fmla="*/ 302302 w 372033"/>
                  <a:gd name="connsiteY35" fmla="*/ 69769 h 372091"/>
                  <a:gd name="connsiteX36" fmla="*/ 279051 w 372033"/>
                  <a:gd name="connsiteY36" fmla="*/ 69769 h 372091"/>
                  <a:gd name="connsiteX37" fmla="*/ 279051 w 372033"/>
                  <a:gd name="connsiteY37" fmla="*/ 23256 h 372091"/>
                  <a:gd name="connsiteX38" fmla="*/ 93040 w 372033"/>
                  <a:gd name="connsiteY38" fmla="*/ 23256 h 372091"/>
                  <a:gd name="connsiteX39" fmla="*/ 93040 w 372033"/>
                  <a:gd name="connsiteY39" fmla="*/ 69769 h 372091"/>
                  <a:gd name="connsiteX40" fmla="*/ 69789 w 372033"/>
                  <a:gd name="connsiteY40" fmla="*/ 69769 h 372091"/>
                  <a:gd name="connsiteX41" fmla="*/ 69789 w 372033"/>
                  <a:gd name="connsiteY41" fmla="*/ 7762 h 372091"/>
                  <a:gd name="connsiteX42" fmla="*/ 77520 w 372033"/>
                  <a:gd name="connsiteY42" fmla="*/ 0 h 372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372033" h="372091">
                    <a:moveTo>
                      <a:pt x="116292" y="302332"/>
                    </a:moveTo>
                    <a:lnTo>
                      <a:pt x="255799" y="302332"/>
                    </a:lnTo>
                    <a:lnTo>
                      <a:pt x="255799" y="325588"/>
                    </a:lnTo>
                    <a:lnTo>
                      <a:pt x="116292" y="325588"/>
                    </a:lnTo>
                    <a:close/>
                    <a:moveTo>
                      <a:pt x="116292" y="232563"/>
                    </a:moveTo>
                    <a:lnTo>
                      <a:pt x="255799" y="232563"/>
                    </a:lnTo>
                    <a:lnTo>
                      <a:pt x="255799" y="255819"/>
                    </a:lnTo>
                    <a:lnTo>
                      <a:pt x="116292" y="255819"/>
                    </a:lnTo>
                    <a:close/>
                    <a:moveTo>
                      <a:pt x="93023" y="209313"/>
                    </a:moveTo>
                    <a:lnTo>
                      <a:pt x="93023" y="348837"/>
                    </a:lnTo>
                    <a:lnTo>
                      <a:pt x="279068" y="348837"/>
                    </a:lnTo>
                    <a:lnTo>
                      <a:pt x="279068" y="209313"/>
                    </a:lnTo>
                    <a:close/>
                    <a:moveTo>
                      <a:pt x="48604" y="113332"/>
                    </a:moveTo>
                    <a:cubicBezTo>
                      <a:pt x="37936" y="113332"/>
                      <a:pt x="29244" y="122024"/>
                      <a:pt x="29244" y="132749"/>
                    </a:cubicBezTo>
                    <a:cubicBezTo>
                      <a:pt x="29244" y="143446"/>
                      <a:pt x="37878" y="152137"/>
                      <a:pt x="48604" y="152137"/>
                    </a:cubicBezTo>
                    <a:cubicBezTo>
                      <a:pt x="59331" y="152137"/>
                      <a:pt x="67994" y="143446"/>
                      <a:pt x="67994" y="132749"/>
                    </a:cubicBezTo>
                    <a:cubicBezTo>
                      <a:pt x="67994" y="122024"/>
                      <a:pt x="59331" y="113332"/>
                      <a:pt x="48604" y="113332"/>
                    </a:cubicBezTo>
                    <a:close/>
                    <a:moveTo>
                      <a:pt x="15523" y="69789"/>
                    </a:moveTo>
                    <a:lnTo>
                      <a:pt x="356597" y="69789"/>
                    </a:lnTo>
                    <a:cubicBezTo>
                      <a:pt x="365143" y="69789"/>
                      <a:pt x="372091" y="84497"/>
                      <a:pt x="372033" y="93043"/>
                    </a:cubicBezTo>
                    <a:lnTo>
                      <a:pt x="372033" y="263582"/>
                    </a:lnTo>
                    <a:cubicBezTo>
                      <a:pt x="372033" y="272128"/>
                      <a:pt x="365085" y="279075"/>
                      <a:pt x="356568" y="279075"/>
                    </a:cubicBezTo>
                    <a:lnTo>
                      <a:pt x="302324" y="279075"/>
                    </a:lnTo>
                    <a:lnTo>
                      <a:pt x="302324" y="364330"/>
                    </a:lnTo>
                    <a:cubicBezTo>
                      <a:pt x="302324" y="368632"/>
                      <a:pt x="298836" y="372091"/>
                      <a:pt x="294562" y="372091"/>
                    </a:cubicBezTo>
                    <a:lnTo>
                      <a:pt x="77500" y="372091"/>
                    </a:lnTo>
                    <a:cubicBezTo>
                      <a:pt x="73226" y="372091"/>
                      <a:pt x="69767" y="368632"/>
                      <a:pt x="69767" y="364330"/>
                    </a:cubicBezTo>
                    <a:lnTo>
                      <a:pt x="69767" y="279075"/>
                    </a:lnTo>
                    <a:lnTo>
                      <a:pt x="15523" y="279075"/>
                    </a:lnTo>
                    <a:cubicBezTo>
                      <a:pt x="6948" y="279075"/>
                      <a:pt x="0" y="272128"/>
                      <a:pt x="0" y="263582"/>
                    </a:cubicBezTo>
                    <a:lnTo>
                      <a:pt x="0" y="93043"/>
                    </a:lnTo>
                    <a:cubicBezTo>
                      <a:pt x="0" y="84497"/>
                      <a:pt x="6948" y="69789"/>
                      <a:pt x="15523" y="69789"/>
                    </a:cubicBezTo>
                    <a:close/>
                    <a:moveTo>
                      <a:pt x="77520" y="0"/>
                    </a:moveTo>
                    <a:lnTo>
                      <a:pt x="294542" y="0"/>
                    </a:lnTo>
                    <a:cubicBezTo>
                      <a:pt x="298843" y="0"/>
                      <a:pt x="302302" y="3459"/>
                      <a:pt x="302302" y="7762"/>
                    </a:cubicBezTo>
                    <a:lnTo>
                      <a:pt x="302302" y="69769"/>
                    </a:lnTo>
                    <a:lnTo>
                      <a:pt x="279051" y="69769"/>
                    </a:lnTo>
                    <a:lnTo>
                      <a:pt x="279051" y="23256"/>
                    </a:lnTo>
                    <a:lnTo>
                      <a:pt x="93040" y="23256"/>
                    </a:lnTo>
                    <a:lnTo>
                      <a:pt x="93040" y="69769"/>
                    </a:lnTo>
                    <a:lnTo>
                      <a:pt x="69789" y="69769"/>
                    </a:lnTo>
                    <a:lnTo>
                      <a:pt x="69789" y="7762"/>
                    </a:lnTo>
                    <a:cubicBezTo>
                      <a:pt x="69789" y="3459"/>
                      <a:pt x="73248" y="0"/>
                      <a:pt x="775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i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IconMisc3"/>
              <p:cNvSpPr/>
              <p:nvPr/>
            </p:nvSpPr>
            <p:spPr>
              <a:xfrm>
                <a:off x="5062753" y="4483098"/>
                <a:ext cx="338697" cy="332906"/>
              </a:xfrm>
              <a:custGeom>
                <a:avLst/>
                <a:gdLst>
                  <a:gd name="connsiteX0" fmla="*/ 23278 w 162898"/>
                  <a:gd name="connsiteY0" fmla="*/ 122269 h 160113"/>
                  <a:gd name="connsiteX1" fmla="*/ 23278 w 162898"/>
                  <a:gd name="connsiteY1" fmla="*/ 133933 h 160113"/>
                  <a:gd name="connsiteX2" fmla="*/ 26704 w 162898"/>
                  <a:gd name="connsiteY2" fmla="*/ 142167 h 160113"/>
                  <a:gd name="connsiteX3" fmla="*/ 34930 w 162898"/>
                  <a:gd name="connsiteY3" fmla="*/ 145596 h 160113"/>
                  <a:gd name="connsiteX4" fmla="*/ 128005 w 162898"/>
                  <a:gd name="connsiteY4" fmla="*/ 145596 h 160113"/>
                  <a:gd name="connsiteX5" fmla="*/ 136232 w 162898"/>
                  <a:gd name="connsiteY5" fmla="*/ 142167 h 160113"/>
                  <a:gd name="connsiteX6" fmla="*/ 139657 w 162898"/>
                  <a:gd name="connsiteY6" fmla="*/ 133933 h 160113"/>
                  <a:gd name="connsiteX7" fmla="*/ 139657 w 162898"/>
                  <a:gd name="connsiteY7" fmla="*/ 122269 h 160113"/>
                  <a:gd name="connsiteX8" fmla="*/ 142570 w 162898"/>
                  <a:gd name="connsiteY8" fmla="*/ 87328 h 160113"/>
                  <a:gd name="connsiteX9" fmla="*/ 137544 w 162898"/>
                  <a:gd name="connsiteY9" fmla="*/ 90244 h 160113"/>
                  <a:gd name="connsiteX10" fmla="*/ 137544 w 162898"/>
                  <a:gd name="connsiteY10" fmla="*/ 96076 h 160113"/>
                  <a:gd name="connsiteX11" fmla="*/ 142570 w 162898"/>
                  <a:gd name="connsiteY11" fmla="*/ 98992 h 160113"/>
                  <a:gd name="connsiteX12" fmla="*/ 148396 w 162898"/>
                  <a:gd name="connsiteY12" fmla="*/ 93135 h 160113"/>
                  <a:gd name="connsiteX13" fmla="*/ 142570 w 162898"/>
                  <a:gd name="connsiteY13" fmla="*/ 87328 h 160113"/>
                  <a:gd name="connsiteX14" fmla="*/ 11652 w 162898"/>
                  <a:gd name="connsiteY14" fmla="*/ 66967 h 160113"/>
                  <a:gd name="connsiteX15" fmla="*/ 11652 w 162898"/>
                  <a:gd name="connsiteY15" fmla="*/ 78606 h 160113"/>
                  <a:gd name="connsiteX16" fmla="*/ 151309 w 162898"/>
                  <a:gd name="connsiteY16" fmla="*/ 78606 h 160113"/>
                  <a:gd name="connsiteX17" fmla="*/ 151309 w 162898"/>
                  <a:gd name="connsiteY17" fmla="*/ 66967 h 160113"/>
                  <a:gd name="connsiteX18" fmla="*/ 162898 w 162898"/>
                  <a:gd name="connsiteY18" fmla="*/ 78768 h 160113"/>
                  <a:gd name="connsiteX19" fmla="*/ 162898 w 162898"/>
                  <a:gd name="connsiteY19" fmla="*/ 148312 h 160113"/>
                  <a:gd name="connsiteX20" fmla="*/ 150996 w 162898"/>
                  <a:gd name="connsiteY20" fmla="*/ 160113 h 160113"/>
                  <a:gd name="connsiteX21" fmla="*/ 11902 w 162898"/>
                  <a:gd name="connsiteY21" fmla="*/ 160113 h 160113"/>
                  <a:gd name="connsiteX22" fmla="*/ 0 w 162898"/>
                  <a:gd name="connsiteY22" fmla="*/ 148312 h 160113"/>
                  <a:gd name="connsiteX23" fmla="*/ 0 w 162898"/>
                  <a:gd name="connsiteY23" fmla="*/ 78743 h 160113"/>
                  <a:gd name="connsiteX24" fmla="*/ 11652 w 162898"/>
                  <a:gd name="connsiteY24" fmla="*/ 66967 h 160113"/>
                  <a:gd name="connsiteX25" fmla="*/ 54275 w 162898"/>
                  <a:gd name="connsiteY25" fmla="*/ 43124 h 160113"/>
                  <a:gd name="connsiteX26" fmla="*/ 48724 w 162898"/>
                  <a:gd name="connsiteY26" fmla="*/ 48691 h 160113"/>
                  <a:gd name="connsiteX27" fmla="*/ 54275 w 162898"/>
                  <a:gd name="connsiteY27" fmla="*/ 54258 h 160113"/>
                  <a:gd name="connsiteX28" fmla="*/ 107013 w 162898"/>
                  <a:gd name="connsiteY28" fmla="*/ 54258 h 160113"/>
                  <a:gd name="connsiteX29" fmla="*/ 112576 w 162898"/>
                  <a:gd name="connsiteY29" fmla="*/ 48691 h 160113"/>
                  <a:gd name="connsiteX30" fmla="*/ 107013 w 162898"/>
                  <a:gd name="connsiteY30" fmla="*/ 43124 h 160113"/>
                  <a:gd name="connsiteX31" fmla="*/ 58064 w 162898"/>
                  <a:gd name="connsiteY31" fmla="*/ 13824 h 160113"/>
                  <a:gd name="connsiteX32" fmla="*/ 52512 w 162898"/>
                  <a:gd name="connsiteY32" fmla="*/ 19379 h 160113"/>
                  <a:gd name="connsiteX33" fmla="*/ 58064 w 162898"/>
                  <a:gd name="connsiteY33" fmla="*/ 24946 h 160113"/>
                  <a:gd name="connsiteX34" fmla="*/ 110801 w 162898"/>
                  <a:gd name="connsiteY34" fmla="*/ 24946 h 160113"/>
                  <a:gd name="connsiteX35" fmla="*/ 116365 w 162898"/>
                  <a:gd name="connsiteY35" fmla="*/ 19379 h 160113"/>
                  <a:gd name="connsiteX36" fmla="*/ 110801 w 162898"/>
                  <a:gd name="connsiteY36" fmla="*/ 13824 h 160113"/>
                  <a:gd name="connsiteX37" fmla="*/ 48049 w 162898"/>
                  <a:gd name="connsiteY37" fmla="*/ 0 h 160113"/>
                  <a:gd name="connsiteX38" fmla="*/ 129630 w 162898"/>
                  <a:gd name="connsiteY38" fmla="*/ 0 h 160113"/>
                  <a:gd name="connsiteX39" fmla="*/ 130218 w 162898"/>
                  <a:gd name="connsiteY39" fmla="*/ 63 h 160113"/>
                  <a:gd name="connsiteX40" fmla="*/ 130806 w 162898"/>
                  <a:gd name="connsiteY40" fmla="*/ 138 h 160113"/>
                  <a:gd name="connsiteX41" fmla="*/ 130931 w 162898"/>
                  <a:gd name="connsiteY41" fmla="*/ 163 h 160113"/>
                  <a:gd name="connsiteX42" fmla="*/ 131318 w 162898"/>
                  <a:gd name="connsiteY42" fmla="*/ 300 h 160113"/>
                  <a:gd name="connsiteX43" fmla="*/ 131931 w 162898"/>
                  <a:gd name="connsiteY43" fmla="*/ 513 h 160113"/>
                  <a:gd name="connsiteX44" fmla="*/ 132419 w 162898"/>
                  <a:gd name="connsiteY44" fmla="*/ 776 h 160113"/>
                  <a:gd name="connsiteX45" fmla="*/ 132906 w 162898"/>
                  <a:gd name="connsiteY45" fmla="*/ 1063 h 160113"/>
                  <a:gd name="connsiteX46" fmla="*/ 133356 w 162898"/>
                  <a:gd name="connsiteY46" fmla="*/ 1426 h 160113"/>
                  <a:gd name="connsiteX47" fmla="*/ 133756 w 162898"/>
                  <a:gd name="connsiteY47" fmla="*/ 1814 h 160113"/>
                  <a:gd name="connsiteX48" fmla="*/ 134131 w 162898"/>
                  <a:gd name="connsiteY48" fmla="*/ 2264 h 160113"/>
                  <a:gd name="connsiteX49" fmla="*/ 134469 w 162898"/>
                  <a:gd name="connsiteY49" fmla="*/ 2715 h 160113"/>
                  <a:gd name="connsiteX50" fmla="*/ 134719 w 162898"/>
                  <a:gd name="connsiteY50" fmla="*/ 3203 h 160113"/>
                  <a:gd name="connsiteX51" fmla="*/ 134944 w 162898"/>
                  <a:gd name="connsiteY51" fmla="*/ 3728 h 160113"/>
                  <a:gd name="connsiteX52" fmla="*/ 135107 w 162898"/>
                  <a:gd name="connsiteY52" fmla="*/ 4279 h 160113"/>
                  <a:gd name="connsiteX53" fmla="*/ 135244 w 162898"/>
                  <a:gd name="connsiteY53" fmla="*/ 4804 h 160113"/>
                  <a:gd name="connsiteX54" fmla="*/ 135307 w 162898"/>
                  <a:gd name="connsiteY54" fmla="*/ 5467 h 160113"/>
                  <a:gd name="connsiteX55" fmla="*/ 135344 w 162898"/>
                  <a:gd name="connsiteY55" fmla="*/ 5855 h 160113"/>
                  <a:gd name="connsiteX56" fmla="*/ 135344 w 162898"/>
                  <a:gd name="connsiteY56" fmla="*/ 5955 h 160113"/>
                  <a:gd name="connsiteX57" fmla="*/ 135282 w 162898"/>
                  <a:gd name="connsiteY57" fmla="*/ 6568 h 160113"/>
                  <a:gd name="connsiteX58" fmla="*/ 135207 w 162898"/>
                  <a:gd name="connsiteY58" fmla="*/ 7156 h 160113"/>
                  <a:gd name="connsiteX59" fmla="*/ 135182 w 162898"/>
                  <a:gd name="connsiteY59" fmla="*/ 7281 h 160113"/>
                  <a:gd name="connsiteX60" fmla="*/ 126755 w 162898"/>
                  <a:gd name="connsiteY60" fmla="*/ 66569 h 160113"/>
                  <a:gd name="connsiteX61" fmla="*/ 122004 w 162898"/>
                  <a:gd name="connsiteY61" fmla="*/ 72674 h 160113"/>
                  <a:gd name="connsiteX62" fmla="*/ 121929 w 162898"/>
                  <a:gd name="connsiteY62" fmla="*/ 72699 h 160113"/>
                  <a:gd name="connsiteX63" fmla="*/ 121378 w 162898"/>
                  <a:gd name="connsiteY63" fmla="*/ 72799 h 160113"/>
                  <a:gd name="connsiteX64" fmla="*/ 120928 w 162898"/>
                  <a:gd name="connsiteY64" fmla="*/ 72824 h 160113"/>
                  <a:gd name="connsiteX65" fmla="*/ 39334 w 162898"/>
                  <a:gd name="connsiteY65" fmla="*/ 72824 h 160113"/>
                  <a:gd name="connsiteX66" fmla="*/ 33520 w 162898"/>
                  <a:gd name="connsiteY66" fmla="*/ 67019 h 160113"/>
                  <a:gd name="connsiteX67" fmla="*/ 33608 w 162898"/>
                  <a:gd name="connsiteY67" fmla="*/ 66256 h 160113"/>
                  <a:gd name="connsiteX68" fmla="*/ 42360 w 162898"/>
                  <a:gd name="connsiteY68" fmla="*/ 4441 h 160113"/>
                  <a:gd name="connsiteX69" fmla="*/ 42510 w 162898"/>
                  <a:gd name="connsiteY69" fmla="*/ 4053 h 160113"/>
                  <a:gd name="connsiteX70" fmla="*/ 42710 w 162898"/>
                  <a:gd name="connsiteY70" fmla="*/ 3440 h 160113"/>
                  <a:gd name="connsiteX71" fmla="*/ 42960 w 162898"/>
                  <a:gd name="connsiteY71" fmla="*/ 2952 h 160113"/>
                  <a:gd name="connsiteX72" fmla="*/ 43285 w 162898"/>
                  <a:gd name="connsiteY72" fmla="*/ 2440 h 160113"/>
                  <a:gd name="connsiteX73" fmla="*/ 43623 w 162898"/>
                  <a:gd name="connsiteY73" fmla="*/ 2014 h 160113"/>
                  <a:gd name="connsiteX74" fmla="*/ 44010 w 162898"/>
                  <a:gd name="connsiteY74" fmla="*/ 1589 h 160113"/>
                  <a:gd name="connsiteX75" fmla="*/ 44423 w 162898"/>
                  <a:gd name="connsiteY75" fmla="*/ 1239 h 160113"/>
                  <a:gd name="connsiteX76" fmla="*/ 44911 w 162898"/>
                  <a:gd name="connsiteY76" fmla="*/ 876 h 160113"/>
                  <a:gd name="connsiteX77" fmla="*/ 45361 w 162898"/>
                  <a:gd name="connsiteY77" fmla="*/ 651 h 160113"/>
                  <a:gd name="connsiteX78" fmla="*/ 45936 w 162898"/>
                  <a:gd name="connsiteY78" fmla="*/ 388 h 160113"/>
                  <a:gd name="connsiteX79" fmla="*/ 46436 w 162898"/>
                  <a:gd name="connsiteY79" fmla="*/ 250 h 160113"/>
                  <a:gd name="connsiteX80" fmla="*/ 47011 w 162898"/>
                  <a:gd name="connsiteY80" fmla="*/ 100 h 160113"/>
                  <a:gd name="connsiteX81" fmla="*/ 47624 w 162898"/>
                  <a:gd name="connsiteY81" fmla="*/ 38 h 160113"/>
                  <a:gd name="connsiteX82" fmla="*/ 48049 w 162898"/>
                  <a:gd name="connsiteY82" fmla="*/ 0 h 160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</a:cxnLst>
                <a:rect l="l" t="t" r="r" b="b"/>
                <a:pathLst>
                  <a:path w="162898" h="160113">
                    <a:moveTo>
                      <a:pt x="23278" y="122269"/>
                    </a:moveTo>
                    <a:lnTo>
                      <a:pt x="23278" y="133933"/>
                    </a:lnTo>
                    <a:cubicBezTo>
                      <a:pt x="23278" y="137011"/>
                      <a:pt x="24529" y="139990"/>
                      <a:pt x="26704" y="142167"/>
                    </a:cubicBezTo>
                    <a:cubicBezTo>
                      <a:pt x="28879" y="144370"/>
                      <a:pt x="31830" y="145596"/>
                      <a:pt x="34930" y="145596"/>
                    </a:cubicBezTo>
                    <a:lnTo>
                      <a:pt x="128005" y="145596"/>
                    </a:lnTo>
                    <a:cubicBezTo>
                      <a:pt x="131081" y="145596"/>
                      <a:pt x="134056" y="144357"/>
                      <a:pt x="136232" y="142167"/>
                    </a:cubicBezTo>
                    <a:cubicBezTo>
                      <a:pt x="138432" y="139990"/>
                      <a:pt x="139657" y="137036"/>
                      <a:pt x="139657" y="133933"/>
                    </a:cubicBezTo>
                    <a:lnTo>
                      <a:pt x="139657" y="122269"/>
                    </a:lnTo>
                    <a:close/>
                    <a:moveTo>
                      <a:pt x="142570" y="87328"/>
                    </a:moveTo>
                    <a:cubicBezTo>
                      <a:pt x="140495" y="87328"/>
                      <a:pt x="138582" y="88430"/>
                      <a:pt x="137544" y="90244"/>
                    </a:cubicBezTo>
                    <a:cubicBezTo>
                      <a:pt x="136494" y="92034"/>
                      <a:pt x="136494" y="94261"/>
                      <a:pt x="137544" y="96076"/>
                    </a:cubicBezTo>
                    <a:cubicBezTo>
                      <a:pt x="138557" y="97891"/>
                      <a:pt x="140495" y="98992"/>
                      <a:pt x="142570" y="98992"/>
                    </a:cubicBezTo>
                    <a:cubicBezTo>
                      <a:pt x="145783" y="98992"/>
                      <a:pt x="148396" y="96401"/>
                      <a:pt x="148396" y="93135"/>
                    </a:cubicBezTo>
                    <a:cubicBezTo>
                      <a:pt x="148396" y="89944"/>
                      <a:pt x="145770" y="87328"/>
                      <a:pt x="142570" y="87328"/>
                    </a:cubicBezTo>
                    <a:close/>
                    <a:moveTo>
                      <a:pt x="11652" y="66967"/>
                    </a:moveTo>
                    <a:lnTo>
                      <a:pt x="11652" y="78606"/>
                    </a:lnTo>
                    <a:lnTo>
                      <a:pt x="151309" y="78606"/>
                    </a:lnTo>
                    <a:lnTo>
                      <a:pt x="151309" y="66967"/>
                    </a:lnTo>
                    <a:cubicBezTo>
                      <a:pt x="157747" y="67105"/>
                      <a:pt x="162935" y="72323"/>
                      <a:pt x="162898" y="78768"/>
                    </a:cubicBezTo>
                    <a:lnTo>
                      <a:pt x="162898" y="148312"/>
                    </a:lnTo>
                    <a:cubicBezTo>
                      <a:pt x="162898" y="154807"/>
                      <a:pt x="157585" y="160113"/>
                      <a:pt x="150996" y="160113"/>
                    </a:cubicBezTo>
                    <a:lnTo>
                      <a:pt x="11902" y="160113"/>
                    </a:lnTo>
                    <a:cubicBezTo>
                      <a:pt x="5338" y="160113"/>
                      <a:pt x="0" y="154832"/>
                      <a:pt x="0" y="148312"/>
                    </a:cubicBezTo>
                    <a:lnTo>
                      <a:pt x="0" y="78743"/>
                    </a:lnTo>
                    <a:cubicBezTo>
                      <a:pt x="0" y="72323"/>
                      <a:pt x="5201" y="67105"/>
                      <a:pt x="11652" y="66967"/>
                    </a:cubicBezTo>
                    <a:close/>
                    <a:moveTo>
                      <a:pt x="54275" y="43124"/>
                    </a:moveTo>
                    <a:cubicBezTo>
                      <a:pt x="51225" y="43124"/>
                      <a:pt x="48724" y="45651"/>
                      <a:pt x="48724" y="48691"/>
                    </a:cubicBezTo>
                    <a:cubicBezTo>
                      <a:pt x="48724" y="51744"/>
                      <a:pt x="51225" y="54258"/>
                      <a:pt x="54275" y="54258"/>
                    </a:cubicBezTo>
                    <a:lnTo>
                      <a:pt x="107013" y="54258"/>
                    </a:lnTo>
                    <a:cubicBezTo>
                      <a:pt x="110076" y="54258"/>
                      <a:pt x="112576" y="51744"/>
                      <a:pt x="112576" y="48691"/>
                    </a:cubicBezTo>
                    <a:cubicBezTo>
                      <a:pt x="112576" y="45639"/>
                      <a:pt x="110076" y="43124"/>
                      <a:pt x="107013" y="43124"/>
                    </a:cubicBezTo>
                    <a:close/>
                    <a:moveTo>
                      <a:pt x="58064" y="13824"/>
                    </a:moveTo>
                    <a:cubicBezTo>
                      <a:pt x="55013" y="13824"/>
                      <a:pt x="52512" y="16351"/>
                      <a:pt x="52512" y="19379"/>
                    </a:cubicBezTo>
                    <a:cubicBezTo>
                      <a:pt x="52512" y="22444"/>
                      <a:pt x="55013" y="24946"/>
                      <a:pt x="58064" y="24946"/>
                    </a:cubicBezTo>
                    <a:lnTo>
                      <a:pt x="110801" y="24946"/>
                    </a:lnTo>
                    <a:cubicBezTo>
                      <a:pt x="113864" y="24946"/>
                      <a:pt x="116365" y="22444"/>
                      <a:pt x="116365" y="19379"/>
                    </a:cubicBezTo>
                    <a:cubicBezTo>
                      <a:pt x="116365" y="16326"/>
                      <a:pt x="113864" y="13824"/>
                      <a:pt x="110801" y="13824"/>
                    </a:cubicBezTo>
                    <a:close/>
                    <a:moveTo>
                      <a:pt x="48049" y="0"/>
                    </a:moveTo>
                    <a:lnTo>
                      <a:pt x="129630" y="0"/>
                    </a:lnTo>
                    <a:cubicBezTo>
                      <a:pt x="129805" y="25"/>
                      <a:pt x="130030" y="38"/>
                      <a:pt x="130218" y="63"/>
                    </a:cubicBezTo>
                    <a:cubicBezTo>
                      <a:pt x="130418" y="88"/>
                      <a:pt x="130618" y="100"/>
                      <a:pt x="130806" y="138"/>
                    </a:cubicBezTo>
                    <a:cubicBezTo>
                      <a:pt x="130843" y="163"/>
                      <a:pt x="130893" y="163"/>
                      <a:pt x="130931" y="163"/>
                    </a:cubicBezTo>
                    <a:cubicBezTo>
                      <a:pt x="131093" y="200"/>
                      <a:pt x="131193" y="263"/>
                      <a:pt x="131318" y="300"/>
                    </a:cubicBezTo>
                    <a:cubicBezTo>
                      <a:pt x="131518" y="363"/>
                      <a:pt x="131743" y="425"/>
                      <a:pt x="131931" y="513"/>
                    </a:cubicBezTo>
                    <a:cubicBezTo>
                      <a:pt x="132093" y="588"/>
                      <a:pt x="132269" y="676"/>
                      <a:pt x="132419" y="776"/>
                    </a:cubicBezTo>
                    <a:cubicBezTo>
                      <a:pt x="132581" y="876"/>
                      <a:pt x="132756" y="963"/>
                      <a:pt x="132906" y="1063"/>
                    </a:cubicBezTo>
                    <a:cubicBezTo>
                      <a:pt x="133044" y="1176"/>
                      <a:pt x="133206" y="1301"/>
                      <a:pt x="133356" y="1426"/>
                    </a:cubicBezTo>
                    <a:cubicBezTo>
                      <a:pt x="133494" y="1564"/>
                      <a:pt x="133644" y="1689"/>
                      <a:pt x="133756" y="1814"/>
                    </a:cubicBezTo>
                    <a:cubicBezTo>
                      <a:pt x="133906" y="1977"/>
                      <a:pt x="134006" y="2114"/>
                      <a:pt x="134131" y="2264"/>
                    </a:cubicBezTo>
                    <a:cubicBezTo>
                      <a:pt x="134269" y="2427"/>
                      <a:pt x="134369" y="2565"/>
                      <a:pt x="134469" y="2715"/>
                    </a:cubicBezTo>
                    <a:cubicBezTo>
                      <a:pt x="134557" y="2852"/>
                      <a:pt x="134632" y="3040"/>
                      <a:pt x="134719" y="3203"/>
                    </a:cubicBezTo>
                    <a:cubicBezTo>
                      <a:pt x="134794" y="3378"/>
                      <a:pt x="134882" y="3540"/>
                      <a:pt x="134944" y="3728"/>
                    </a:cubicBezTo>
                    <a:cubicBezTo>
                      <a:pt x="135007" y="3891"/>
                      <a:pt x="135069" y="4091"/>
                      <a:pt x="135107" y="4279"/>
                    </a:cubicBezTo>
                    <a:cubicBezTo>
                      <a:pt x="135169" y="4441"/>
                      <a:pt x="135207" y="4629"/>
                      <a:pt x="135244" y="4804"/>
                    </a:cubicBezTo>
                    <a:cubicBezTo>
                      <a:pt x="135282" y="5017"/>
                      <a:pt x="135282" y="5254"/>
                      <a:pt x="135307" y="5467"/>
                    </a:cubicBezTo>
                    <a:cubicBezTo>
                      <a:pt x="135307" y="5605"/>
                      <a:pt x="135344" y="5730"/>
                      <a:pt x="135344" y="5855"/>
                    </a:cubicBezTo>
                    <a:lnTo>
                      <a:pt x="135344" y="5955"/>
                    </a:lnTo>
                    <a:cubicBezTo>
                      <a:pt x="135344" y="6155"/>
                      <a:pt x="135307" y="6380"/>
                      <a:pt x="135282" y="6568"/>
                    </a:cubicBezTo>
                    <a:cubicBezTo>
                      <a:pt x="135269" y="6768"/>
                      <a:pt x="135244" y="6968"/>
                      <a:pt x="135207" y="7156"/>
                    </a:cubicBezTo>
                    <a:cubicBezTo>
                      <a:pt x="135182" y="7194"/>
                      <a:pt x="135182" y="7231"/>
                      <a:pt x="135182" y="7281"/>
                    </a:cubicBezTo>
                    <a:cubicBezTo>
                      <a:pt x="125079" y="47528"/>
                      <a:pt x="126730" y="66344"/>
                      <a:pt x="126755" y="66569"/>
                    </a:cubicBezTo>
                    <a:cubicBezTo>
                      <a:pt x="126955" y="69546"/>
                      <a:pt x="124879" y="72148"/>
                      <a:pt x="122004" y="72674"/>
                    </a:cubicBezTo>
                    <a:lnTo>
                      <a:pt x="121929" y="72699"/>
                    </a:lnTo>
                    <a:cubicBezTo>
                      <a:pt x="121766" y="72736"/>
                      <a:pt x="121554" y="72786"/>
                      <a:pt x="121378" y="72799"/>
                    </a:cubicBezTo>
                    <a:cubicBezTo>
                      <a:pt x="121216" y="72824"/>
                      <a:pt x="121066" y="72824"/>
                      <a:pt x="120928" y="72824"/>
                    </a:cubicBezTo>
                    <a:lnTo>
                      <a:pt x="39334" y="72824"/>
                    </a:lnTo>
                    <a:cubicBezTo>
                      <a:pt x="36133" y="72824"/>
                      <a:pt x="33520" y="70209"/>
                      <a:pt x="33520" y="67019"/>
                    </a:cubicBezTo>
                    <a:cubicBezTo>
                      <a:pt x="33520" y="66744"/>
                      <a:pt x="33570" y="66481"/>
                      <a:pt x="33608" y="66256"/>
                    </a:cubicBezTo>
                    <a:cubicBezTo>
                      <a:pt x="33345" y="61327"/>
                      <a:pt x="33095" y="41635"/>
                      <a:pt x="42360" y="4441"/>
                    </a:cubicBezTo>
                    <a:cubicBezTo>
                      <a:pt x="42410" y="4279"/>
                      <a:pt x="42472" y="4179"/>
                      <a:pt x="42510" y="4053"/>
                    </a:cubicBezTo>
                    <a:cubicBezTo>
                      <a:pt x="42572" y="3853"/>
                      <a:pt x="42635" y="3628"/>
                      <a:pt x="42710" y="3440"/>
                    </a:cubicBezTo>
                    <a:cubicBezTo>
                      <a:pt x="42773" y="3278"/>
                      <a:pt x="42873" y="3103"/>
                      <a:pt x="42960" y="2952"/>
                    </a:cubicBezTo>
                    <a:cubicBezTo>
                      <a:pt x="43073" y="2790"/>
                      <a:pt x="43185" y="2590"/>
                      <a:pt x="43285" y="2440"/>
                    </a:cubicBezTo>
                    <a:cubicBezTo>
                      <a:pt x="43410" y="2277"/>
                      <a:pt x="43510" y="2164"/>
                      <a:pt x="43623" y="2014"/>
                    </a:cubicBezTo>
                    <a:cubicBezTo>
                      <a:pt x="43773" y="1852"/>
                      <a:pt x="43873" y="1714"/>
                      <a:pt x="44010" y="1589"/>
                    </a:cubicBezTo>
                    <a:cubicBezTo>
                      <a:pt x="44135" y="1451"/>
                      <a:pt x="44285" y="1351"/>
                      <a:pt x="44423" y="1239"/>
                    </a:cubicBezTo>
                    <a:cubicBezTo>
                      <a:pt x="44585" y="1101"/>
                      <a:pt x="44748" y="976"/>
                      <a:pt x="44911" y="876"/>
                    </a:cubicBezTo>
                    <a:cubicBezTo>
                      <a:pt x="45073" y="801"/>
                      <a:pt x="45223" y="738"/>
                      <a:pt x="45361" y="651"/>
                    </a:cubicBezTo>
                    <a:cubicBezTo>
                      <a:pt x="45548" y="550"/>
                      <a:pt x="45748" y="463"/>
                      <a:pt x="45936" y="388"/>
                    </a:cubicBezTo>
                    <a:cubicBezTo>
                      <a:pt x="46098" y="325"/>
                      <a:pt x="46273" y="288"/>
                      <a:pt x="46436" y="250"/>
                    </a:cubicBezTo>
                    <a:cubicBezTo>
                      <a:pt x="46623" y="188"/>
                      <a:pt x="46823" y="138"/>
                      <a:pt x="47011" y="100"/>
                    </a:cubicBezTo>
                    <a:cubicBezTo>
                      <a:pt x="47199" y="63"/>
                      <a:pt x="47411" y="63"/>
                      <a:pt x="47624" y="38"/>
                    </a:cubicBezTo>
                    <a:cubicBezTo>
                      <a:pt x="47786" y="38"/>
                      <a:pt x="47911" y="0"/>
                      <a:pt x="4804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i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IconMisc4"/>
              <p:cNvSpPr/>
              <p:nvPr/>
            </p:nvSpPr>
            <p:spPr>
              <a:xfrm>
                <a:off x="6790553" y="4480230"/>
                <a:ext cx="338697" cy="338641"/>
              </a:xfrm>
              <a:custGeom>
                <a:avLst/>
                <a:gdLst>
                  <a:gd name="connsiteX0" fmla="*/ 175554 w 488862"/>
                  <a:gd name="connsiteY0" fmla="*/ 224764 h 488782"/>
                  <a:gd name="connsiteX1" fmla="*/ 316096 w 488862"/>
                  <a:gd name="connsiteY1" fmla="*/ 224764 h 488782"/>
                  <a:gd name="connsiteX2" fmla="*/ 327664 w 488862"/>
                  <a:gd name="connsiteY2" fmla="*/ 236219 h 488782"/>
                  <a:gd name="connsiteX3" fmla="*/ 327664 w 488862"/>
                  <a:gd name="connsiteY3" fmla="*/ 240382 h 488782"/>
                  <a:gd name="connsiteX4" fmla="*/ 347938 w 488862"/>
                  <a:gd name="connsiteY4" fmla="*/ 261117 h 488782"/>
                  <a:gd name="connsiteX5" fmla="*/ 363707 w 488862"/>
                  <a:gd name="connsiteY5" fmla="*/ 261117 h 488782"/>
                  <a:gd name="connsiteX6" fmla="*/ 383980 w 488862"/>
                  <a:gd name="connsiteY6" fmla="*/ 240382 h 488782"/>
                  <a:gd name="connsiteX7" fmla="*/ 383980 w 488862"/>
                  <a:gd name="connsiteY7" fmla="*/ 235990 h 488782"/>
                  <a:gd name="connsiteX8" fmla="*/ 397878 w 488862"/>
                  <a:gd name="connsiteY8" fmla="*/ 224840 h 488782"/>
                  <a:gd name="connsiteX9" fmla="*/ 476301 w 488862"/>
                  <a:gd name="connsiteY9" fmla="*/ 224840 h 488782"/>
                  <a:gd name="connsiteX10" fmla="*/ 488786 w 488862"/>
                  <a:gd name="connsiteY10" fmla="*/ 237250 h 488782"/>
                  <a:gd name="connsiteX11" fmla="*/ 488786 w 488862"/>
                  <a:gd name="connsiteY11" fmla="*/ 447350 h 488782"/>
                  <a:gd name="connsiteX12" fmla="*/ 448276 w 488862"/>
                  <a:gd name="connsiteY12" fmla="*/ 488782 h 488782"/>
                  <a:gd name="connsiteX13" fmla="*/ 40548 w 488862"/>
                  <a:gd name="connsiteY13" fmla="*/ 488782 h 488782"/>
                  <a:gd name="connsiteX14" fmla="*/ 0 w 488862"/>
                  <a:gd name="connsiteY14" fmla="*/ 447350 h 488782"/>
                  <a:gd name="connsiteX15" fmla="*/ 0 w 488862"/>
                  <a:gd name="connsiteY15" fmla="*/ 240305 h 488782"/>
                  <a:gd name="connsiteX16" fmla="*/ 15578 w 488862"/>
                  <a:gd name="connsiteY16" fmla="*/ 224840 h 488782"/>
                  <a:gd name="connsiteX17" fmla="*/ 90144 w 488862"/>
                  <a:gd name="connsiteY17" fmla="*/ 224840 h 488782"/>
                  <a:gd name="connsiteX18" fmla="*/ 104194 w 488862"/>
                  <a:gd name="connsiteY18" fmla="*/ 238663 h 488782"/>
                  <a:gd name="connsiteX19" fmla="*/ 104194 w 488862"/>
                  <a:gd name="connsiteY19" fmla="*/ 240305 h 488782"/>
                  <a:gd name="connsiteX20" fmla="*/ 124468 w 488862"/>
                  <a:gd name="connsiteY20" fmla="*/ 261040 h 488782"/>
                  <a:gd name="connsiteX21" fmla="*/ 140733 w 488862"/>
                  <a:gd name="connsiteY21" fmla="*/ 261040 h 488782"/>
                  <a:gd name="connsiteX22" fmla="*/ 161007 w 488862"/>
                  <a:gd name="connsiteY22" fmla="*/ 240305 h 488782"/>
                  <a:gd name="connsiteX23" fmla="*/ 161007 w 488862"/>
                  <a:gd name="connsiteY23" fmla="*/ 237632 h 488782"/>
                  <a:gd name="connsiteX24" fmla="*/ 175554 w 488862"/>
                  <a:gd name="connsiteY24" fmla="*/ 224764 h 488782"/>
                  <a:gd name="connsiteX25" fmla="*/ 356061 w 488862"/>
                  <a:gd name="connsiteY25" fmla="*/ 177775 h 488782"/>
                  <a:gd name="connsiteX26" fmla="*/ 371220 w 488862"/>
                  <a:gd name="connsiteY26" fmla="*/ 198056 h 488782"/>
                  <a:gd name="connsiteX27" fmla="*/ 371220 w 488862"/>
                  <a:gd name="connsiteY27" fmla="*/ 222958 h 488782"/>
                  <a:gd name="connsiteX28" fmla="*/ 356061 w 488862"/>
                  <a:gd name="connsiteY28" fmla="*/ 243238 h 488782"/>
                  <a:gd name="connsiteX29" fmla="*/ 340864 w 488862"/>
                  <a:gd name="connsiteY29" fmla="*/ 222958 h 488782"/>
                  <a:gd name="connsiteX30" fmla="*/ 340864 w 488862"/>
                  <a:gd name="connsiteY30" fmla="*/ 198056 h 488782"/>
                  <a:gd name="connsiteX31" fmla="*/ 356061 w 488862"/>
                  <a:gd name="connsiteY31" fmla="*/ 177775 h 488782"/>
                  <a:gd name="connsiteX32" fmla="*/ 132801 w 488862"/>
                  <a:gd name="connsiteY32" fmla="*/ 177775 h 488782"/>
                  <a:gd name="connsiteX33" fmla="*/ 147960 w 488862"/>
                  <a:gd name="connsiteY33" fmla="*/ 198056 h 488782"/>
                  <a:gd name="connsiteX34" fmla="*/ 147960 w 488862"/>
                  <a:gd name="connsiteY34" fmla="*/ 222958 h 488782"/>
                  <a:gd name="connsiteX35" fmla="*/ 132801 w 488862"/>
                  <a:gd name="connsiteY35" fmla="*/ 243238 h 488782"/>
                  <a:gd name="connsiteX36" fmla="*/ 117642 w 488862"/>
                  <a:gd name="connsiteY36" fmla="*/ 222958 h 488782"/>
                  <a:gd name="connsiteX37" fmla="*/ 117642 w 488862"/>
                  <a:gd name="connsiteY37" fmla="*/ 198056 h 488782"/>
                  <a:gd name="connsiteX38" fmla="*/ 132801 w 488862"/>
                  <a:gd name="connsiteY38" fmla="*/ 177775 h 488782"/>
                  <a:gd name="connsiteX39" fmla="*/ 40624 w 488862"/>
                  <a:gd name="connsiteY39" fmla="*/ 115971 h 488782"/>
                  <a:gd name="connsiteX40" fmla="*/ 448353 w 488862"/>
                  <a:gd name="connsiteY40" fmla="*/ 115971 h 488782"/>
                  <a:gd name="connsiteX41" fmla="*/ 488862 w 488862"/>
                  <a:gd name="connsiteY41" fmla="*/ 157403 h 488782"/>
                  <a:gd name="connsiteX42" fmla="*/ 488862 w 488862"/>
                  <a:gd name="connsiteY42" fmla="*/ 180582 h 488782"/>
                  <a:gd name="connsiteX43" fmla="*/ 475270 w 488862"/>
                  <a:gd name="connsiteY43" fmla="*/ 193871 h 488782"/>
                  <a:gd name="connsiteX44" fmla="*/ 397267 w 488862"/>
                  <a:gd name="connsiteY44" fmla="*/ 193871 h 488782"/>
                  <a:gd name="connsiteX45" fmla="*/ 383980 w 488862"/>
                  <a:gd name="connsiteY45" fmla="*/ 181919 h 488782"/>
                  <a:gd name="connsiteX46" fmla="*/ 383980 w 488862"/>
                  <a:gd name="connsiteY46" fmla="*/ 178291 h 488782"/>
                  <a:gd name="connsiteX47" fmla="*/ 363707 w 488862"/>
                  <a:gd name="connsiteY47" fmla="*/ 157556 h 488782"/>
                  <a:gd name="connsiteX48" fmla="*/ 347938 w 488862"/>
                  <a:gd name="connsiteY48" fmla="*/ 157556 h 488782"/>
                  <a:gd name="connsiteX49" fmla="*/ 327664 w 488862"/>
                  <a:gd name="connsiteY49" fmla="*/ 178291 h 488782"/>
                  <a:gd name="connsiteX50" fmla="*/ 327664 w 488862"/>
                  <a:gd name="connsiteY50" fmla="*/ 182950 h 488782"/>
                  <a:gd name="connsiteX51" fmla="*/ 316248 w 488862"/>
                  <a:gd name="connsiteY51" fmla="*/ 193871 h 488782"/>
                  <a:gd name="connsiteX52" fmla="*/ 174981 w 488862"/>
                  <a:gd name="connsiteY52" fmla="*/ 193871 h 488782"/>
                  <a:gd name="connsiteX53" fmla="*/ 160930 w 488862"/>
                  <a:gd name="connsiteY53" fmla="*/ 181308 h 488782"/>
                  <a:gd name="connsiteX54" fmla="*/ 160930 w 488862"/>
                  <a:gd name="connsiteY54" fmla="*/ 178291 h 488782"/>
                  <a:gd name="connsiteX55" fmla="*/ 140657 w 488862"/>
                  <a:gd name="connsiteY55" fmla="*/ 157556 h 488782"/>
                  <a:gd name="connsiteX56" fmla="*/ 124468 w 488862"/>
                  <a:gd name="connsiteY56" fmla="*/ 157556 h 488782"/>
                  <a:gd name="connsiteX57" fmla="*/ 104194 w 488862"/>
                  <a:gd name="connsiteY57" fmla="*/ 178291 h 488782"/>
                  <a:gd name="connsiteX58" fmla="*/ 104194 w 488862"/>
                  <a:gd name="connsiteY58" fmla="*/ 181117 h 488782"/>
                  <a:gd name="connsiteX59" fmla="*/ 89724 w 488862"/>
                  <a:gd name="connsiteY59" fmla="*/ 193795 h 488782"/>
                  <a:gd name="connsiteX60" fmla="*/ 16036 w 488862"/>
                  <a:gd name="connsiteY60" fmla="*/ 193795 h 488782"/>
                  <a:gd name="connsiteX61" fmla="*/ 76 w 488862"/>
                  <a:gd name="connsiteY61" fmla="*/ 179093 h 488782"/>
                  <a:gd name="connsiteX62" fmla="*/ 76 w 488862"/>
                  <a:gd name="connsiteY62" fmla="*/ 157403 h 488782"/>
                  <a:gd name="connsiteX63" fmla="*/ 40624 w 488862"/>
                  <a:gd name="connsiteY63" fmla="*/ 115971 h 488782"/>
                  <a:gd name="connsiteX64" fmla="*/ 244698 w 488862"/>
                  <a:gd name="connsiteY64" fmla="*/ 0 h 488782"/>
                  <a:gd name="connsiteX65" fmla="*/ 364967 w 488862"/>
                  <a:gd name="connsiteY65" fmla="*/ 94282 h 488782"/>
                  <a:gd name="connsiteX66" fmla="*/ 348931 w 488862"/>
                  <a:gd name="connsiteY66" fmla="*/ 105928 h 488782"/>
                  <a:gd name="connsiteX67" fmla="*/ 330070 w 488862"/>
                  <a:gd name="connsiteY67" fmla="*/ 94282 h 488782"/>
                  <a:gd name="connsiteX68" fmla="*/ 244698 w 488862"/>
                  <a:gd name="connsiteY68" fmla="*/ 34024 h 488782"/>
                  <a:gd name="connsiteX69" fmla="*/ 159289 w 488862"/>
                  <a:gd name="connsiteY69" fmla="*/ 94282 h 488782"/>
                  <a:gd name="connsiteX70" fmla="*/ 140122 w 488862"/>
                  <a:gd name="connsiteY70" fmla="*/ 104439 h 488782"/>
                  <a:gd name="connsiteX71" fmla="*/ 124392 w 488862"/>
                  <a:gd name="connsiteY71" fmla="*/ 94282 h 488782"/>
                  <a:gd name="connsiteX72" fmla="*/ 244698 w 488862"/>
                  <a:gd name="connsiteY72" fmla="*/ 0 h 488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488862" h="488782">
                    <a:moveTo>
                      <a:pt x="175554" y="224764"/>
                    </a:moveTo>
                    <a:lnTo>
                      <a:pt x="316096" y="224764"/>
                    </a:lnTo>
                    <a:cubicBezTo>
                      <a:pt x="325221" y="224764"/>
                      <a:pt x="327664" y="227246"/>
                      <a:pt x="327664" y="236219"/>
                    </a:cubicBezTo>
                    <a:lnTo>
                      <a:pt x="327664" y="240382"/>
                    </a:lnTo>
                    <a:cubicBezTo>
                      <a:pt x="327664" y="251838"/>
                      <a:pt x="336751" y="261117"/>
                      <a:pt x="347938" y="261117"/>
                    </a:cubicBezTo>
                    <a:lnTo>
                      <a:pt x="363707" y="261117"/>
                    </a:lnTo>
                    <a:cubicBezTo>
                      <a:pt x="374855" y="261117"/>
                      <a:pt x="383980" y="251761"/>
                      <a:pt x="383980" y="240382"/>
                    </a:cubicBezTo>
                    <a:lnTo>
                      <a:pt x="383980" y="235990"/>
                    </a:lnTo>
                    <a:cubicBezTo>
                      <a:pt x="383980" y="226711"/>
                      <a:pt x="386882" y="224840"/>
                      <a:pt x="397878" y="224840"/>
                    </a:cubicBezTo>
                    <a:lnTo>
                      <a:pt x="476301" y="224840"/>
                    </a:lnTo>
                    <a:cubicBezTo>
                      <a:pt x="484968" y="224840"/>
                      <a:pt x="488786" y="227971"/>
                      <a:pt x="488786" y="237250"/>
                    </a:cubicBezTo>
                    <a:lnTo>
                      <a:pt x="488786" y="447350"/>
                    </a:lnTo>
                    <a:cubicBezTo>
                      <a:pt x="488786" y="470147"/>
                      <a:pt x="470574" y="488782"/>
                      <a:pt x="448276" y="488782"/>
                    </a:cubicBezTo>
                    <a:lnTo>
                      <a:pt x="40548" y="488782"/>
                    </a:lnTo>
                    <a:cubicBezTo>
                      <a:pt x="18327" y="488782"/>
                      <a:pt x="0" y="470147"/>
                      <a:pt x="0" y="447350"/>
                    </a:cubicBezTo>
                    <a:lnTo>
                      <a:pt x="0" y="240305"/>
                    </a:lnTo>
                    <a:cubicBezTo>
                      <a:pt x="0" y="227971"/>
                      <a:pt x="3245" y="224840"/>
                      <a:pt x="15578" y="224840"/>
                    </a:cubicBezTo>
                    <a:lnTo>
                      <a:pt x="90144" y="224840"/>
                    </a:lnTo>
                    <a:cubicBezTo>
                      <a:pt x="101216" y="224840"/>
                      <a:pt x="104194" y="226558"/>
                      <a:pt x="104194" y="238663"/>
                    </a:cubicBezTo>
                    <a:lnTo>
                      <a:pt x="104194" y="240305"/>
                    </a:lnTo>
                    <a:cubicBezTo>
                      <a:pt x="104194" y="251685"/>
                      <a:pt x="113319" y="261040"/>
                      <a:pt x="124468" y="261040"/>
                    </a:cubicBezTo>
                    <a:lnTo>
                      <a:pt x="140733" y="261040"/>
                    </a:lnTo>
                    <a:cubicBezTo>
                      <a:pt x="151882" y="261040"/>
                      <a:pt x="161007" y="251685"/>
                      <a:pt x="161007" y="240305"/>
                    </a:cubicBezTo>
                    <a:lnTo>
                      <a:pt x="161007" y="237632"/>
                    </a:lnTo>
                    <a:cubicBezTo>
                      <a:pt x="161007" y="227246"/>
                      <a:pt x="163985" y="224764"/>
                      <a:pt x="175554" y="224764"/>
                    </a:cubicBezTo>
                    <a:close/>
                    <a:moveTo>
                      <a:pt x="356061" y="177775"/>
                    </a:moveTo>
                    <a:cubicBezTo>
                      <a:pt x="364385" y="177775"/>
                      <a:pt x="371220" y="186903"/>
                      <a:pt x="371220" y="198056"/>
                    </a:cubicBezTo>
                    <a:lnTo>
                      <a:pt x="371220" y="222958"/>
                    </a:lnTo>
                    <a:cubicBezTo>
                      <a:pt x="371220" y="234110"/>
                      <a:pt x="364385" y="243238"/>
                      <a:pt x="356061" y="243238"/>
                    </a:cubicBezTo>
                    <a:cubicBezTo>
                      <a:pt x="347699" y="243238"/>
                      <a:pt x="340864" y="234110"/>
                      <a:pt x="340864" y="222958"/>
                    </a:cubicBezTo>
                    <a:lnTo>
                      <a:pt x="340864" y="198056"/>
                    </a:lnTo>
                    <a:cubicBezTo>
                      <a:pt x="340864" y="186903"/>
                      <a:pt x="347699" y="177775"/>
                      <a:pt x="356061" y="177775"/>
                    </a:cubicBezTo>
                    <a:close/>
                    <a:moveTo>
                      <a:pt x="132801" y="177775"/>
                    </a:moveTo>
                    <a:cubicBezTo>
                      <a:pt x="141125" y="177775"/>
                      <a:pt x="147960" y="186903"/>
                      <a:pt x="147960" y="198056"/>
                    </a:cubicBezTo>
                    <a:lnTo>
                      <a:pt x="147960" y="222958"/>
                    </a:lnTo>
                    <a:cubicBezTo>
                      <a:pt x="147960" y="234110"/>
                      <a:pt x="141125" y="243238"/>
                      <a:pt x="132801" y="243238"/>
                    </a:cubicBezTo>
                    <a:cubicBezTo>
                      <a:pt x="124477" y="243238"/>
                      <a:pt x="117642" y="234110"/>
                      <a:pt x="117642" y="222958"/>
                    </a:cubicBezTo>
                    <a:lnTo>
                      <a:pt x="117642" y="198056"/>
                    </a:lnTo>
                    <a:cubicBezTo>
                      <a:pt x="117642" y="186903"/>
                      <a:pt x="124477" y="177775"/>
                      <a:pt x="132801" y="177775"/>
                    </a:cubicBezTo>
                    <a:close/>
                    <a:moveTo>
                      <a:pt x="40624" y="115971"/>
                    </a:moveTo>
                    <a:lnTo>
                      <a:pt x="448353" y="115971"/>
                    </a:lnTo>
                    <a:cubicBezTo>
                      <a:pt x="470574" y="115971"/>
                      <a:pt x="488862" y="134606"/>
                      <a:pt x="488862" y="157403"/>
                    </a:cubicBezTo>
                    <a:lnTo>
                      <a:pt x="488862" y="180582"/>
                    </a:lnTo>
                    <a:cubicBezTo>
                      <a:pt x="488862" y="190969"/>
                      <a:pt x="485808" y="193871"/>
                      <a:pt x="475270" y="193871"/>
                    </a:cubicBezTo>
                    <a:lnTo>
                      <a:pt x="397267" y="193871"/>
                    </a:lnTo>
                    <a:cubicBezTo>
                      <a:pt x="387455" y="193871"/>
                      <a:pt x="383980" y="192229"/>
                      <a:pt x="383980" y="181919"/>
                    </a:cubicBezTo>
                    <a:lnTo>
                      <a:pt x="383980" y="178291"/>
                    </a:lnTo>
                    <a:cubicBezTo>
                      <a:pt x="383980" y="166835"/>
                      <a:pt x="374855" y="157556"/>
                      <a:pt x="363707" y="157556"/>
                    </a:cubicBezTo>
                    <a:lnTo>
                      <a:pt x="347938" y="157556"/>
                    </a:lnTo>
                    <a:cubicBezTo>
                      <a:pt x="336751" y="157556"/>
                      <a:pt x="327664" y="166912"/>
                      <a:pt x="327664" y="178291"/>
                    </a:cubicBezTo>
                    <a:lnTo>
                      <a:pt x="327664" y="182950"/>
                    </a:lnTo>
                    <a:cubicBezTo>
                      <a:pt x="327664" y="192458"/>
                      <a:pt x="326557" y="193871"/>
                      <a:pt x="316248" y="193871"/>
                    </a:cubicBezTo>
                    <a:lnTo>
                      <a:pt x="174981" y="193871"/>
                    </a:lnTo>
                    <a:cubicBezTo>
                      <a:pt x="163756" y="193871"/>
                      <a:pt x="160930" y="192764"/>
                      <a:pt x="160930" y="181308"/>
                    </a:cubicBezTo>
                    <a:lnTo>
                      <a:pt x="160930" y="178291"/>
                    </a:lnTo>
                    <a:cubicBezTo>
                      <a:pt x="160930" y="166835"/>
                      <a:pt x="151805" y="157556"/>
                      <a:pt x="140657" y="157556"/>
                    </a:cubicBezTo>
                    <a:lnTo>
                      <a:pt x="124468" y="157556"/>
                    </a:lnTo>
                    <a:cubicBezTo>
                      <a:pt x="113319" y="157556"/>
                      <a:pt x="104194" y="166912"/>
                      <a:pt x="104194" y="178291"/>
                    </a:cubicBezTo>
                    <a:lnTo>
                      <a:pt x="104194" y="181117"/>
                    </a:lnTo>
                    <a:cubicBezTo>
                      <a:pt x="104194" y="192458"/>
                      <a:pt x="101445" y="193795"/>
                      <a:pt x="89724" y="193795"/>
                    </a:cubicBezTo>
                    <a:lnTo>
                      <a:pt x="16036" y="193795"/>
                    </a:lnTo>
                    <a:cubicBezTo>
                      <a:pt x="3474" y="193795"/>
                      <a:pt x="76" y="190702"/>
                      <a:pt x="76" y="179093"/>
                    </a:cubicBezTo>
                    <a:lnTo>
                      <a:pt x="76" y="157403"/>
                    </a:lnTo>
                    <a:cubicBezTo>
                      <a:pt x="76" y="134606"/>
                      <a:pt x="18327" y="115971"/>
                      <a:pt x="40624" y="115971"/>
                    </a:cubicBezTo>
                    <a:close/>
                    <a:moveTo>
                      <a:pt x="244698" y="0"/>
                    </a:moveTo>
                    <a:cubicBezTo>
                      <a:pt x="302351" y="0"/>
                      <a:pt x="350763" y="39981"/>
                      <a:pt x="364967" y="94282"/>
                    </a:cubicBezTo>
                    <a:cubicBezTo>
                      <a:pt x="364967" y="94282"/>
                      <a:pt x="365043" y="105928"/>
                      <a:pt x="348931" y="105928"/>
                    </a:cubicBezTo>
                    <a:cubicBezTo>
                      <a:pt x="332819" y="105928"/>
                      <a:pt x="330070" y="94282"/>
                      <a:pt x="330070" y="94282"/>
                    </a:cubicBezTo>
                    <a:cubicBezTo>
                      <a:pt x="317050" y="59112"/>
                      <a:pt x="283719" y="34024"/>
                      <a:pt x="244698" y="34024"/>
                    </a:cubicBezTo>
                    <a:cubicBezTo>
                      <a:pt x="205563" y="34024"/>
                      <a:pt x="172308" y="58998"/>
                      <a:pt x="159289" y="94282"/>
                    </a:cubicBezTo>
                    <a:cubicBezTo>
                      <a:pt x="159289" y="94282"/>
                      <a:pt x="156769" y="104439"/>
                      <a:pt x="140122" y="104439"/>
                    </a:cubicBezTo>
                    <a:cubicBezTo>
                      <a:pt x="123514" y="104439"/>
                      <a:pt x="124392" y="94282"/>
                      <a:pt x="124392" y="94282"/>
                    </a:cubicBezTo>
                    <a:cubicBezTo>
                      <a:pt x="138595" y="39981"/>
                      <a:pt x="187084" y="0"/>
                      <a:pt x="244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i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18" name="标题 1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数据可视化模块实现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非功能需求与系统保障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确保系统性能、可靠性、安全性、可维护性等质量属性达标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afd8cf35-c614-4b1e-aafe-50d606662d48.source.8.zh-Hans.pptx"/>
          <p:cNvGrpSpPr/>
          <p:nvPr/>
        </p:nvGrpSpPr>
        <p:grpSpPr>
          <a:xfrm>
            <a:off x="660399" y="1130300"/>
            <a:ext cx="10858502" cy="5003800"/>
            <a:chOff x="660399" y="1130300"/>
            <a:chExt cx="10858502" cy="5003800"/>
          </a:xfrm>
        </p:grpSpPr>
        <p:grpSp>
          <p:nvGrpSpPr>
            <p:cNvPr id="30" name="组合 29"/>
            <p:cNvGrpSpPr/>
            <p:nvPr/>
          </p:nvGrpSpPr>
          <p:grpSpPr>
            <a:xfrm>
              <a:off x="660399" y="1130300"/>
              <a:ext cx="3616327" cy="1136650"/>
              <a:chOff x="660399" y="1130300"/>
              <a:chExt cx="3616327" cy="1136650"/>
            </a:xfrm>
          </p:grpSpPr>
          <p:sp>
            <p:nvSpPr>
              <p:cNvPr id="28" name="Text1"/>
              <p:cNvSpPr txBox="1"/>
              <p:nvPr/>
            </p:nvSpPr>
            <p:spPr>
              <a:xfrm>
                <a:off x="660402" y="1545654"/>
                <a:ext cx="3616324" cy="7212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系统设计支持至少10个传感器节点同时上传数据，通过线程池与异步处理保障稳定性。</a:t>
                </a:r>
                <a:endParaRPr lang="en-US" dirty="0"/>
              </a:p>
            </p:txBody>
          </p:sp>
          <p:sp>
            <p:nvSpPr>
              <p:cNvPr id="29" name="Bullet1"/>
              <p:cNvSpPr txBox="1"/>
              <p:nvPr/>
            </p:nvSpPr>
            <p:spPr>
              <a:xfrm>
                <a:off x="660399" y="1130300"/>
                <a:ext cx="3616324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多节点并发处理能力</a:t>
                </a:r>
                <a:endParaRPr lang="en-US" dirty="0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660400" y="2419350"/>
              <a:ext cx="3616326" cy="1136650"/>
              <a:chOff x="660399" y="1130300"/>
              <a:chExt cx="4930775" cy="1136650"/>
            </a:xfrm>
          </p:grpSpPr>
          <p:sp>
            <p:nvSpPr>
              <p:cNvPr id="32" name="Text2"/>
              <p:cNvSpPr txBox="1"/>
              <p:nvPr/>
            </p:nvSpPr>
            <p:spPr>
              <a:xfrm>
                <a:off x="660402" y="1545654"/>
                <a:ext cx="4930772" cy="7212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串口监听与解析流程优化，确保从数据到达至入库延迟小于1秒，满足NFR-1.2要求。</a:t>
                </a:r>
                <a:endParaRPr lang="en-US" dirty="0"/>
              </a:p>
            </p:txBody>
          </p:sp>
          <p:sp>
            <p:nvSpPr>
              <p:cNvPr id="33" name="Bullet2"/>
              <p:cNvSpPr txBox="1"/>
              <p:nvPr/>
            </p:nvSpPr>
            <p:spPr>
              <a:xfrm>
                <a:off x="660399" y="1130300"/>
                <a:ext cx="4930775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数据接收延迟控制</a:t>
                </a:r>
                <a:endParaRPr lang="en-US" dirty="0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660399" y="3708400"/>
              <a:ext cx="3616327" cy="1136650"/>
              <a:chOff x="660399" y="1130300"/>
              <a:chExt cx="4930775" cy="1136650"/>
            </a:xfrm>
          </p:grpSpPr>
          <p:sp>
            <p:nvSpPr>
              <p:cNvPr id="37" name="Text3"/>
              <p:cNvSpPr txBox="1"/>
              <p:nvPr/>
            </p:nvSpPr>
            <p:spPr>
              <a:xfrm>
                <a:off x="660402" y="1545654"/>
                <a:ext cx="4930772" cy="7212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采用懒加载、防抖节流、虚拟滚动等技术，确保界面操作响应时间低于500ms。</a:t>
                </a:r>
                <a:endParaRPr lang="en-US" dirty="0"/>
              </a:p>
            </p:txBody>
          </p:sp>
          <p:sp>
            <p:nvSpPr>
              <p:cNvPr id="38" name="Bullet3"/>
              <p:cNvSpPr txBox="1"/>
              <p:nvPr/>
            </p:nvSpPr>
            <p:spPr>
              <a:xfrm>
                <a:off x="660399" y="1130300"/>
                <a:ext cx="4930775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前端响应速度优化</a:t>
                </a:r>
                <a:endParaRPr lang="en-US" dirty="0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660400" y="4997450"/>
              <a:ext cx="3616327" cy="1136650"/>
              <a:chOff x="660399" y="1130300"/>
              <a:chExt cx="3616328" cy="1136650"/>
            </a:xfrm>
          </p:grpSpPr>
          <p:sp>
            <p:nvSpPr>
              <p:cNvPr id="40" name="Text4"/>
              <p:cNvSpPr txBox="1"/>
              <p:nvPr/>
            </p:nvSpPr>
            <p:spPr>
              <a:xfrm>
                <a:off x="660402" y="1545654"/>
                <a:ext cx="3616325" cy="7212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为node_id、collect_time等常用查询字段建立复合索引，查询响应时间控制在2秒内。</a:t>
                </a:r>
                <a:endParaRPr lang="en-US" dirty="0"/>
              </a:p>
            </p:txBody>
          </p:sp>
          <p:sp>
            <p:nvSpPr>
              <p:cNvPr id="41" name="Bullet4"/>
              <p:cNvSpPr txBox="1"/>
              <p:nvPr/>
            </p:nvSpPr>
            <p:spPr>
              <a:xfrm>
                <a:off x="660399" y="1130300"/>
                <a:ext cx="3616325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数据库查询性能调优</a:t>
                </a:r>
                <a:endParaRPr lang="en-US" dirty="0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7902577" y="1130300"/>
              <a:ext cx="3616324" cy="1136650"/>
              <a:chOff x="1974850" y="1130300"/>
              <a:chExt cx="3616324" cy="1136650"/>
            </a:xfrm>
          </p:grpSpPr>
          <p:sp>
            <p:nvSpPr>
              <p:cNvPr id="43" name="Text5"/>
              <p:cNvSpPr txBox="1"/>
              <p:nvPr/>
            </p:nvSpPr>
            <p:spPr>
              <a:xfrm>
                <a:off x="1974850" y="1545654"/>
                <a:ext cx="3616324" cy="7212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支持10人以上同时登录系统查看数据或操作控制，通过JWT令牌管理会话状态。</a:t>
                </a:r>
                <a:endParaRPr lang="en-US" dirty="0"/>
              </a:p>
            </p:txBody>
          </p:sp>
          <p:sp>
            <p:nvSpPr>
              <p:cNvPr id="44" name="Bullet5"/>
              <p:cNvSpPr txBox="1"/>
              <p:nvPr/>
            </p:nvSpPr>
            <p:spPr>
              <a:xfrm>
                <a:off x="1974850" y="1130300"/>
                <a:ext cx="3616324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并发用户支持能力</a:t>
                </a:r>
                <a:endParaRPr lang="en-US" dirty="0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7902575" y="2419350"/>
              <a:ext cx="3616326" cy="1136650"/>
              <a:chOff x="660399" y="1130300"/>
              <a:chExt cx="4930775" cy="1136650"/>
            </a:xfrm>
          </p:grpSpPr>
          <p:sp>
            <p:nvSpPr>
              <p:cNvPr id="46" name="Text6"/>
              <p:cNvSpPr txBox="1"/>
              <p:nvPr/>
            </p:nvSpPr>
            <p:spPr>
              <a:xfrm>
                <a:off x="660402" y="1545654"/>
                <a:ext cx="4930772" cy="7212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使用MyBatis Batch Executor一次性提交多条INSERT语句，减少数据库交互次数。</a:t>
                </a:r>
                <a:endParaRPr lang="en-US" dirty="0"/>
              </a:p>
            </p:txBody>
          </p:sp>
          <p:sp>
            <p:nvSpPr>
              <p:cNvPr id="47" name="Bullet6"/>
              <p:cNvSpPr txBox="1"/>
              <p:nvPr/>
            </p:nvSpPr>
            <p:spPr>
              <a:xfrm>
                <a:off x="660399" y="1130300"/>
                <a:ext cx="4930775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批量写入提升吞吐量</a:t>
                </a:r>
                <a:endParaRPr lang="en-US" dirty="0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7902574" y="3708400"/>
              <a:ext cx="3616327" cy="1136650"/>
              <a:chOff x="660399" y="1130300"/>
              <a:chExt cx="4930775" cy="1136650"/>
            </a:xfrm>
          </p:grpSpPr>
          <p:sp>
            <p:nvSpPr>
              <p:cNvPr id="49" name="Text7"/>
              <p:cNvSpPr txBox="1"/>
              <p:nvPr/>
            </p:nvSpPr>
            <p:spPr>
              <a:xfrm>
                <a:off x="660402" y="1545654"/>
                <a:ext cx="4930772" cy="7212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替代传统轮询方式，服务端主动推送数据，降低网络负载与前端CPU占用率。</a:t>
                </a:r>
                <a:endParaRPr lang="en-US" dirty="0"/>
              </a:p>
            </p:txBody>
          </p:sp>
          <p:sp>
            <p:nvSpPr>
              <p:cNvPr id="50" name="Bullet7"/>
              <p:cNvSpPr txBox="1"/>
              <p:nvPr/>
            </p:nvSpPr>
            <p:spPr>
              <a:xfrm>
                <a:off x="660399" y="1130300"/>
                <a:ext cx="4930775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WebSocket减少请求开销</a:t>
                </a:r>
                <a:endParaRPr lang="en-US" dirty="0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7902577" y="4997450"/>
              <a:ext cx="3616324" cy="1136650"/>
              <a:chOff x="1974849" y="1130300"/>
              <a:chExt cx="3616325" cy="1136650"/>
            </a:xfrm>
          </p:grpSpPr>
          <p:sp>
            <p:nvSpPr>
              <p:cNvPr id="52" name="Text8"/>
              <p:cNvSpPr txBox="1"/>
              <p:nvPr/>
            </p:nvSpPr>
            <p:spPr>
              <a:xfrm>
                <a:off x="1974849" y="1545654"/>
                <a:ext cx="3616325" cy="7212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对频繁访问的配置项（如告警阈值）使用Redis缓存，减少重复查询次数。</a:t>
                </a:r>
                <a:endParaRPr lang="en-US" dirty="0"/>
              </a:p>
            </p:txBody>
          </p:sp>
          <p:sp>
            <p:nvSpPr>
              <p:cNvPr id="53" name="Bullet8"/>
              <p:cNvSpPr txBox="1"/>
              <p:nvPr/>
            </p:nvSpPr>
            <p:spPr>
              <a:xfrm>
                <a:off x="1974849" y="1130300"/>
                <a:ext cx="3616325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缓存机制减轻数据库压力</a:t>
                </a:r>
                <a:endParaRPr lang="en-US" dirty="0"/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264025" y="1130300"/>
              <a:ext cx="3651250" cy="5003800"/>
              <a:chOff x="4264025" y="1130300"/>
              <a:chExt cx="3651250" cy="5003800"/>
            </a:xfrm>
          </p:grpSpPr>
          <p:cxnSp>
            <p:nvCxnSpPr>
              <p:cNvPr id="7" name="直接连接符 6"/>
              <p:cNvCxnSpPr>
                <a:endCxn id="8" idx="0"/>
              </p:cNvCxnSpPr>
              <p:nvPr/>
            </p:nvCxnSpPr>
            <p:spPr>
              <a:xfrm>
                <a:off x="6089650" y="1130300"/>
                <a:ext cx="0" cy="676275"/>
              </a:xfrm>
              <a:prstGeom prst="line">
                <a:avLst/>
              </a:prstGeom>
              <a:ln w="6350" cap="rnd">
                <a:solidFill>
                  <a:schemeClr val="accent1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PictureMisc"/>
              <p:cNvSpPr/>
              <p:nvPr/>
            </p:nvSpPr>
            <p:spPr>
              <a:xfrm>
                <a:off x="4264025" y="1806575"/>
                <a:ext cx="3651250" cy="3651250"/>
              </a:xfrm>
              <a:prstGeom prst="diamond">
                <a:avLst/>
              </a:prstGeom>
              <a:solidFill>
                <a:schemeClr val="accent1">
                  <a:alpha val="15000"/>
                </a:schemeClr>
              </a:solidFill>
              <a:ln w="6350">
                <a:solidFill>
                  <a:schemeClr val="accent1">
                    <a:alpha val="50000"/>
                  </a:schemeClr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grpSp>
            <p:nvGrpSpPr>
              <p:cNvPr id="9" name="组合 8"/>
              <p:cNvGrpSpPr/>
              <p:nvPr/>
            </p:nvGrpSpPr>
            <p:grpSpPr>
              <a:xfrm>
                <a:off x="4800600" y="2413249"/>
                <a:ext cx="2578100" cy="2437902"/>
                <a:chOff x="4800600" y="2413249"/>
                <a:chExt cx="2578100" cy="2437902"/>
              </a:xfrm>
            </p:grpSpPr>
            <p:sp>
              <p:nvSpPr>
                <p:cNvPr id="15" name="NumberMisc1"/>
                <p:cNvSpPr/>
                <p:nvPr/>
              </p:nvSpPr>
              <p:spPr>
                <a:xfrm>
                  <a:off x="4800600" y="2413249"/>
                  <a:ext cx="597530" cy="597528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rgbClr val="FFFFFF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r>
                    <a:rPr lang="en-US" sz="1400" b="1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1</a:t>
                  </a:r>
                  <a:endParaRPr lang="en-US" sz="1400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6" name="NumberMisc2"/>
                <p:cNvSpPr/>
                <p:nvPr/>
              </p:nvSpPr>
              <p:spPr>
                <a:xfrm>
                  <a:off x="4800600" y="4253623"/>
                  <a:ext cx="597530" cy="597528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rgbClr val="FFFFFF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r>
                    <a:rPr lang="en-US" sz="1400" b="1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4</a:t>
                  </a:r>
                  <a:endParaRPr lang="en-US" sz="1400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7" name="NumberMisc3"/>
                <p:cNvSpPr/>
                <p:nvPr/>
              </p:nvSpPr>
              <p:spPr>
                <a:xfrm>
                  <a:off x="6781170" y="2413249"/>
                  <a:ext cx="597530" cy="597528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rgbClr val="FFFFFF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r>
                    <a:rPr lang="en-US" altLang="zh-CN" sz="1400" b="1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2</a:t>
                  </a:r>
                  <a:endParaRPr lang="en-US" sz="1400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8" name="NumberMisc4"/>
                <p:cNvSpPr/>
                <p:nvPr/>
              </p:nvSpPr>
              <p:spPr>
                <a:xfrm>
                  <a:off x="6781170" y="4253623"/>
                  <a:ext cx="597530" cy="597528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rgbClr val="FFFFFF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r>
                    <a:rPr lang="en-US" sz="1400" b="1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3</a:t>
                  </a:r>
                  <a:endParaRPr lang="en-US" sz="1400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cxnSp>
            <p:nvCxnSpPr>
              <p:cNvPr id="14" name="直接连接符 13"/>
              <p:cNvCxnSpPr/>
              <p:nvPr/>
            </p:nvCxnSpPr>
            <p:spPr>
              <a:xfrm>
                <a:off x="6089650" y="5457825"/>
                <a:ext cx="0" cy="676275"/>
              </a:xfrm>
              <a:prstGeom prst="line">
                <a:avLst/>
              </a:prstGeom>
              <a:ln w="6350" cap="rnd">
                <a:solidFill>
                  <a:schemeClr val="accent1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itle"/>
            <p:cNvSpPr txBox="1"/>
            <p:nvPr/>
          </p:nvSpPr>
          <p:spPr>
            <a:xfrm>
              <a:off x="4831080" y="2989580"/>
              <a:ext cx="2517140" cy="129286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/>
            <a:p>
              <a:r>
                <a: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满足高并发、低延迟、快速响应的系统性能指标</a:t>
              </a:r>
              <a:endParaRPr 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性能需求实现方案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6e87be0-2898-4e3e-b9e2-0c2d3dbf29b4.source.8.zh-Hans.pptx"/>
          <p:cNvGrpSpPr/>
          <p:nvPr/>
        </p:nvGrpSpPr>
        <p:grpSpPr>
          <a:xfrm>
            <a:off x="647699" y="1130300"/>
            <a:ext cx="10883902" cy="5003800"/>
            <a:chOff x="647699" y="1130300"/>
            <a:chExt cx="10883902" cy="5003800"/>
          </a:xfrm>
        </p:grpSpPr>
        <p:sp>
          <p:nvSpPr>
            <p:cNvPr id="289" name="Title"/>
            <p:cNvSpPr/>
            <p:nvPr/>
          </p:nvSpPr>
          <p:spPr>
            <a:xfrm>
              <a:off x="660400" y="1130300"/>
              <a:ext cx="10858500" cy="574258"/>
            </a:xfrm>
            <a:prstGeom prst="roundRect">
              <a:avLst>
                <a:gd name="adj" fmla="val 9698"/>
              </a:avLst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r>
                <a:rPr lang="zh-CN" altLang="en-US" sz="2000" b="1" dirty="0">
                  <a:cs typeface="+mn-ea"/>
                  <a:sym typeface="+mn-lt"/>
                </a:rPr>
                <a:t>构建高可用系统，防范各类故障导致服务中断</a:t>
              </a:r>
              <a:endParaRPr lang="en-US" dirty="0"/>
            </a:p>
          </p:txBody>
        </p:sp>
        <p:cxnSp>
          <p:nvCxnSpPr>
            <p:cNvPr id="286" name="连接符: 肘形 285"/>
            <p:cNvCxnSpPr>
              <a:stCxn id="326" idx="0"/>
              <a:endCxn id="314" idx="0"/>
            </p:cNvCxnSpPr>
            <p:nvPr/>
          </p:nvCxnSpPr>
          <p:spPr>
            <a:xfrm rot="5400000" flipH="1" flipV="1">
              <a:off x="6099175" y="-1971853"/>
              <a:ext cx="12700" cy="8249921"/>
            </a:xfrm>
            <a:prstGeom prst="bentConnector3">
              <a:avLst>
                <a:gd name="adj1" fmla="val 2124984"/>
              </a:avLst>
            </a:prstGeom>
            <a:ln w="6350">
              <a:solidFill>
                <a:schemeClr val="tx1">
                  <a:alpha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islide-3"/>
            <p:cNvSpPr/>
            <p:nvPr/>
          </p:nvSpPr>
          <p:spPr>
            <a:xfrm flipV="1">
              <a:off x="4716780" y="1889125"/>
              <a:ext cx="0" cy="262778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  <a:miter lim="400000"/>
              <a:headEnd type="triangle"/>
            </a:ln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</a:defRPr>
              </a:pPr>
              <a:endParaRPr sz="1600" dirty="0">
                <a:cs typeface="+mn-ea"/>
                <a:sym typeface="+mn-lt"/>
              </a:endParaRPr>
            </a:p>
          </p:txBody>
        </p:sp>
        <p:sp>
          <p:nvSpPr>
            <p:cNvPr id="288" name="islide-3"/>
            <p:cNvSpPr/>
            <p:nvPr/>
          </p:nvSpPr>
          <p:spPr>
            <a:xfrm flipV="1">
              <a:off x="7474163" y="1889125"/>
              <a:ext cx="0" cy="262778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  <a:miter lim="400000"/>
              <a:headEnd type="triangle"/>
            </a:ln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</a:defRPr>
              </a:pPr>
              <a:endParaRPr sz="1600" dirty="0">
                <a:cs typeface="+mn-ea"/>
                <a:sym typeface="+mn-lt"/>
              </a:endParaRPr>
            </a:p>
          </p:txBody>
        </p:sp>
        <p:cxnSp>
          <p:nvCxnSpPr>
            <p:cNvPr id="282" name="连接符: 肘形 281"/>
            <p:cNvCxnSpPr>
              <a:stCxn id="303" idx="0"/>
              <a:endCxn id="294" idx="0"/>
            </p:cNvCxnSpPr>
            <p:nvPr/>
          </p:nvCxnSpPr>
          <p:spPr>
            <a:xfrm rot="5400000" flipH="1" flipV="1">
              <a:off x="6086474" y="242918"/>
              <a:ext cx="12700" cy="8249921"/>
            </a:xfrm>
            <a:prstGeom prst="bentConnector3">
              <a:avLst>
                <a:gd name="adj1" fmla="val 2124984"/>
              </a:avLst>
            </a:prstGeom>
            <a:ln w="6350">
              <a:solidFill>
                <a:schemeClr val="tx1">
                  <a:alpha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islide-3"/>
            <p:cNvSpPr/>
            <p:nvPr/>
          </p:nvSpPr>
          <p:spPr>
            <a:xfrm flipV="1">
              <a:off x="4704079" y="4103896"/>
              <a:ext cx="0" cy="262778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  <a:miter lim="400000"/>
              <a:headEnd type="triangle"/>
            </a:ln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</a:defRPr>
              </a:pPr>
              <a:endParaRPr sz="1600" dirty="0">
                <a:cs typeface="+mn-ea"/>
                <a:sym typeface="+mn-lt"/>
              </a:endParaRPr>
            </a:p>
          </p:txBody>
        </p:sp>
        <p:sp>
          <p:nvSpPr>
            <p:cNvPr id="284" name="islide-3"/>
            <p:cNvSpPr/>
            <p:nvPr/>
          </p:nvSpPr>
          <p:spPr>
            <a:xfrm flipV="1">
              <a:off x="7461462" y="4103896"/>
              <a:ext cx="0" cy="262778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  <a:miter lim="400000"/>
              <a:headEnd type="triangle"/>
            </a:ln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</a:defRPr>
              </a:pPr>
              <a:endParaRPr sz="1600" dirty="0">
                <a:cs typeface="+mn-ea"/>
                <a:sym typeface="+mn-lt"/>
              </a:endParaRPr>
            </a:p>
          </p:txBody>
        </p:sp>
        <p:grpSp>
          <p:nvGrpSpPr>
            <p:cNvPr id="307" name="组合 306"/>
            <p:cNvGrpSpPr/>
            <p:nvPr/>
          </p:nvGrpSpPr>
          <p:grpSpPr>
            <a:xfrm>
              <a:off x="660400" y="2153107"/>
              <a:ext cx="2621280" cy="1766222"/>
              <a:chOff x="660400" y="2153107"/>
              <a:chExt cx="2621280" cy="1766222"/>
            </a:xfrm>
          </p:grpSpPr>
          <p:sp>
            <p:nvSpPr>
              <p:cNvPr id="4" name="ComponentBackground1"/>
              <p:cNvSpPr/>
              <p:nvPr/>
            </p:nvSpPr>
            <p:spPr>
              <a:xfrm>
                <a:off x="660400" y="2338179"/>
                <a:ext cx="2621280" cy="1581150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6" name="Number1"/>
              <p:cNvSpPr/>
              <p:nvPr/>
            </p:nvSpPr>
            <p:spPr>
              <a:xfrm>
                <a:off x="1750074" y="2153107"/>
                <a:ext cx="448282" cy="448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1</a:t>
                </a:r>
                <a:endParaRPr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8" name="Text1"/>
              <p:cNvSpPr txBox="1"/>
              <p:nvPr/>
            </p:nvSpPr>
            <p:spPr>
              <a:xfrm>
                <a:off x="777512" y="3040368"/>
                <a:ext cx="2393407" cy="65734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全局异常处理器拦截未被捕获的错误，记录日志并返回友好提示，避免系统崩溃。</a:t>
                </a:r>
                <a:endParaRPr lang="en-US" dirty="0"/>
              </a:p>
            </p:txBody>
          </p:sp>
          <p:sp>
            <p:nvSpPr>
              <p:cNvPr id="329" name="Bullet1"/>
              <p:cNvSpPr txBox="1"/>
              <p:nvPr/>
            </p:nvSpPr>
            <p:spPr>
              <a:xfrm>
                <a:off x="777512" y="2614089"/>
                <a:ext cx="2393407" cy="42627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异常捕获与容错处理</a:t>
                </a:r>
                <a:endParaRPr lang="en-US" dirty="0"/>
              </a:p>
            </p:txBody>
          </p:sp>
        </p:grpSp>
        <p:grpSp>
          <p:nvGrpSpPr>
            <p:cNvPr id="308" name="组合 307"/>
            <p:cNvGrpSpPr/>
            <p:nvPr/>
          </p:nvGrpSpPr>
          <p:grpSpPr>
            <a:xfrm>
              <a:off x="3406140" y="2153107"/>
              <a:ext cx="2621280" cy="1766222"/>
              <a:chOff x="3406140" y="2153107"/>
              <a:chExt cx="2621280" cy="1766222"/>
            </a:xfrm>
          </p:grpSpPr>
          <p:sp>
            <p:nvSpPr>
              <p:cNvPr id="8" name="ComponentBackground2"/>
              <p:cNvSpPr/>
              <p:nvPr/>
            </p:nvSpPr>
            <p:spPr>
              <a:xfrm>
                <a:off x="3406140" y="2338179"/>
                <a:ext cx="2621280" cy="1581150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2" name="Number2"/>
              <p:cNvSpPr/>
              <p:nvPr/>
            </p:nvSpPr>
            <p:spPr>
              <a:xfrm>
                <a:off x="4492639" y="2153107"/>
                <a:ext cx="448282" cy="448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fontScale="55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2</a:t>
                </a:r>
                <a:endParaRPr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4" name="Text2"/>
              <p:cNvSpPr txBox="1"/>
              <p:nvPr/>
            </p:nvSpPr>
            <p:spPr>
              <a:xfrm>
                <a:off x="3520077" y="3040368"/>
                <a:ext cx="2393407" cy="65734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若串口意外断开（如拔插USB），程序自动尝试每隔5秒重新连接，直至恢复通信。</a:t>
                </a:r>
                <a:endParaRPr lang="en-US" dirty="0"/>
              </a:p>
            </p:txBody>
          </p:sp>
          <p:sp>
            <p:nvSpPr>
              <p:cNvPr id="325" name="Bullet2"/>
              <p:cNvSpPr txBox="1"/>
              <p:nvPr/>
            </p:nvSpPr>
            <p:spPr>
              <a:xfrm>
                <a:off x="3520077" y="2614089"/>
                <a:ext cx="2393407" cy="42627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串口自动重连机制</a:t>
                </a:r>
                <a:endParaRPr lang="en-US" dirty="0"/>
              </a:p>
            </p:txBody>
          </p:sp>
        </p:grpSp>
        <p:grpSp>
          <p:nvGrpSpPr>
            <p:cNvPr id="309" name="组合 308"/>
            <p:cNvGrpSpPr/>
            <p:nvPr/>
          </p:nvGrpSpPr>
          <p:grpSpPr>
            <a:xfrm>
              <a:off x="6164581" y="2153107"/>
              <a:ext cx="2621280" cy="1766222"/>
              <a:chOff x="6164581" y="2153107"/>
              <a:chExt cx="2621280" cy="1766222"/>
            </a:xfrm>
          </p:grpSpPr>
          <p:sp>
            <p:nvSpPr>
              <p:cNvPr id="9" name="ComponentBackground3"/>
              <p:cNvSpPr/>
              <p:nvPr/>
            </p:nvSpPr>
            <p:spPr>
              <a:xfrm>
                <a:off x="6164581" y="2338179"/>
                <a:ext cx="2621280" cy="1581150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8" name="Number3"/>
              <p:cNvSpPr/>
              <p:nvPr/>
            </p:nvSpPr>
            <p:spPr>
              <a:xfrm>
                <a:off x="7250022" y="2153107"/>
                <a:ext cx="448282" cy="448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fontScale="55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3</a:t>
                </a:r>
                <a:endParaRPr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0" name="Text3"/>
              <p:cNvSpPr txBox="1"/>
              <p:nvPr/>
            </p:nvSpPr>
            <p:spPr>
              <a:xfrm>
                <a:off x="6277460" y="3040368"/>
                <a:ext cx="2393407" cy="65734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HikariCP配置最大重试次数与等待时间，当连接丢失时自动重建，保障服务连续性。</a:t>
                </a:r>
                <a:endParaRPr lang="en-US" dirty="0"/>
              </a:p>
            </p:txBody>
          </p:sp>
          <p:sp>
            <p:nvSpPr>
              <p:cNvPr id="321" name="Bullet3"/>
              <p:cNvSpPr txBox="1"/>
              <p:nvPr/>
            </p:nvSpPr>
            <p:spPr>
              <a:xfrm>
                <a:off x="6277460" y="2614089"/>
                <a:ext cx="2393407" cy="42627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数据库连接池恢复</a:t>
                </a:r>
                <a:endParaRPr lang="en-US" dirty="0"/>
              </a:p>
            </p:txBody>
          </p:sp>
        </p:grpSp>
        <p:grpSp>
          <p:nvGrpSpPr>
            <p:cNvPr id="310" name="组合 309"/>
            <p:cNvGrpSpPr/>
            <p:nvPr/>
          </p:nvGrpSpPr>
          <p:grpSpPr>
            <a:xfrm>
              <a:off x="8910321" y="2153107"/>
              <a:ext cx="2621280" cy="1766222"/>
              <a:chOff x="8910321" y="2153107"/>
              <a:chExt cx="2621280" cy="1766222"/>
            </a:xfrm>
          </p:grpSpPr>
          <p:sp>
            <p:nvSpPr>
              <p:cNvPr id="10" name="ComponentBackground4"/>
              <p:cNvSpPr/>
              <p:nvPr/>
            </p:nvSpPr>
            <p:spPr>
              <a:xfrm>
                <a:off x="8910321" y="2338179"/>
                <a:ext cx="2621280" cy="1581150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4" name="Number4"/>
              <p:cNvSpPr/>
              <p:nvPr/>
            </p:nvSpPr>
            <p:spPr>
              <a:xfrm>
                <a:off x="9999995" y="2153107"/>
                <a:ext cx="448282" cy="448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fontScale="55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4</a:t>
                </a:r>
                <a:endParaRPr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6" name="Text4"/>
              <p:cNvSpPr txBox="1"/>
              <p:nvPr/>
            </p:nvSpPr>
            <p:spPr>
              <a:xfrm>
                <a:off x="9027433" y="3040368"/>
                <a:ext cx="2393407" cy="65734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系统设计为守护进程模式，开机自启，支持长时间稳定运行，适用于养殖场全天候监控。</a:t>
                </a:r>
                <a:endParaRPr lang="en-US" dirty="0"/>
              </a:p>
            </p:txBody>
          </p:sp>
          <p:sp>
            <p:nvSpPr>
              <p:cNvPr id="317" name="Bullet4"/>
              <p:cNvSpPr txBox="1"/>
              <p:nvPr/>
            </p:nvSpPr>
            <p:spPr>
              <a:xfrm>
                <a:off x="9027433" y="2614089"/>
                <a:ext cx="2393407" cy="42627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7×24小时不间断运行</a:t>
                </a:r>
                <a:endParaRPr lang="en-US" dirty="0"/>
              </a:p>
            </p:txBody>
          </p:sp>
        </p:grpSp>
        <p:grpSp>
          <p:nvGrpSpPr>
            <p:cNvPr id="311" name="组合 310"/>
            <p:cNvGrpSpPr/>
            <p:nvPr/>
          </p:nvGrpSpPr>
          <p:grpSpPr>
            <a:xfrm>
              <a:off x="647699" y="4367878"/>
              <a:ext cx="2621280" cy="1766222"/>
              <a:chOff x="647699" y="4367878"/>
              <a:chExt cx="2621280" cy="1766222"/>
            </a:xfrm>
          </p:grpSpPr>
          <p:sp>
            <p:nvSpPr>
              <p:cNvPr id="278" name="ComponentBackground5"/>
              <p:cNvSpPr/>
              <p:nvPr/>
            </p:nvSpPr>
            <p:spPr>
              <a:xfrm>
                <a:off x="647699" y="4552950"/>
                <a:ext cx="2621280" cy="1581150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3" name="Number5"/>
              <p:cNvSpPr/>
              <p:nvPr/>
            </p:nvSpPr>
            <p:spPr>
              <a:xfrm>
                <a:off x="1737373" y="4367878"/>
                <a:ext cx="448282" cy="448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5</a:t>
                </a:r>
                <a:endParaRPr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4" name="Text5"/>
              <p:cNvSpPr txBox="1"/>
              <p:nvPr/>
            </p:nvSpPr>
            <p:spPr>
              <a:xfrm>
                <a:off x="764811" y="5255139"/>
                <a:ext cx="2393407" cy="65734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每日自动导出重要数据为SQL脚本，存储于异地服务器，防止硬盘损坏导致数据丢失。</a:t>
                </a:r>
                <a:endParaRPr lang="en-US" dirty="0"/>
              </a:p>
            </p:txBody>
          </p:sp>
          <p:sp>
            <p:nvSpPr>
              <p:cNvPr id="305" name="Bullet5"/>
              <p:cNvSpPr txBox="1"/>
              <p:nvPr/>
            </p:nvSpPr>
            <p:spPr>
              <a:xfrm>
                <a:off x="764811" y="4828860"/>
                <a:ext cx="2393407" cy="42627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数据备份与恢复机制</a:t>
                </a:r>
                <a:endParaRPr lang="en-US" dirty="0"/>
              </a:p>
            </p:txBody>
          </p:sp>
        </p:grpSp>
        <p:grpSp>
          <p:nvGrpSpPr>
            <p:cNvPr id="312" name="组合 311"/>
            <p:cNvGrpSpPr/>
            <p:nvPr/>
          </p:nvGrpSpPr>
          <p:grpSpPr>
            <a:xfrm>
              <a:off x="3393439" y="4367878"/>
              <a:ext cx="2621280" cy="1766222"/>
              <a:chOff x="3393439" y="4367878"/>
              <a:chExt cx="2621280" cy="1766222"/>
            </a:xfrm>
          </p:grpSpPr>
          <p:sp>
            <p:nvSpPr>
              <p:cNvPr id="279" name="ComponentBackground6"/>
              <p:cNvSpPr/>
              <p:nvPr/>
            </p:nvSpPr>
            <p:spPr>
              <a:xfrm>
                <a:off x="3393439" y="4552950"/>
                <a:ext cx="2621280" cy="1581150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0" name="Number6"/>
              <p:cNvSpPr/>
              <p:nvPr/>
            </p:nvSpPr>
            <p:spPr>
              <a:xfrm>
                <a:off x="4479938" y="4367878"/>
                <a:ext cx="448282" cy="448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fontScale="55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6</a:t>
                </a:r>
                <a:endParaRPr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1" name="Text6"/>
              <p:cNvSpPr txBox="1"/>
              <p:nvPr/>
            </p:nvSpPr>
            <p:spPr>
              <a:xfrm>
                <a:off x="3507376" y="5255139"/>
                <a:ext cx="2393407" cy="65734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前端定期发送心跳包，后端监测客户端活跃状态，及时清理无效会话释放资源。</a:t>
                </a:r>
                <a:endParaRPr lang="en-US" dirty="0"/>
              </a:p>
            </p:txBody>
          </p:sp>
          <p:sp>
            <p:nvSpPr>
              <p:cNvPr id="302" name="Bullet6"/>
              <p:cNvSpPr txBox="1"/>
              <p:nvPr/>
            </p:nvSpPr>
            <p:spPr>
              <a:xfrm>
                <a:off x="3507376" y="4828860"/>
                <a:ext cx="2393407" cy="42627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心跳检测机制</a:t>
                </a:r>
                <a:endParaRPr lang="en-US" dirty="0"/>
              </a:p>
            </p:txBody>
          </p:sp>
        </p:grpSp>
        <p:grpSp>
          <p:nvGrpSpPr>
            <p:cNvPr id="313" name="组合 312"/>
            <p:cNvGrpSpPr/>
            <p:nvPr/>
          </p:nvGrpSpPr>
          <p:grpSpPr>
            <a:xfrm>
              <a:off x="6151880" y="4367878"/>
              <a:ext cx="2621280" cy="1766222"/>
              <a:chOff x="6151880" y="4367878"/>
              <a:chExt cx="2621280" cy="1766222"/>
            </a:xfrm>
          </p:grpSpPr>
          <p:sp>
            <p:nvSpPr>
              <p:cNvPr id="280" name="ComponentBackground7"/>
              <p:cNvSpPr/>
              <p:nvPr/>
            </p:nvSpPr>
            <p:spPr>
              <a:xfrm>
                <a:off x="6151880" y="4552950"/>
                <a:ext cx="2621280" cy="1581150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97" name="Number7"/>
              <p:cNvSpPr/>
              <p:nvPr/>
            </p:nvSpPr>
            <p:spPr>
              <a:xfrm>
                <a:off x="7237321" y="4367878"/>
                <a:ext cx="448282" cy="448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fontScale="55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7</a:t>
                </a:r>
                <a:endParaRPr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98" name="Text7"/>
              <p:cNvSpPr txBox="1"/>
              <p:nvPr/>
            </p:nvSpPr>
            <p:spPr>
              <a:xfrm>
                <a:off x="6264759" y="5255139"/>
                <a:ext cx="2393407" cy="65734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按日期分割日志文件，保留最近30天记录，旧日志自动压缩归档或删除。</a:t>
                </a:r>
                <a:endParaRPr lang="en-US" dirty="0"/>
              </a:p>
            </p:txBody>
          </p:sp>
          <p:sp>
            <p:nvSpPr>
              <p:cNvPr id="299" name="Bullet7"/>
              <p:cNvSpPr txBox="1"/>
              <p:nvPr/>
            </p:nvSpPr>
            <p:spPr>
              <a:xfrm>
                <a:off x="6264759" y="4828860"/>
                <a:ext cx="2393407" cy="42627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日志归档与清理策略</a:t>
                </a:r>
                <a:endParaRPr lang="en-US" dirty="0"/>
              </a:p>
            </p:txBody>
          </p:sp>
        </p:grpSp>
        <p:grpSp>
          <p:nvGrpSpPr>
            <p:cNvPr id="315" name="组合 314"/>
            <p:cNvGrpSpPr/>
            <p:nvPr/>
          </p:nvGrpSpPr>
          <p:grpSpPr>
            <a:xfrm>
              <a:off x="8897620" y="4367878"/>
              <a:ext cx="2621280" cy="1766222"/>
              <a:chOff x="8897620" y="4367878"/>
              <a:chExt cx="2621280" cy="1766222"/>
            </a:xfrm>
          </p:grpSpPr>
          <p:sp>
            <p:nvSpPr>
              <p:cNvPr id="281" name="ComponentBackground8"/>
              <p:cNvSpPr/>
              <p:nvPr/>
            </p:nvSpPr>
            <p:spPr>
              <a:xfrm>
                <a:off x="8897620" y="4552950"/>
                <a:ext cx="2621280" cy="1581150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94" name="Number8"/>
              <p:cNvSpPr/>
              <p:nvPr/>
            </p:nvSpPr>
            <p:spPr>
              <a:xfrm>
                <a:off x="9987294" y="4367878"/>
                <a:ext cx="448282" cy="448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fontScale="55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8</a:t>
                </a:r>
                <a:endParaRPr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95" name="Text8"/>
              <p:cNvSpPr txBox="1"/>
              <p:nvPr/>
            </p:nvSpPr>
            <p:spPr>
              <a:xfrm>
                <a:off x="9014732" y="5255139"/>
                <a:ext cx="2393407" cy="65734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若主服务宕机，备用服务器可快速接管，通过Docker容器化部署实现秒级切换。</a:t>
                </a:r>
                <a:endParaRPr lang="en-US" dirty="0"/>
              </a:p>
            </p:txBody>
          </p:sp>
          <p:sp>
            <p:nvSpPr>
              <p:cNvPr id="296" name="Bullet8"/>
              <p:cNvSpPr txBox="1"/>
              <p:nvPr/>
            </p:nvSpPr>
            <p:spPr>
              <a:xfrm>
                <a:off x="9014732" y="4828860"/>
                <a:ext cx="2393407" cy="42627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故障转移预案</a:t>
                </a:r>
                <a:endParaRPr 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可靠性保障措施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c5a60db3-d36e-441a-81eb-397c24432d8a.source.8.zh-Hans.pptx"/>
          <p:cNvGrpSpPr/>
          <p:nvPr/>
        </p:nvGrpSpPr>
        <p:grpSpPr>
          <a:xfrm>
            <a:off x="660400" y="1130300"/>
            <a:ext cx="10858501" cy="5003800"/>
            <a:chOff x="660400" y="1130300"/>
            <a:chExt cx="10858501" cy="5003800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4713288" y="3632201"/>
              <a:ext cx="2746375" cy="0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itle"/>
            <p:cNvSpPr/>
            <p:nvPr/>
          </p:nvSpPr>
          <p:spPr>
            <a:xfrm>
              <a:off x="4854086" y="2390775"/>
              <a:ext cx="2483828" cy="2482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rmAutofit/>
            </a:bodyPr>
            <a:lstStyle/>
            <a:p>
              <a:r>
                <a:rPr lang="zh-CN" altLang="en-US" sz="2000" b="1" dirty="0">
                  <a:solidFill>
                    <a:srgbClr val="FFFFFF"/>
                  </a:solidFill>
                  <a:cs typeface="+mn-ea"/>
                  <a:sym typeface="+mn-lt"/>
                </a:rPr>
                <a:t>提升代码质量与系统可扩展性，便于后期维护与功能迭代</a:t>
              </a:r>
              <a:endParaRPr lang="en-US" dirty="0"/>
            </a:p>
          </p:txBody>
        </p:sp>
        <p:cxnSp>
          <p:nvCxnSpPr>
            <p:cNvPr id="27" name="连接符: 肘形 26"/>
            <p:cNvCxnSpPr>
              <a:stCxn id="3" idx="3"/>
              <a:endCxn id="22" idx="3"/>
            </p:cNvCxnSpPr>
            <p:nvPr/>
          </p:nvCxnSpPr>
          <p:spPr>
            <a:xfrm>
              <a:off x="4381500" y="1722733"/>
              <a:ext cx="12700" cy="3818935"/>
            </a:xfrm>
            <a:prstGeom prst="bentConnector3">
              <a:avLst>
                <a:gd name="adj1" fmla="val 2625000"/>
              </a:avLst>
            </a:prstGeom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连接符: 肘形 36"/>
            <p:cNvCxnSpPr>
              <a:stCxn id="57" idx="3"/>
              <a:endCxn id="45" idx="3"/>
            </p:cNvCxnSpPr>
            <p:nvPr/>
          </p:nvCxnSpPr>
          <p:spPr>
            <a:xfrm flipH="1">
              <a:off x="7785101" y="1722733"/>
              <a:ext cx="12700" cy="3818935"/>
            </a:xfrm>
            <a:prstGeom prst="bentConnector3">
              <a:avLst>
                <a:gd name="adj1" fmla="val 2625000"/>
              </a:avLst>
            </a:prstGeom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组合 27"/>
            <p:cNvGrpSpPr/>
            <p:nvPr/>
          </p:nvGrpSpPr>
          <p:grpSpPr>
            <a:xfrm>
              <a:off x="660400" y="1130300"/>
              <a:ext cx="3721100" cy="1184865"/>
              <a:chOff x="660400" y="1130300"/>
              <a:chExt cx="3721100" cy="1184865"/>
            </a:xfrm>
          </p:grpSpPr>
          <p:sp>
            <p:nvSpPr>
              <p:cNvPr id="3" name="ComponentBackground1"/>
              <p:cNvSpPr/>
              <p:nvPr/>
            </p:nvSpPr>
            <p:spPr>
              <a:xfrm>
                <a:off x="660400" y="1130300"/>
                <a:ext cx="3721100" cy="1184865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" name="Text1"/>
              <p:cNvSpPr txBox="1"/>
              <p:nvPr/>
            </p:nvSpPr>
            <p:spPr>
              <a:xfrm>
                <a:off x="728295" y="1612698"/>
                <a:ext cx="3585310" cy="65207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遵循阿里巴巴Java开发手册，关键方法添加Javadoc，变量命名见名知意。</a:t>
                </a:r>
                <a:endParaRPr lang="en-US" dirty="0"/>
              </a:p>
            </p:txBody>
          </p:sp>
          <p:sp>
            <p:nvSpPr>
              <p:cNvPr id="8" name="Bullet1"/>
              <p:cNvSpPr txBox="1"/>
              <p:nvPr/>
            </p:nvSpPr>
            <p:spPr>
              <a:xfrm>
                <a:off x="728295" y="1180697"/>
                <a:ext cx="3585310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代码规范与注释完善</a:t>
                </a:r>
                <a:endParaRPr lang="en-US" dirty="0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660400" y="2403278"/>
              <a:ext cx="3721100" cy="1184865"/>
              <a:chOff x="660400" y="2403278"/>
              <a:chExt cx="3721100" cy="1184865"/>
            </a:xfrm>
          </p:grpSpPr>
          <p:sp>
            <p:nvSpPr>
              <p:cNvPr id="12" name="ComponentBackground2"/>
              <p:cNvSpPr/>
              <p:nvPr/>
            </p:nvSpPr>
            <p:spPr>
              <a:xfrm>
                <a:off x="660400" y="2403278"/>
                <a:ext cx="3721100" cy="1184865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Text2"/>
              <p:cNvSpPr txBox="1"/>
              <p:nvPr/>
            </p:nvSpPr>
            <p:spPr>
              <a:xfrm>
                <a:off x="728295" y="2885676"/>
                <a:ext cx="3585310" cy="65207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感知层、网络层、应用层、表示层职责分明，模块间通过接口交互，降低耦合度。</a:t>
                </a:r>
                <a:endParaRPr lang="en-US" dirty="0"/>
              </a:p>
            </p:txBody>
          </p:sp>
          <p:sp>
            <p:nvSpPr>
              <p:cNvPr id="15" name="Bullet2"/>
              <p:cNvSpPr txBox="1"/>
              <p:nvPr/>
            </p:nvSpPr>
            <p:spPr>
              <a:xfrm>
                <a:off x="728295" y="2453675"/>
                <a:ext cx="3585310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分层架构解耦设计</a:t>
                </a:r>
                <a:endParaRPr lang="en-US" dirty="0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660400" y="3676256"/>
              <a:ext cx="3721100" cy="1184865"/>
              <a:chOff x="660400" y="3676256"/>
              <a:chExt cx="3721100" cy="1184865"/>
            </a:xfrm>
          </p:grpSpPr>
          <p:sp>
            <p:nvSpPr>
              <p:cNvPr id="17" name="ComponentBackground3"/>
              <p:cNvSpPr/>
              <p:nvPr/>
            </p:nvSpPr>
            <p:spPr>
              <a:xfrm>
                <a:off x="660400" y="3676256"/>
                <a:ext cx="3721100" cy="1184865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Text3"/>
              <p:cNvSpPr txBox="1"/>
              <p:nvPr/>
            </p:nvSpPr>
            <p:spPr>
              <a:xfrm>
                <a:off x="728295" y="4158654"/>
                <a:ext cx="3585310" cy="65207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包含环境准备、依赖安装、配置说明、启动步骤、常见问题解决等内容，降低部署门槛。</a:t>
                </a:r>
                <a:endParaRPr lang="en-US" dirty="0"/>
              </a:p>
            </p:txBody>
          </p:sp>
          <p:sp>
            <p:nvSpPr>
              <p:cNvPr id="20" name="Bullet3"/>
              <p:cNvSpPr txBox="1"/>
              <p:nvPr/>
            </p:nvSpPr>
            <p:spPr>
              <a:xfrm>
                <a:off x="728295" y="3726653"/>
                <a:ext cx="3585310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详细部署文档提供</a:t>
                </a:r>
                <a:endParaRPr lang="en-US" dirty="0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660400" y="4949235"/>
              <a:ext cx="3721100" cy="1184865"/>
              <a:chOff x="660400" y="4949235"/>
              <a:chExt cx="3721100" cy="1184865"/>
            </a:xfrm>
          </p:grpSpPr>
          <p:sp>
            <p:nvSpPr>
              <p:cNvPr id="22" name="ComponentBackground4"/>
              <p:cNvSpPr/>
              <p:nvPr/>
            </p:nvSpPr>
            <p:spPr>
              <a:xfrm>
                <a:off x="660400" y="4949235"/>
                <a:ext cx="3721100" cy="1184865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" name="Text4"/>
              <p:cNvSpPr txBox="1"/>
              <p:nvPr/>
            </p:nvSpPr>
            <p:spPr>
              <a:xfrm>
                <a:off x="728295" y="5431633"/>
                <a:ext cx="3585310" cy="65207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记录从数据接收、解析、存储到控制的全过程，包含时间、线程、类名、方法名等上下文。</a:t>
                </a:r>
                <a:endParaRPr lang="en-US" dirty="0"/>
              </a:p>
            </p:txBody>
          </p:sp>
          <p:sp>
            <p:nvSpPr>
              <p:cNvPr id="25" name="Bullet4"/>
              <p:cNvSpPr txBox="1"/>
              <p:nvPr/>
            </p:nvSpPr>
            <p:spPr>
              <a:xfrm>
                <a:off x="728295" y="4999632"/>
                <a:ext cx="3585310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日志记录全面详尽</a:t>
                </a:r>
                <a:endParaRPr lang="en-US" dirty="0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7797801" y="1130300"/>
              <a:ext cx="3721100" cy="1184865"/>
              <a:chOff x="7797801" y="1130300"/>
              <a:chExt cx="3721100" cy="1184865"/>
            </a:xfrm>
          </p:grpSpPr>
          <p:sp>
            <p:nvSpPr>
              <p:cNvPr id="57" name="ComponentBackground5"/>
              <p:cNvSpPr/>
              <p:nvPr/>
            </p:nvSpPr>
            <p:spPr>
              <a:xfrm flipH="1">
                <a:off x="7797801" y="1130300"/>
                <a:ext cx="3721100" cy="1184865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9" name="Text5"/>
              <p:cNvSpPr txBox="1"/>
              <p:nvPr/>
            </p:nvSpPr>
            <p:spPr>
              <a:xfrm flipH="1">
                <a:off x="7865696" y="1612698"/>
                <a:ext cx="3585310" cy="65207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新增传感器类型只需扩展SensorData类与数据库表结构，不影响现有功能。</a:t>
                </a:r>
                <a:endParaRPr lang="en-US" dirty="0"/>
              </a:p>
            </p:txBody>
          </p:sp>
          <p:sp>
            <p:nvSpPr>
              <p:cNvPr id="60" name="Bullet5"/>
              <p:cNvSpPr txBox="1"/>
              <p:nvPr/>
            </p:nvSpPr>
            <p:spPr>
              <a:xfrm flipH="1">
                <a:off x="7865696" y="1180697"/>
                <a:ext cx="3585310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模块化设计便于扩展</a:t>
                </a:r>
                <a:endParaRPr lang="en-US" dirty="0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7797801" y="2403278"/>
              <a:ext cx="3721100" cy="1184865"/>
              <a:chOff x="7797801" y="2403278"/>
              <a:chExt cx="3721100" cy="1184865"/>
            </a:xfrm>
          </p:grpSpPr>
          <p:sp>
            <p:nvSpPr>
              <p:cNvPr id="53" name="ComponentBackground6"/>
              <p:cNvSpPr/>
              <p:nvPr/>
            </p:nvSpPr>
            <p:spPr>
              <a:xfrm flipH="1">
                <a:off x="7797801" y="2403278"/>
                <a:ext cx="3721100" cy="1184865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5" name="Text6"/>
              <p:cNvSpPr txBox="1"/>
              <p:nvPr/>
            </p:nvSpPr>
            <p:spPr>
              <a:xfrm flipH="1">
                <a:off x="7865696" y="2885676"/>
                <a:ext cx="3585310" cy="65207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所有可变参数（采集周期、告警阈值、串口波特率）集中存放于system_config表。</a:t>
                </a:r>
                <a:endParaRPr lang="en-US" dirty="0"/>
              </a:p>
            </p:txBody>
          </p:sp>
          <p:sp>
            <p:nvSpPr>
              <p:cNvPr id="56" name="Bullet6"/>
              <p:cNvSpPr txBox="1"/>
              <p:nvPr/>
            </p:nvSpPr>
            <p:spPr>
              <a:xfrm flipH="1">
                <a:off x="7865696" y="2453675"/>
                <a:ext cx="3585310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配置中心统一管理</a:t>
                </a:r>
                <a:endParaRPr lang="en-US" dirty="0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7797801" y="3676256"/>
              <a:ext cx="3721100" cy="1184865"/>
              <a:chOff x="7797801" y="3676256"/>
              <a:chExt cx="3721100" cy="1184865"/>
            </a:xfrm>
          </p:grpSpPr>
          <p:sp>
            <p:nvSpPr>
              <p:cNvPr id="49" name="ComponentBackground7"/>
              <p:cNvSpPr/>
              <p:nvPr/>
            </p:nvSpPr>
            <p:spPr>
              <a:xfrm flipH="1">
                <a:off x="7797801" y="3676256"/>
                <a:ext cx="3721100" cy="1184865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1" name="Text7"/>
              <p:cNvSpPr txBox="1"/>
              <p:nvPr/>
            </p:nvSpPr>
            <p:spPr>
              <a:xfrm flipH="1">
                <a:off x="7865696" y="4158654"/>
                <a:ext cx="3585310" cy="65207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对核心Service层编写JUnit测试用例，覆盖率不低于80%，确保代码质量可控。</a:t>
                </a:r>
                <a:endParaRPr lang="en-US" dirty="0"/>
              </a:p>
            </p:txBody>
          </p:sp>
          <p:sp>
            <p:nvSpPr>
              <p:cNvPr id="52" name="Bullet7"/>
              <p:cNvSpPr txBox="1"/>
              <p:nvPr/>
            </p:nvSpPr>
            <p:spPr>
              <a:xfrm flipH="1">
                <a:off x="7865696" y="3726653"/>
                <a:ext cx="3585310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单元测试覆盖率达标</a:t>
                </a:r>
                <a:endParaRPr lang="en-US" dirty="0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7797801" y="4949235"/>
              <a:ext cx="3721100" cy="1184865"/>
              <a:chOff x="7797801" y="4949235"/>
              <a:chExt cx="3721100" cy="1184865"/>
            </a:xfrm>
          </p:grpSpPr>
          <p:sp>
            <p:nvSpPr>
              <p:cNvPr id="45" name="ComponentBackground8"/>
              <p:cNvSpPr/>
              <p:nvPr/>
            </p:nvSpPr>
            <p:spPr>
              <a:xfrm flipH="1">
                <a:off x="7797801" y="4949235"/>
                <a:ext cx="3721100" cy="1184865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7" name="Text8"/>
              <p:cNvSpPr txBox="1"/>
              <p:nvPr/>
            </p:nvSpPr>
            <p:spPr>
              <a:xfrm flipH="1">
                <a:off x="7865696" y="5431633"/>
                <a:ext cx="3585310" cy="65207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使用Git进行版本管理，遵循语义化版本号（v1.0.0），每次发布附带变更日志。</a:t>
                </a:r>
                <a:endParaRPr lang="en-US" dirty="0"/>
              </a:p>
            </p:txBody>
          </p:sp>
          <p:sp>
            <p:nvSpPr>
              <p:cNvPr id="48" name="Bullet8"/>
              <p:cNvSpPr txBox="1"/>
              <p:nvPr/>
            </p:nvSpPr>
            <p:spPr>
              <a:xfrm flipH="1">
                <a:off x="7865696" y="4999632"/>
                <a:ext cx="3585310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版本控制与发布管理</a:t>
                </a:r>
                <a:endParaRPr lang="en-US" dirty="0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可维护性设计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3780dd32-24c7-4b99-966e-b33835bc170d.source.8.zh-Hans.pptx"/>
          <p:cNvGrpSpPr/>
          <p:nvPr/>
        </p:nvGrpSpPr>
        <p:grpSpPr>
          <a:xfrm>
            <a:off x="660400" y="1087314"/>
            <a:ext cx="11011844" cy="4988916"/>
            <a:chOff x="660400" y="1087314"/>
            <a:chExt cx="11011844" cy="4988916"/>
          </a:xfrm>
        </p:grpSpPr>
        <p:sp>
          <p:nvSpPr>
            <p:cNvPr id="5" name="Title"/>
            <p:cNvSpPr/>
            <p:nvPr/>
          </p:nvSpPr>
          <p:spPr>
            <a:xfrm>
              <a:off x="660400" y="4938986"/>
              <a:ext cx="10109199" cy="829466"/>
            </a:xfrm>
            <a:prstGeom prst="rect">
              <a:avLst/>
            </a:pr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defTabSz="913765"/>
              <a:r>
                <a:rPr lang="zh-CN" altLang="en-US" sz="2400" b="1" dirty="0">
                  <a:cs typeface="+mn-ea"/>
                  <a:sym typeface="+mn-lt"/>
                </a:rPr>
                <a:t>防范数据泄露、非法访问与常见Web攻击</a:t>
              </a:r>
              <a:endParaRPr lang="en-US" dirty="0"/>
            </a:p>
          </p:txBody>
        </p:sp>
        <p:grpSp>
          <p:nvGrpSpPr>
            <p:cNvPr id="75" name="组合 74"/>
            <p:cNvGrpSpPr/>
            <p:nvPr/>
          </p:nvGrpSpPr>
          <p:grpSpPr>
            <a:xfrm>
              <a:off x="9078980" y="1130299"/>
              <a:ext cx="2593264" cy="4945931"/>
              <a:chOff x="9078980" y="1188169"/>
              <a:chExt cx="2593264" cy="4945931"/>
            </a:xfrm>
          </p:grpSpPr>
          <p:sp>
            <p:nvSpPr>
              <p:cNvPr id="3" name="PictureMisc1"/>
              <p:cNvSpPr/>
              <p:nvPr/>
            </p:nvSpPr>
            <p:spPr bwMode="auto">
              <a:xfrm>
                <a:off x="9314938" y="1425635"/>
                <a:ext cx="2121351" cy="4400687"/>
              </a:xfrm>
              <a:prstGeom prst="roundRect">
                <a:avLst>
                  <a:gd name="adj" fmla="val 13806"/>
                </a:avLst>
              </a:prstGeom>
              <a:blipFill>
                <a:blip r:embed="rId1"/>
                <a:stretch>
                  <a:fillRect l="-30548" t="90" r="-35410" b="-90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  <p:pic>
            <p:nvPicPr>
              <p:cNvPr id="4" name="islide-2-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78980" y="1188169"/>
                <a:ext cx="2593264" cy="4945931"/>
              </a:xfrm>
              <a:prstGeom prst="rect">
                <a:avLst/>
              </a:prstGeom>
            </p:spPr>
          </p:pic>
        </p:grpSp>
        <p:grpSp>
          <p:nvGrpSpPr>
            <p:cNvPr id="2" name="组合 1"/>
            <p:cNvGrpSpPr/>
            <p:nvPr/>
          </p:nvGrpSpPr>
          <p:grpSpPr>
            <a:xfrm>
              <a:off x="660401" y="1087314"/>
              <a:ext cx="3990733" cy="962917"/>
              <a:chOff x="660400" y="2149861"/>
              <a:chExt cx="5242847" cy="1265038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1495948" y="2149861"/>
                <a:ext cx="4407299" cy="1265038"/>
                <a:chOff x="7793408" y="2617347"/>
                <a:chExt cx="4407299" cy="1265038"/>
              </a:xfrm>
            </p:grpSpPr>
            <p:sp>
              <p:nvSpPr>
                <p:cNvPr id="23" name="Text1"/>
                <p:cNvSpPr txBox="1"/>
                <p:nvPr/>
              </p:nvSpPr>
              <p:spPr>
                <a:xfrm>
                  <a:off x="7793408" y="3084327"/>
                  <a:ext cx="4407299" cy="7980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050" dirty="0" err="1">
                      <a:cs typeface="+mn-ea"/>
                      <a:sym typeface="+mn-lt"/>
                    </a:rPr>
                    <a:t>（可选）启用SSL/TLS加密MySQL连接，防止敏感信息在内网被窃听。</a:t>
                  </a:r>
                  <a:endParaRPr lang="en-US" dirty="0"/>
                </a:p>
              </p:txBody>
            </p:sp>
            <p:sp>
              <p:nvSpPr>
                <p:cNvPr id="24" name="Bullet1"/>
                <p:cNvSpPr/>
                <p:nvPr/>
              </p:nvSpPr>
              <p:spPr>
                <a:xfrm>
                  <a:off x="7793408" y="2617347"/>
                  <a:ext cx="4407299" cy="46698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>
                    <a:lnSpc>
                      <a:spcPct val="130000"/>
                    </a:lnSpc>
                  </a:pPr>
                  <a:r>
                    <a:rPr lang="zh-CN" altLang="en-US" sz="1400" b="1" dirty="0">
                      <a:cs typeface="+mn-ea"/>
                      <a:sym typeface="+mn-lt"/>
                    </a:rPr>
                    <a:t>数据库连接加密传输</a:t>
                  </a:r>
                  <a:endParaRPr lang="en-US" dirty="0"/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660400" y="2330534"/>
                <a:ext cx="660321" cy="660320"/>
                <a:chOff x="4670425" y="1505364"/>
                <a:chExt cx="1463673" cy="1463672"/>
              </a:xfrm>
            </p:grpSpPr>
            <p:sp>
              <p:nvSpPr>
                <p:cNvPr id="15" name="椭圆 14"/>
                <p:cNvSpPr/>
                <p:nvPr/>
              </p:nvSpPr>
              <p:spPr bwMode="auto">
                <a:xfrm>
                  <a:off x="4670425" y="1505364"/>
                  <a:ext cx="1463673" cy="1463672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noFill/>
                  <a:rou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Icon1"/>
                <p:cNvSpPr/>
                <p:nvPr/>
              </p:nvSpPr>
              <p:spPr bwMode="auto">
                <a:xfrm>
                  <a:off x="5086993" y="2013381"/>
                  <a:ext cx="630538" cy="447637"/>
                </a:xfrm>
                <a:custGeom>
                  <a:avLst/>
                  <a:gdLst>
                    <a:gd name="connsiteX0" fmla="*/ 271083 w 597283"/>
                    <a:gd name="connsiteY0" fmla="*/ 264046 h 424029"/>
                    <a:gd name="connsiteX1" fmla="*/ 287341 w 597283"/>
                    <a:gd name="connsiteY1" fmla="*/ 273118 h 424029"/>
                    <a:gd name="connsiteX2" fmla="*/ 293558 w 597283"/>
                    <a:gd name="connsiteY2" fmla="*/ 299858 h 424029"/>
                    <a:gd name="connsiteX3" fmla="*/ 287820 w 597283"/>
                    <a:gd name="connsiteY3" fmla="*/ 326598 h 424029"/>
                    <a:gd name="connsiteX4" fmla="*/ 271561 w 597283"/>
                    <a:gd name="connsiteY4" fmla="*/ 335670 h 424029"/>
                    <a:gd name="connsiteX5" fmla="*/ 253389 w 597283"/>
                    <a:gd name="connsiteY5" fmla="*/ 327553 h 424029"/>
                    <a:gd name="connsiteX6" fmla="*/ 247651 w 597283"/>
                    <a:gd name="connsiteY6" fmla="*/ 299858 h 424029"/>
                    <a:gd name="connsiteX7" fmla="*/ 247651 w 597283"/>
                    <a:gd name="connsiteY7" fmla="*/ 296516 h 424029"/>
                    <a:gd name="connsiteX8" fmla="*/ 253389 w 597283"/>
                    <a:gd name="connsiteY8" fmla="*/ 271686 h 424029"/>
                    <a:gd name="connsiteX9" fmla="*/ 271083 w 597283"/>
                    <a:gd name="connsiteY9" fmla="*/ 264046 h 424029"/>
                    <a:gd name="connsiteX10" fmla="*/ 405439 w 597283"/>
                    <a:gd name="connsiteY10" fmla="*/ 238300 h 424029"/>
                    <a:gd name="connsiteX11" fmla="*/ 361931 w 597283"/>
                    <a:gd name="connsiteY11" fmla="*/ 254533 h 424029"/>
                    <a:gd name="connsiteX12" fmla="*/ 346631 w 597283"/>
                    <a:gd name="connsiteY12" fmla="*/ 300846 h 424029"/>
                    <a:gd name="connsiteX13" fmla="*/ 402570 w 597283"/>
                    <a:gd name="connsiteY13" fmla="*/ 362438 h 424029"/>
                    <a:gd name="connsiteX14" fmla="*/ 423129 w 597283"/>
                    <a:gd name="connsiteY14" fmla="*/ 360528 h 424029"/>
                    <a:gd name="connsiteX15" fmla="*/ 438907 w 597283"/>
                    <a:gd name="connsiteY15" fmla="*/ 353366 h 424029"/>
                    <a:gd name="connsiteX16" fmla="*/ 438907 w 597283"/>
                    <a:gd name="connsiteY16" fmla="*/ 325674 h 424029"/>
                    <a:gd name="connsiteX17" fmla="*/ 423129 w 597283"/>
                    <a:gd name="connsiteY17" fmla="*/ 333313 h 424029"/>
                    <a:gd name="connsiteX18" fmla="*/ 405439 w 597283"/>
                    <a:gd name="connsiteY18" fmla="*/ 335700 h 424029"/>
                    <a:gd name="connsiteX19" fmla="*/ 380099 w 597283"/>
                    <a:gd name="connsiteY19" fmla="*/ 300846 h 424029"/>
                    <a:gd name="connsiteX20" fmla="*/ 405439 w 597283"/>
                    <a:gd name="connsiteY20" fmla="*/ 264560 h 424029"/>
                    <a:gd name="connsiteX21" fmla="*/ 418826 w 597283"/>
                    <a:gd name="connsiteY21" fmla="*/ 266470 h 424029"/>
                    <a:gd name="connsiteX22" fmla="*/ 433169 w 597283"/>
                    <a:gd name="connsiteY22" fmla="*/ 271722 h 424029"/>
                    <a:gd name="connsiteX23" fmla="*/ 442731 w 597283"/>
                    <a:gd name="connsiteY23" fmla="*/ 246417 h 424029"/>
                    <a:gd name="connsiteX24" fmla="*/ 405439 w 597283"/>
                    <a:gd name="connsiteY24" fmla="*/ 238300 h 424029"/>
                    <a:gd name="connsiteX25" fmla="*/ 121936 w 597283"/>
                    <a:gd name="connsiteY25" fmla="*/ 227275 h 424029"/>
                    <a:gd name="connsiteX26" fmla="*/ 124803 w 597283"/>
                    <a:gd name="connsiteY26" fmla="*/ 237789 h 424029"/>
                    <a:gd name="connsiteX27" fmla="*/ 142480 w 597283"/>
                    <a:gd name="connsiteY27" fmla="*/ 295137 h 424029"/>
                    <a:gd name="connsiteX28" fmla="*/ 101870 w 597283"/>
                    <a:gd name="connsiteY28" fmla="*/ 295137 h 424029"/>
                    <a:gd name="connsiteX29" fmla="*/ 121936 w 597283"/>
                    <a:gd name="connsiteY29" fmla="*/ 227275 h 424029"/>
                    <a:gd name="connsiteX30" fmla="*/ 101360 w 597283"/>
                    <a:gd name="connsiteY30" fmla="*/ 202969 h 424029"/>
                    <a:gd name="connsiteX31" fmla="*/ 46377 w 597283"/>
                    <a:gd name="connsiteY31" fmla="*/ 360050 h 424029"/>
                    <a:gd name="connsiteX32" fmla="*/ 82235 w 597283"/>
                    <a:gd name="connsiteY32" fmla="*/ 360050 h 424029"/>
                    <a:gd name="connsiteX33" fmla="*/ 93232 w 597283"/>
                    <a:gd name="connsiteY33" fmla="*/ 322809 h 424029"/>
                    <a:gd name="connsiteX34" fmla="*/ 150605 w 597283"/>
                    <a:gd name="connsiteY34" fmla="*/ 322809 h 424029"/>
                    <a:gd name="connsiteX35" fmla="*/ 162080 w 597283"/>
                    <a:gd name="connsiteY35" fmla="*/ 360050 h 424029"/>
                    <a:gd name="connsiteX36" fmla="*/ 197938 w 597283"/>
                    <a:gd name="connsiteY36" fmla="*/ 360050 h 424029"/>
                    <a:gd name="connsiteX37" fmla="*/ 141999 w 597283"/>
                    <a:gd name="connsiteY37" fmla="*/ 202969 h 424029"/>
                    <a:gd name="connsiteX38" fmla="*/ 215150 w 597283"/>
                    <a:gd name="connsiteY38" fmla="*/ 193419 h 424029"/>
                    <a:gd name="connsiteX39" fmla="*/ 215150 w 597283"/>
                    <a:gd name="connsiteY39" fmla="*/ 360050 h 424029"/>
                    <a:gd name="connsiteX40" fmla="*/ 240012 w 597283"/>
                    <a:gd name="connsiteY40" fmla="*/ 360050 h 424029"/>
                    <a:gd name="connsiteX41" fmla="*/ 245271 w 597283"/>
                    <a:gd name="connsiteY41" fmla="*/ 347159 h 424029"/>
                    <a:gd name="connsiteX42" fmla="*/ 247662 w 597283"/>
                    <a:gd name="connsiteY42" fmla="*/ 347159 h 424029"/>
                    <a:gd name="connsiteX43" fmla="*/ 280652 w 597283"/>
                    <a:gd name="connsiteY43" fmla="*/ 362438 h 424029"/>
                    <a:gd name="connsiteX44" fmla="*/ 314597 w 597283"/>
                    <a:gd name="connsiteY44" fmla="*/ 346204 h 424029"/>
                    <a:gd name="connsiteX45" fmla="*/ 327028 w 597283"/>
                    <a:gd name="connsiteY45" fmla="*/ 299891 h 424029"/>
                    <a:gd name="connsiteX46" fmla="*/ 315076 w 597283"/>
                    <a:gd name="connsiteY46" fmla="*/ 254533 h 424029"/>
                    <a:gd name="connsiteX47" fmla="*/ 281608 w 597283"/>
                    <a:gd name="connsiteY47" fmla="*/ 238300 h 424029"/>
                    <a:gd name="connsiteX48" fmla="*/ 247662 w 597283"/>
                    <a:gd name="connsiteY48" fmla="*/ 255966 h 424029"/>
                    <a:gd name="connsiteX49" fmla="*/ 246227 w 597283"/>
                    <a:gd name="connsiteY49" fmla="*/ 255966 h 424029"/>
                    <a:gd name="connsiteX50" fmla="*/ 247662 w 597283"/>
                    <a:gd name="connsiteY50" fmla="*/ 232093 h 424029"/>
                    <a:gd name="connsiteX51" fmla="*/ 247662 w 597283"/>
                    <a:gd name="connsiteY51" fmla="*/ 193419 h 424029"/>
                    <a:gd name="connsiteX52" fmla="*/ 566562 w 597283"/>
                    <a:gd name="connsiteY52" fmla="*/ 23924 h 424029"/>
                    <a:gd name="connsiteX53" fmla="*/ 552697 w 597283"/>
                    <a:gd name="connsiteY53" fmla="*/ 26789 h 424029"/>
                    <a:gd name="connsiteX54" fmla="*/ 539310 w 597283"/>
                    <a:gd name="connsiteY54" fmla="*/ 30608 h 424029"/>
                    <a:gd name="connsiteX55" fmla="*/ 513970 w 597283"/>
                    <a:gd name="connsiteY55" fmla="*/ 41590 h 424029"/>
                    <a:gd name="connsiteX56" fmla="*/ 490543 w 597283"/>
                    <a:gd name="connsiteY56" fmla="*/ 54958 h 424029"/>
                    <a:gd name="connsiteX57" fmla="*/ 468071 w 597283"/>
                    <a:gd name="connsiteY57" fmla="*/ 70714 h 424029"/>
                    <a:gd name="connsiteX58" fmla="*/ 427910 w 597283"/>
                    <a:gd name="connsiteY58" fmla="*/ 107478 h 424029"/>
                    <a:gd name="connsiteX59" fmla="*/ 409742 w 597283"/>
                    <a:gd name="connsiteY59" fmla="*/ 127531 h 424029"/>
                    <a:gd name="connsiteX60" fmla="*/ 406395 w 597283"/>
                    <a:gd name="connsiteY60" fmla="*/ 131351 h 424029"/>
                    <a:gd name="connsiteX61" fmla="*/ 349978 w 597283"/>
                    <a:gd name="connsiteY61" fmla="*/ 69759 h 424029"/>
                    <a:gd name="connsiteX62" fmla="*/ 320813 w 597283"/>
                    <a:gd name="connsiteY62" fmla="*/ 97929 h 424029"/>
                    <a:gd name="connsiteX63" fmla="*/ 394920 w 597283"/>
                    <a:gd name="connsiteY63" fmla="*/ 171457 h 424029"/>
                    <a:gd name="connsiteX64" fmla="*/ 411176 w 597283"/>
                    <a:gd name="connsiteY64" fmla="*/ 187690 h 424029"/>
                    <a:gd name="connsiteX65" fmla="*/ 422651 w 597283"/>
                    <a:gd name="connsiteY65" fmla="*/ 168592 h 424029"/>
                    <a:gd name="connsiteX66" fmla="*/ 429344 w 597283"/>
                    <a:gd name="connsiteY66" fmla="*/ 158565 h 424029"/>
                    <a:gd name="connsiteX67" fmla="*/ 436038 w 597283"/>
                    <a:gd name="connsiteY67" fmla="*/ 148062 h 424029"/>
                    <a:gd name="connsiteX68" fmla="*/ 451337 w 597283"/>
                    <a:gd name="connsiteY68" fmla="*/ 128486 h 424029"/>
                    <a:gd name="connsiteX69" fmla="*/ 485761 w 597283"/>
                    <a:gd name="connsiteY69" fmla="*/ 91722 h 424029"/>
                    <a:gd name="connsiteX70" fmla="*/ 504886 w 597283"/>
                    <a:gd name="connsiteY70" fmla="*/ 75489 h 424029"/>
                    <a:gd name="connsiteX71" fmla="*/ 525445 w 597283"/>
                    <a:gd name="connsiteY71" fmla="*/ 61643 h 424029"/>
                    <a:gd name="connsiteX72" fmla="*/ 535963 w 597283"/>
                    <a:gd name="connsiteY72" fmla="*/ 55436 h 424029"/>
                    <a:gd name="connsiteX73" fmla="*/ 546960 w 597283"/>
                    <a:gd name="connsiteY73" fmla="*/ 50184 h 424029"/>
                    <a:gd name="connsiteX74" fmla="*/ 558434 w 597283"/>
                    <a:gd name="connsiteY74" fmla="*/ 45887 h 424029"/>
                    <a:gd name="connsiteX75" fmla="*/ 570387 w 597283"/>
                    <a:gd name="connsiteY75" fmla="*/ 42067 h 424029"/>
                    <a:gd name="connsiteX76" fmla="*/ 562737 w 597283"/>
                    <a:gd name="connsiteY76" fmla="*/ 529 h 424029"/>
                    <a:gd name="connsiteX77" fmla="*/ 593337 w 597283"/>
                    <a:gd name="connsiteY77" fmla="*/ 20582 h 424029"/>
                    <a:gd name="connsiteX78" fmla="*/ 596683 w 597283"/>
                    <a:gd name="connsiteY78" fmla="*/ 38725 h 424029"/>
                    <a:gd name="connsiteX79" fmla="*/ 578993 w 597283"/>
                    <a:gd name="connsiteY79" fmla="*/ 68804 h 424029"/>
                    <a:gd name="connsiteX80" fmla="*/ 575168 w 597283"/>
                    <a:gd name="connsiteY80" fmla="*/ 69759 h 424029"/>
                    <a:gd name="connsiteX81" fmla="*/ 568953 w 597283"/>
                    <a:gd name="connsiteY81" fmla="*/ 71669 h 424029"/>
                    <a:gd name="connsiteX82" fmla="*/ 567997 w 597283"/>
                    <a:gd name="connsiteY82" fmla="*/ 72147 h 424029"/>
                    <a:gd name="connsiteX83" fmla="*/ 561303 w 597283"/>
                    <a:gd name="connsiteY83" fmla="*/ 74534 h 424029"/>
                    <a:gd name="connsiteX84" fmla="*/ 556522 w 597283"/>
                    <a:gd name="connsiteY84" fmla="*/ 76921 h 424029"/>
                    <a:gd name="connsiteX85" fmla="*/ 549828 w 597283"/>
                    <a:gd name="connsiteY85" fmla="*/ 79786 h 424029"/>
                    <a:gd name="connsiteX86" fmla="*/ 548872 w 597283"/>
                    <a:gd name="connsiteY86" fmla="*/ 80263 h 424029"/>
                    <a:gd name="connsiteX87" fmla="*/ 542179 w 597283"/>
                    <a:gd name="connsiteY87" fmla="*/ 84560 h 424029"/>
                    <a:gd name="connsiteX88" fmla="*/ 540266 w 597283"/>
                    <a:gd name="connsiteY88" fmla="*/ 85515 h 424029"/>
                    <a:gd name="connsiteX89" fmla="*/ 522098 w 597283"/>
                    <a:gd name="connsiteY89" fmla="*/ 97929 h 424029"/>
                    <a:gd name="connsiteX90" fmla="*/ 504886 w 597283"/>
                    <a:gd name="connsiteY90" fmla="*/ 112730 h 424029"/>
                    <a:gd name="connsiteX91" fmla="*/ 489108 w 597283"/>
                    <a:gd name="connsiteY91" fmla="*/ 128009 h 424029"/>
                    <a:gd name="connsiteX92" fmla="*/ 489108 w 597283"/>
                    <a:gd name="connsiteY92" fmla="*/ 424029 h 424029"/>
                    <a:gd name="connsiteX93" fmla="*/ 0 w 597283"/>
                    <a:gd name="connsiteY93" fmla="*/ 424029 h 424029"/>
                    <a:gd name="connsiteX94" fmla="*/ 0 w 597283"/>
                    <a:gd name="connsiteY94" fmla="*/ 69282 h 424029"/>
                    <a:gd name="connsiteX95" fmla="*/ 316988 w 597283"/>
                    <a:gd name="connsiteY95" fmla="*/ 69282 h 424029"/>
                    <a:gd name="connsiteX96" fmla="*/ 333722 w 597283"/>
                    <a:gd name="connsiteY96" fmla="*/ 53526 h 424029"/>
                    <a:gd name="connsiteX97" fmla="*/ 352368 w 597283"/>
                    <a:gd name="connsiteY97" fmla="*/ 46364 h 424029"/>
                    <a:gd name="connsiteX98" fmla="*/ 370537 w 597283"/>
                    <a:gd name="connsiteY98" fmla="*/ 54481 h 424029"/>
                    <a:gd name="connsiteX99" fmla="*/ 384402 w 597283"/>
                    <a:gd name="connsiteY99" fmla="*/ 69282 h 424029"/>
                    <a:gd name="connsiteX100" fmla="*/ 433647 w 597283"/>
                    <a:gd name="connsiteY100" fmla="*/ 69282 h 424029"/>
                    <a:gd name="connsiteX101" fmla="*/ 453728 w 597283"/>
                    <a:gd name="connsiteY101" fmla="*/ 52571 h 424029"/>
                    <a:gd name="connsiteX102" fmla="*/ 477634 w 597283"/>
                    <a:gd name="connsiteY102" fmla="*/ 35383 h 424029"/>
                    <a:gd name="connsiteX103" fmla="*/ 503930 w 597283"/>
                    <a:gd name="connsiteY103" fmla="*/ 20582 h 424029"/>
                    <a:gd name="connsiteX104" fmla="*/ 532616 w 597283"/>
                    <a:gd name="connsiteY104" fmla="*/ 8168 h 424029"/>
                    <a:gd name="connsiteX105" fmla="*/ 533573 w 597283"/>
                    <a:gd name="connsiteY105" fmla="*/ 8168 h 424029"/>
                    <a:gd name="connsiteX106" fmla="*/ 535963 w 597283"/>
                    <a:gd name="connsiteY106" fmla="*/ 7213 h 424029"/>
                    <a:gd name="connsiteX107" fmla="*/ 547916 w 597283"/>
                    <a:gd name="connsiteY107" fmla="*/ 3871 h 424029"/>
                    <a:gd name="connsiteX108" fmla="*/ 559869 w 597283"/>
                    <a:gd name="connsiteY108" fmla="*/ 1006 h 42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</a:cxnLst>
                  <a:rect l="l" t="t" r="r" b="b"/>
                  <a:pathLst>
                    <a:path w="597283" h="424029">
                      <a:moveTo>
                        <a:pt x="271083" y="264046"/>
                      </a:moveTo>
                      <a:cubicBezTo>
                        <a:pt x="278256" y="264046"/>
                        <a:pt x="283516" y="267388"/>
                        <a:pt x="287341" y="273118"/>
                      </a:cubicBezTo>
                      <a:cubicBezTo>
                        <a:pt x="291645" y="278848"/>
                        <a:pt x="293558" y="287921"/>
                        <a:pt x="293558" y="299858"/>
                      </a:cubicBezTo>
                      <a:cubicBezTo>
                        <a:pt x="293558" y="311318"/>
                        <a:pt x="291645" y="320390"/>
                        <a:pt x="287820" y="326598"/>
                      </a:cubicBezTo>
                      <a:cubicBezTo>
                        <a:pt x="283516" y="332805"/>
                        <a:pt x="278256" y="335670"/>
                        <a:pt x="271561" y="335670"/>
                      </a:cubicBezTo>
                      <a:cubicBezTo>
                        <a:pt x="263432" y="335670"/>
                        <a:pt x="257215" y="333283"/>
                        <a:pt x="253389" y="327553"/>
                      </a:cubicBezTo>
                      <a:cubicBezTo>
                        <a:pt x="249564" y="321823"/>
                        <a:pt x="247651" y="312750"/>
                        <a:pt x="247651" y="299858"/>
                      </a:cubicBezTo>
                      <a:lnTo>
                        <a:pt x="247651" y="296516"/>
                      </a:lnTo>
                      <a:cubicBezTo>
                        <a:pt x="247651" y="285056"/>
                        <a:pt x="249564" y="276461"/>
                        <a:pt x="253389" y="271686"/>
                      </a:cubicBezTo>
                      <a:cubicBezTo>
                        <a:pt x="257215" y="266911"/>
                        <a:pt x="262953" y="264046"/>
                        <a:pt x="271083" y="264046"/>
                      </a:cubicBezTo>
                      <a:close/>
                      <a:moveTo>
                        <a:pt x="405439" y="238300"/>
                      </a:moveTo>
                      <a:cubicBezTo>
                        <a:pt x="386792" y="238300"/>
                        <a:pt x="371971" y="243552"/>
                        <a:pt x="361931" y="254533"/>
                      </a:cubicBezTo>
                      <a:cubicBezTo>
                        <a:pt x="351890" y="265037"/>
                        <a:pt x="346631" y="280793"/>
                        <a:pt x="346631" y="300846"/>
                      </a:cubicBezTo>
                      <a:cubicBezTo>
                        <a:pt x="346631" y="341907"/>
                        <a:pt x="365277" y="362438"/>
                        <a:pt x="402570" y="362438"/>
                      </a:cubicBezTo>
                      <a:cubicBezTo>
                        <a:pt x="410698" y="362438"/>
                        <a:pt x="417870" y="361483"/>
                        <a:pt x="423129" y="360528"/>
                      </a:cubicBezTo>
                      <a:cubicBezTo>
                        <a:pt x="428388" y="359095"/>
                        <a:pt x="433647" y="356708"/>
                        <a:pt x="438907" y="353366"/>
                      </a:cubicBezTo>
                      <a:lnTo>
                        <a:pt x="438907" y="325674"/>
                      </a:lnTo>
                      <a:cubicBezTo>
                        <a:pt x="433647" y="329016"/>
                        <a:pt x="428388" y="331881"/>
                        <a:pt x="423129" y="333313"/>
                      </a:cubicBezTo>
                      <a:cubicBezTo>
                        <a:pt x="417870" y="335223"/>
                        <a:pt x="411654" y="335700"/>
                        <a:pt x="405439" y="335700"/>
                      </a:cubicBezTo>
                      <a:cubicBezTo>
                        <a:pt x="388705" y="335700"/>
                        <a:pt x="380099" y="324241"/>
                        <a:pt x="380099" y="300846"/>
                      </a:cubicBezTo>
                      <a:cubicBezTo>
                        <a:pt x="380099" y="276496"/>
                        <a:pt x="388705" y="264560"/>
                        <a:pt x="405439" y="264560"/>
                      </a:cubicBezTo>
                      <a:cubicBezTo>
                        <a:pt x="410220" y="264560"/>
                        <a:pt x="414523" y="265037"/>
                        <a:pt x="418826" y="266470"/>
                      </a:cubicBezTo>
                      <a:cubicBezTo>
                        <a:pt x="423129" y="267902"/>
                        <a:pt x="427910" y="269334"/>
                        <a:pt x="433169" y="271722"/>
                      </a:cubicBezTo>
                      <a:lnTo>
                        <a:pt x="442731" y="246417"/>
                      </a:lnTo>
                      <a:cubicBezTo>
                        <a:pt x="431735" y="240687"/>
                        <a:pt x="419304" y="238300"/>
                        <a:pt x="405439" y="238300"/>
                      </a:cubicBezTo>
                      <a:close/>
                      <a:moveTo>
                        <a:pt x="121936" y="227275"/>
                      </a:moveTo>
                      <a:cubicBezTo>
                        <a:pt x="122414" y="229665"/>
                        <a:pt x="123369" y="233488"/>
                        <a:pt x="124803" y="237789"/>
                      </a:cubicBezTo>
                      <a:cubicBezTo>
                        <a:pt x="126236" y="242090"/>
                        <a:pt x="131969" y="261206"/>
                        <a:pt x="142480" y="295137"/>
                      </a:cubicBezTo>
                      <a:lnTo>
                        <a:pt x="101870" y="295137"/>
                      </a:lnTo>
                      <a:cubicBezTo>
                        <a:pt x="112859" y="258816"/>
                        <a:pt x="119547" y="236355"/>
                        <a:pt x="121936" y="227275"/>
                      </a:cubicBezTo>
                      <a:close/>
                      <a:moveTo>
                        <a:pt x="101360" y="202969"/>
                      </a:moveTo>
                      <a:lnTo>
                        <a:pt x="46377" y="360050"/>
                      </a:lnTo>
                      <a:lnTo>
                        <a:pt x="82235" y="360050"/>
                      </a:lnTo>
                      <a:lnTo>
                        <a:pt x="93232" y="322809"/>
                      </a:lnTo>
                      <a:lnTo>
                        <a:pt x="150605" y="322809"/>
                      </a:lnTo>
                      <a:lnTo>
                        <a:pt x="162080" y="360050"/>
                      </a:lnTo>
                      <a:lnTo>
                        <a:pt x="197938" y="360050"/>
                      </a:lnTo>
                      <a:lnTo>
                        <a:pt x="141999" y="202969"/>
                      </a:lnTo>
                      <a:close/>
                      <a:moveTo>
                        <a:pt x="215150" y="193419"/>
                      </a:moveTo>
                      <a:lnTo>
                        <a:pt x="215150" y="360050"/>
                      </a:lnTo>
                      <a:lnTo>
                        <a:pt x="240012" y="360050"/>
                      </a:lnTo>
                      <a:lnTo>
                        <a:pt x="245271" y="347159"/>
                      </a:lnTo>
                      <a:lnTo>
                        <a:pt x="247662" y="347159"/>
                      </a:lnTo>
                      <a:cubicBezTo>
                        <a:pt x="255790" y="357186"/>
                        <a:pt x="266786" y="362438"/>
                        <a:pt x="280652" y="362438"/>
                      </a:cubicBezTo>
                      <a:cubicBezTo>
                        <a:pt x="294995" y="362438"/>
                        <a:pt x="306470" y="356708"/>
                        <a:pt x="314597" y="346204"/>
                      </a:cubicBezTo>
                      <a:cubicBezTo>
                        <a:pt x="322725" y="335223"/>
                        <a:pt x="327028" y="319944"/>
                        <a:pt x="327028" y="299891"/>
                      </a:cubicBezTo>
                      <a:cubicBezTo>
                        <a:pt x="327028" y="280793"/>
                        <a:pt x="322725" y="265992"/>
                        <a:pt x="315076" y="254533"/>
                      </a:cubicBezTo>
                      <a:cubicBezTo>
                        <a:pt x="306948" y="243552"/>
                        <a:pt x="295951" y="238300"/>
                        <a:pt x="281608" y="238300"/>
                      </a:cubicBezTo>
                      <a:cubicBezTo>
                        <a:pt x="266786" y="238300"/>
                        <a:pt x="255312" y="244029"/>
                        <a:pt x="247662" y="255966"/>
                      </a:cubicBezTo>
                      <a:lnTo>
                        <a:pt x="246227" y="255966"/>
                      </a:lnTo>
                      <a:cubicBezTo>
                        <a:pt x="247184" y="244984"/>
                        <a:pt x="247662" y="237345"/>
                        <a:pt x="247662" y="232093"/>
                      </a:cubicBezTo>
                      <a:lnTo>
                        <a:pt x="247662" y="193419"/>
                      </a:lnTo>
                      <a:close/>
                      <a:moveTo>
                        <a:pt x="566562" y="23924"/>
                      </a:moveTo>
                      <a:cubicBezTo>
                        <a:pt x="561781" y="24879"/>
                        <a:pt x="557478" y="25356"/>
                        <a:pt x="552697" y="26789"/>
                      </a:cubicBezTo>
                      <a:cubicBezTo>
                        <a:pt x="548394" y="27744"/>
                        <a:pt x="544091" y="29176"/>
                        <a:pt x="539310" y="30608"/>
                      </a:cubicBezTo>
                      <a:cubicBezTo>
                        <a:pt x="530704" y="33950"/>
                        <a:pt x="522098" y="37293"/>
                        <a:pt x="513970" y="41590"/>
                      </a:cubicBezTo>
                      <a:cubicBezTo>
                        <a:pt x="505842" y="45409"/>
                        <a:pt x="498192" y="50184"/>
                        <a:pt x="490543" y="54958"/>
                      </a:cubicBezTo>
                      <a:cubicBezTo>
                        <a:pt x="482893" y="60210"/>
                        <a:pt x="475243" y="65462"/>
                        <a:pt x="468071" y="70714"/>
                      </a:cubicBezTo>
                      <a:cubicBezTo>
                        <a:pt x="453728" y="82173"/>
                        <a:pt x="440341" y="94109"/>
                        <a:pt x="427910" y="107478"/>
                      </a:cubicBezTo>
                      <a:cubicBezTo>
                        <a:pt x="421694" y="113685"/>
                        <a:pt x="415479" y="120369"/>
                        <a:pt x="409742" y="127531"/>
                      </a:cubicBezTo>
                      <a:cubicBezTo>
                        <a:pt x="408785" y="128486"/>
                        <a:pt x="407351" y="129918"/>
                        <a:pt x="406395" y="131351"/>
                      </a:cubicBezTo>
                      <a:lnTo>
                        <a:pt x="349978" y="69759"/>
                      </a:lnTo>
                      <a:lnTo>
                        <a:pt x="320813" y="97929"/>
                      </a:lnTo>
                      <a:lnTo>
                        <a:pt x="394920" y="171457"/>
                      </a:lnTo>
                      <a:lnTo>
                        <a:pt x="411176" y="187690"/>
                      </a:lnTo>
                      <a:lnTo>
                        <a:pt x="422651" y="168592"/>
                      </a:lnTo>
                      <a:cubicBezTo>
                        <a:pt x="424563" y="165727"/>
                        <a:pt x="426954" y="161908"/>
                        <a:pt x="429344" y="158565"/>
                      </a:cubicBezTo>
                      <a:cubicBezTo>
                        <a:pt x="431257" y="155223"/>
                        <a:pt x="433647" y="151404"/>
                        <a:pt x="436038" y="148062"/>
                      </a:cubicBezTo>
                      <a:cubicBezTo>
                        <a:pt x="441297" y="141377"/>
                        <a:pt x="446078" y="134693"/>
                        <a:pt x="451337" y="128486"/>
                      </a:cubicBezTo>
                      <a:cubicBezTo>
                        <a:pt x="462334" y="115595"/>
                        <a:pt x="473809" y="103181"/>
                        <a:pt x="485761" y="91722"/>
                      </a:cubicBezTo>
                      <a:cubicBezTo>
                        <a:pt x="491977" y="85993"/>
                        <a:pt x="498192" y="80741"/>
                        <a:pt x="504886" y="75489"/>
                      </a:cubicBezTo>
                      <a:cubicBezTo>
                        <a:pt x="511579" y="70714"/>
                        <a:pt x="518273" y="65940"/>
                        <a:pt x="525445" y="61643"/>
                      </a:cubicBezTo>
                      <a:cubicBezTo>
                        <a:pt x="528791" y="59733"/>
                        <a:pt x="532138" y="57346"/>
                        <a:pt x="535963" y="55436"/>
                      </a:cubicBezTo>
                      <a:cubicBezTo>
                        <a:pt x="539788" y="53526"/>
                        <a:pt x="543135" y="52094"/>
                        <a:pt x="546960" y="50184"/>
                      </a:cubicBezTo>
                      <a:cubicBezTo>
                        <a:pt x="550785" y="48751"/>
                        <a:pt x="554609" y="46842"/>
                        <a:pt x="558434" y="45887"/>
                      </a:cubicBezTo>
                      <a:cubicBezTo>
                        <a:pt x="562259" y="44454"/>
                        <a:pt x="566084" y="43499"/>
                        <a:pt x="570387" y="42067"/>
                      </a:cubicBezTo>
                      <a:close/>
                      <a:moveTo>
                        <a:pt x="562737" y="529"/>
                      </a:moveTo>
                      <a:cubicBezTo>
                        <a:pt x="576603" y="-2336"/>
                        <a:pt x="590468" y="6736"/>
                        <a:pt x="593337" y="20582"/>
                      </a:cubicBezTo>
                      <a:lnTo>
                        <a:pt x="596683" y="38725"/>
                      </a:lnTo>
                      <a:cubicBezTo>
                        <a:pt x="599552" y="52094"/>
                        <a:pt x="591902" y="64985"/>
                        <a:pt x="578993" y="68804"/>
                      </a:cubicBezTo>
                      <a:lnTo>
                        <a:pt x="575168" y="69759"/>
                      </a:lnTo>
                      <a:cubicBezTo>
                        <a:pt x="573256" y="70237"/>
                        <a:pt x="570865" y="71192"/>
                        <a:pt x="568953" y="71669"/>
                      </a:cubicBezTo>
                      <a:cubicBezTo>
                        <a:pt x="568475" y="71669"/>
                        <a:pt x="567997" y="72147"/>
                        <a:pt x="567997" y="72147"/>
                      </a:cubicBezTo>
                      <a:cubicBezTo>
                        <a:pt x="565606" y="72624"/>
                        <a:pt x="563215" y="73579"/>
                        <a:pt x="561303" y="74534"/>
                      </a:cubicBezTo>
                      <a:lnTo>
                        <a:pt x="556522" y="76921"/>
                      </a:lnTo>
                      <a:cubicBezTo>
                        <a:pt x="554131" y="77876"/>
                        <a:pt x="552219" y="78831"/>
                        <a:pt x="549828" y="79786"/>
                      </a:cubicBezTo>
                      <a:cubicBezTo>
                        <a:pt x="549828" y="80263"/>
                        <a:pt x="549350" y="80263"/>
                        <a:pt x="548872" y="80263"/>
                      </a:cubicBezTo>
                      <a:cubicBezTo>
                        <a:pt x="546482" y="81696"/>
                        <a:pt x="544091" y="83128"/>
                        <a:pt x="542179" y="84560"/>
                      </a:cubicBezTo>
                      <a:lnTo>
                        <a:pt x="540266" y="85515"/>
                      </a:lnTo>
                      <a:cubicBezTo>
                        <a:pt x="534051" y="89335"/>
                        <a:pt x="527835" y="93632"/>
                        <a:pt x="522098" y="97929"/>
                      </a:cubicBezTo>
                      <a:cubicBezTo>
                        <a:pt x="516361" y="102704"/>
                        <a:pt x="510145" y="107478"/>
                        <a:pt x="504886" y="112730"/>
                      </a:cubicBezTo>
                      <a:cubicBezTo>
                        <a:pt x="499627" y="117505"/>
                        <a:pt x="494367" y="122757"/>
                        <a:pt x="489108" y="128009"/>
                      </a:cubicBezTo>
                      <a:lnTo>
                        <a:pt x="489108" y="424029"/>
                      </a:lnTo>
                      <a:lnTo>
                        <a:pt x="0" y="424029"/>
                      </a:lnTo>
                      <a:lnTo>
                        <a:pt x="0" y="69282"/>
                      </a:lnTo>
                      <a:lnTo>
                        <a:pt x="316988" y="69282"/>
                      </a:lnTo>
                      <a:lnTo>
                        <a:pt x="333722" y="53526"/>
                      </a:lnTo>
                      <a:cubicBezTo>
                        <a:pt x="338503" y="48751"/>
                        <a:pt x="345197" y="45887"/>
                        <a:pt x="352368" y="46364"/>
                      </a:cubicBezTo>
                      <a:cubicBezTo>
                        <a:pt x="359062" y="46364"/>
                        <a:pt x="365755" y="49229"/>
                        <a:pt x="370537" y="54481"/>
                      </a:cubicBezTo>
                      <a:lnTo>
                        <a:pt x="384402" y="69282"/>
                      </a:lnTo>
                      <a:lnTo>
                        <a:pt x="433647" y="69282"/>
                      </a:lnTo>
                      <a:cubicBezTo>
                        <a:pt x="440341" y="63552"/>
                        <a:pt x="447034" y="57823"/>
                        <a:pt x="453728" y="52571"/>
                      </a:cubicBezTo>
                      <a:cubicBezTo>
                        <a:pt x="461856" y="46364"/>
                        <a:pt x="469506" y="40635"/>
                        <a:pt x="477634" y="35383"/>
                      </a:cubicBezTo>
                      <a:cubicBezTo>
                        <a:pt x="486240" y="29653"/>
                        <a:pt x="495324" y="24879"/>
                        <a:pt x="503930" y="20582"/>
                      </a:cubicBezTo>
                      <a:cubicBezTo>
                        <a:pt x="513492" y="15807"/>
                        <a:pt x="523054" y="11510"/>
                        <a:pt x="532616" y="8168"/>
                      </a:cubicBezTo>
                      <a:cubicBezTo>
                        <a:pt x="532616" y="8168"/>
                        <a:pt x="533095" y="8168"/>
                        <a:pt x="533573" y="8168"/>
                      </a:cubicBezTo>
                      <a:lnTo>
                        <a:pt x="535963" y="7213"/>
                      </a:lnTo>
                      <a:cubicBezTo>
                        <a:pt x="539310" y="6258"/>
                        <a:pt x="543613" y="4826"/>
                        <a:pt x="547916" y="3871"/>
                      </a:cubicBezTo>
                      <a:cubicBezTo>
                        <a:pt x="552219" y="2439"/>
                        <a:pt x="556522" y="1961"/>
                        <a:pt x="559869" y="100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</a:ln>
              </p:spPr>
              <p:txBody>
                <a:bodyPr wrap="squar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100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25" name="组合 24"/>
            <p:cNvGrpSpPr/>
            <p:nvPr/>
          </p:nvGrpSpPr>
          <p:grpSpPr>
            <a:xfrm>
              <a:off x="4934904" y="1087314"/>
              <a:ext cx="3990733" cy="962917"/>
              <a:chOff x="660400" y="6002977"/>
              <a:chExt cx="5242847" cy="1265038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1495948" y="6002977"/>
                <a:ext cx="4407299" cy="1265038"/>
                <a:chOff x="7793408" y="2617347"/>
                <a:chExt cx="4407299" cy="1265038"/>
              </a:xfrm>
            </p:grpSpPr>
            <p:sp>
              <p:nvSpPr>
                <p:cNvPr id="30" name="Text2"/>
                <p:cNvSpPr txBox="1"/>
                <p:nvPr/>
              </p:nvSpPr>
              <p:spPr>
                <a:xfrm>
                  <a:off x="7793408" y="3084327"/>
                  <a:ext cx="4407299" cy="7980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050" dirty="0">
                      <a:cs typeface="+mn-ea"/>
                      <a:sym typeface="+mn-lt"/>
                    </a:rPr>
                    <a:t>使用BCrypt算法对密码哈希加盐处理，即使数据库泄露也无法还原明文密码。</a:t>
                  </a:r>
                  <a:endParaRPr lang="en-US" dirty="0"/>
                </a:p>
              </p:txBody>
            </p:sp>
            <p:sp>
              <p:nvSpPr>
                <p:cNvPr id="31" name="Bullet2"/>
                <p:cNvSpPr/>
                <p:nvPr/>
              </p:nvSpPr>
              <p:spPr>
                <a:xfrm>
                  <a:off x="7793408" y="2617347"/>
                  <a:ext cx="4407299" cy="46698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>
                    <a:lnSpc>
                      <a:spcPct val="130000"/>
                    </a:lnSpc>
                  </a:pPr>
                  <a:r>
                    <a:rPr lang="zh-CN" altLang="en-US" sz="1400" b="1" dirty="0">
                      <a:cs typeface="+mn-ea"/>
                      <a:sym typeface="+mn-lt"/>
                    </a:rPr>
                    <a:t>用户密码加密存储</a:t>
                  </a:r>
                  <a:endParaRPr lang="en-US" dirty="0"/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>
                <a:off x="660400" y="6183650"/>
                <a:ext cx="660321" cy="660320"/>
                <a:chOff x="4670425" y="2900364"/>
                <a:chExt cx="1463673" cy="1463672"/>
              </a:xfrm>
            </p:grpSpPr>
            <p:sp>
              <p:nvSpPr>
                <p:cNvPr id="28" name="椭圆 27"/>
                <p:cNvSpPr/>
                <p:nvPr/>
              </p:nvSpPr>
              <p:spPr bwMode="auto">
                <a:xfrm>
                  <a:off x="4670425" y="2900364"/>
                  <a:ext cx="1463673" cy="1463672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noFill/>
                  <a:rou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Icon2"/>
                <p:cNvSpPr/>
                <p:nvPr/>
              </p:nvSpPr>
              <p:spPr bwMode="auto">
                <a:xfrm>
                  <a:off x="5164172" y="3346908"/>
                  <a:ext cx="476180" cy="570584"/>
                </a:xfrm>
                <a:custGeom>
                  <a:avLst/>
                  <a:gdLst>
                    <a:gd name="connsiteX0" fmla="*/ 333775 w 500803"/>
                    <a:gd name="connsiteY0" fmla="*/ 500097 h 600088"/>
                    <a:gd name="connsiteX1" fmla="*/ 417160 w 500803"/>
                    <a:gd name="connsiteY1" fmla="*/ 533341 h 600088"/>
                    <a:gd name="connsiteX2" fmla="*/ 500803 w 500803"/>
                    <a:gd name="connsiteY2" fmla="*/ 500097 h 600088"/>
                    <a:gd name="connsiteX3" fmla="*/ 500803 w 500803"/>
                    <a:gd name="connsiteY3" fmla="*/ 566844 h 600088"/>
                    <a:gd name="connsiteX4" fmla="*/ 417160 w 500803"/>
                    <a:gd name="connsiteY4" fmla="*/ 600088 h 600088"/>
                    <a:gd name="connsiteX5" fmla="*/ 333775 w 500803"/>
                    <a:gd name="connsiteY5" fmla="*/ 566844 h 600088"/>
                    <a:gd name="connsiteX6" fmla="*/ 0 w 500803"/>
                    <a:gd name="connsiteY6" fmla="*/ 500097 h 600088"/>
                    <a:gd name="connsiteX7" fmla="*/ 83385 w 500803"/>
                    <a:gd name="connsiteY7" fmla="*/ 533341 h 600088"/>
                    <a:gd name="connsiteX8" fmla="*/ 167028 w 500803"/>
                    <a:gd name="connsiteY8" fmla="*/ 500097 h 600088"/>
                    <a:gd name="connsiteX9" fmla="*/ 167028 w 500803"/>
                    <a:gd name="connsiteY9" fmla="*/ 566844 h 600088"/>
                    <a:gd name="connsiteX10" fmla="*/ 83385 w 500803"/>
                    <a:gd name="connsiteY10" fmla="*/ 600088 h 600088"/>
                    <a:gd name="connsiteX11" fmla="*/ 0 w 500803"/>
                    <a:gd name="connsiteY11" fmla="*/ 566844 h 600088"/>
                    <a:gd name="connsiteX12" fmla="*/ 0 w 500803"/>
                    <a:gd name="connsiteY12" fmla="*/ 416547 h 600088"/>
                    <a:gd name="connsiteX13" fmla="*/ 83381 w 500803"/>
                    <a:gd name="connsiteY13" fmla="*/ 450057 h 600088"/>
                    <a:gd name="connsiteX14" fmla="*/ 167020 w 500803"/>
                    <a:gd name="connsiteY14" fmla="*/ 416547 h 600088"/>
                    <a:gd name="connsiteX15" fmla="*/ 167020 w 500803"/>
                    <a:gd name="connsiteY15" fmla="*/ 455986 h 600088"/>
                    <a:gd name="connsiteX16" fmla="*/ 333783 w 500803"/>
                    <a:gd name="connsiteY16" fmla="*/ 455986 h 600088"/>
                    <a:gd name="connsiteX17" fmla="*/ 333783 w 500803"/>
                    <a:gd name="connsiteY17" fmla="*/ 416547 h 600088"/>
                    <a:gd name="connsiteX18" fmla="*/ 417164 w 500803"/>
                    <a:gd name="connsiteY18" fmla="*/ 450057 h 600088"/>
                    <a:gd name="connsiteX19" fmla="*/ 500803 w 500803"/>
                    <a:gd name="connsiteY19" fmla="*/ 416547 h 600088"/>
                    <a:gd name="connsiteX20" fmla="*/ 500803 w 500803"/>
                    <a:gd name="connsiteY20" fmla="*/ 483310 h 600088"/>
                    <a:gd name="connsiteX21" fmla="*/ 417164 w 500803"/>
                    <a:gd name="connsiteY21" fmla="*/ 516820 h 600088"/>
                    <a:gd name="connsiteX22" fmla="*/ 333783 w 500803"/>
                    <a:gd name="connsiteY22" fmla="*/ 483310 h 600088"/>
                    <a:gd name="connsiteX23" fmla="*/ 333783 w 500803"/>
                    <a:gd name="connsiteY23" fmla="*/ 477381 h 600088"/>
                    <a:gd name="connsiteX24" fmla="*/ 167020 w 500803"/>
                    <a:gd name="connsiteY24" fmla="*/ 477381 h 600088"/>
                    <a:gd name="connsiteX25" fmla="*/ 167020 w 500803"/>
                    <a:gd name="connsiteY25" fmla="*/ 483310 h 600088"/>
                    <a:gd name="connsiteX26" fmla="*/ 83381 w 500803"/>
                    <a:gd name="connsiteY26" fmla="*/ 516820 h 600088"/>
                    <a:gd name="connsiteX27" fmla="*/ 0 w 500803"/>
                    <a:gd name="connsiteY27" fmla="*/ 483310 h 600088"/>
                    <a:gd name="connsiteX28" fmla="*/ 417164 w 500803"/>
                    <a:gd name="connsiteY28" fmla="*/ 308275 h 600088"/>
                    <a:gd name="connsiteX29" fmla="*/ 342043 w 500803"/>
                    <a:gd name="connsiteY29" fmla="*/ 333275 h 600088"/>
                    <a:gd name="connsiteX30" fmla="*/ 417164 w 500803"/>
                    <a:gd name="connsiteY30" fmla="*/ 358274 h 600088"/>
                    <a:gd name="connsiteX31" fmla="*/ 492284 w 500803"/>
                    <a:gd name="connsiteY31" fmla="*/ 333275 h 600088"/>
                    <a:gd name="connsiteX32" fmla="*/ 417164 w 500803"/>
                    <a:gd name="connsiteY32" fmla="*/ 308275 h 600088"/>
                    <a:gd name="connsiteX33" fmla="*/ 83381 w 500803"/>
                    <a:gd name="connsiteY33" fmla="*/ 308275 h 600088"/>
                    <a:gd name="connsiteX34" fmla="*/ 8261 w 500803"/>
                    <a:gd name="connsiteY34" fmla="*/ 333275 h 600088"/>
                    <a:gd name="connsiteX35" fmla="*/ 83381 w 500803"/>
                    <a:gd name="connsiteY35" fmla="*/ 358274 h 600088"/>
                    <a:gd name="connsiteX36" fmla="*/ 158502 w 500803"/>
                    <a:gd name="connsiteY36" fmla="*/ 333275 h 600088"/>
                    <a:gd name="connsiteX37" fmla="*/ 83381 w 500803"/>
                    <a:gd name="connsiteY37" fmla="*/ 308275 h 600088"/>
                    <a:gd name="connsiteX38" fmla="*/ 167028 w 500803"/>
                    <a:gd name="connsiteY38" fmla="*/ 200053 h 600088"/>
                    <a:gd name="connsiteX39" fmla="*/ 250401 w 500803"/>
                    <a:gd name="connsiteY39" fmla="*/ 233297 h 600088"/>
                    <a:gd name="connsiteX40" fmla="*/ 333774 w 500803"/>
                    <a:gd name="connsiteY40" fmla="*/ 200053 h 600088"/>
                    <a:gd name="connsiteX41" fmla="*/ 333774 w 500803"/>
                    <a:gd name="connsiteY41" fmla="*/ 266800 h 600088"/>
                    <a:gd name="connsiteX42" fmla="*/ 250401 w 500803"/>
                    <a:gd name="connsiteY42" fmla="*/ 300044 h 600088"/>
                    <a:gd name="connsiteX43" fmla="*/ 167028 w 500803"/>
                    <a:gd name="connsiteY43" fmla="*/ 266800 h 600088"/>
                    <a:gd name="connsiteX44" fmla="*/ 167020 w 500803"/>
                    <a:gd name="connsiteY44" fmla="*/ 116786 h 600088"/>
                    <a:gd name="connsiteX45" fmla="*/ 250402 w 500803"/>
                    <a:gd name="connsiteY45" fmla="*/ 150032 h 600088"/>
                    <a:gd name="connsiteX46" fmla="*/ 333783 w 500803"/>
                    <a:gd name="connsiteY46" fmla="*/ 116786 h 600088"/>
                    <a:gd name="connsiteX47" fmla="*/ 333783 w 500803"/>
                    <a:gd name="connsiteY47" fmla="*/ 146424 h 600088"/>
                    <a:gd name="connsiteX48" fmla="*/ 430329 w 500803"/>
                    <a:gd name="connsiteY48" fmla="*/ 300544 h 600088"/>
                    <a:gd name="connsiteX49" fmla="*/ 500803 w 500803"/>
                    <a:gd name="connsiteY49" fmla="*/ 333275 h 600088"/>
                    <a:gd name="connsiteX50" fmla="*/ 500803 w 500803"/>
                    <a:gd name="connsiteY50" fmla="*/ 400025 h 600088"/>
                    <a:gd name="connsiteX51" fmla="*/ 417422 w 500803"/>
                    <a:gd name="connsiteY51" fmla="*/ 433272 h 600088"/>
                    <a:gd name="connsiteX52" fmla="*/ 333783 w 500803"/>
                    <a:gd name="connsiteY52" fmla="*/ 400025 h 600088"/>
                    <a:gd name="connsiteX53" fmla="*/ 333783 w 500803"/>
                    <a:gd name="connsiteY53" fmla="*/ 333275 h 600088"/>
                    <a:gd name="connsiteX54" fmla="*/ 405031 w 500803"/>
                    <a:gd name="connsiteY54" fmla="*/ 300544 h 600088"/>
                    <a:gd name="connsiteX55" fmla="*/ 333266 w 500803"/>
                    <a:gd name="connsiteY55" fmla="*/ 185856 h 600088"/>
                    <a:gd name="connsiteX56" fmla="*/ 250402 w 500803"/>
                    <a:gd name="connsiteY56" fmla="*/ 216783 h 600088"/>
                    <a:gd name="connsiteX57" fmla="*/ 167537 w 500803"/>
                    <a:gd name="connsiteY57" fmla="*/ 185856 h 600088"/>
                    <a:gd name="connsiteX58" fmla="*/ 95772 w 500803"/>
                    <a:gd name="connsiteY58" fmla="*/ 300544 h 600088"/>
                    <a:gd name="connsiteX59" fmla="*/ 167020 w 500803"/>
                    <a:gd name="connsiteY59" fmla="*/ 333275 h 600088"/>
                    <a:gd name="connsiteX60" fmla="*/ 167020 w 500803"/>
                    <a:gd name="connsiteY60" fmla="*/ 400025 h 600088"/>
                    <a:gd name="connsiteX61" fmla="*/ 83381 w 500803"/>
                    <a:gd name="connsiteY61" fmla="*/ 433272 h 600088"/>
                    <a:gd name="connsiteX62" fmla="*/ 0 w 500803"/>
                    <a:gd name="connsiteY62" fmla="*/ 400025 h 600088"/>
                    <a:gd name="connsiteX63" fmla="*/ 0 w 500803"/>
                    <a:gd name="connsiteY63" fmla="*/ 333275 h 600088"/>
                    <a:gd name="connsiteX64" fmla="*/ 70474 w 500803"/>
                    <a:gd name="connsiteY64" fmla="*/ 300544 h 600088"/>
                    <a:gd name="connsiteX65" fmla="*/ 167020 w 500803"/>
                    <a:gd name="connsiteY65" fmla="*/ 146424 h 600088"/>
                    <a:gd name="connsiteX66" fmla="*/ 250401 w 500803"/>
                    <a:gd name="connsiteY66" fmla="*/ 8251 h 600088"/>
                    <a:gd name="connsiteX67" fmla="*/ 175288 w 500803"/>
                    <a:gd name="connsiteY67" fmla="*/ 33260 h 600088"/>
                    <a:gd name="connsiteX68" fmla="*/ 250401 w 500803"/>
                    <a:gd name="connsiteY68" fmla="*/ 58270 h 600088"/>
                    <a:gd name="connsiteX69" fmla="*/ 325514 w 500803"/>
                    <a:gd name="connsiteY69" fmla="*/ 33260 h 600088"/>
                    <a:gd name="connsiteX70" fmla="*/ 250401 w 500803"/>
                    <a:gd name="connsiteY70" fmla="*/ 8251 h 600088"/>
                    <a:gd name="connsiteX71" fmla="*/ 250401 w 500803"/>
                    <a:gd name="connsiteY71" fmla="*/ 0 h 600088"/>
                    <a:gd name="connsiteX72" fmla="*/ 333774 w 500803"/>
                    <a:gd name="connsiteY72" fmla="*/ 33260 h 600088"/>
                    <a:gd name="connsiteX73" fmla="*/ 333774 w 500803"/>
                    <a:gd name="connsiteY73" fmla="*/ 100038 h 600088"/>
                    <a:gd name="connsiteX74" fmla="*/ 250401 w 500803"/>
                    <a:gd name="connsiteY74" fmla="*/ 133298 h 600088"/>
                    <a:gd name="connsiteX75" fmla="*/ 167028 w 500803"/>
                    <a:gd name="connsiteY75" fmla="*/ 100038 h 600088"/>
                    <a:gd name="connsiteX76" fmla="*/ 167028 w 500803"/>
                    <a:gd name="connsiteY76" fmla="*/ 33260 h 600088"/>
                    <a:gd name="connsiteX77" fmla="*/ 250401 w 500803"/>
                    <a:gd name="connsiteY77" fmla="*/ 0 h 600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500803" h="600088">
                      <a:moveTo>
                        <a:pt x="333775" y="500097"/>
                      </a:moveTo>
                      <a:cubicBezTo>
                        <a:pt x="333775" y="518394"/>
                        <a:pt x="371208" y="533341"/>
                        <a:pt x="417160" y="533341"/>
                      </a:cubicBezTo>
                      <a:cubicBezTo>
                        <a:pt x="463370" y="533341"/>
                        <a:pt x="500803" y="518394"/>
                        <a:pt x="500803" y="500097"/>
                      </a:cubicBezTo>
                      <a:lnTo>
                        <a:pt x="500803" y="566844"/>
                      </a:lnTo>
                      <a:cubicBezTo>
                        <a:pt x="500803" y="585141"/>
                        <a:pt x="463370" y="600088"/>
                        <a:pt x="417160" y="600088"/>
                      </a:cubicBezTo>
                      <a:cubicBezTo>
                        <a:pt x="371208" y="600088"/>
                        <a:pt x="333775" y="585141"/>
                        <a:pt x="333775" y="566844"/>
                      </a:cubicBezTo>
                      <a:close/>
                      <a:moveTo>
                        <a:pt x="0" y="500097"/>
                      </a:moveTo>
                      <a:cubicBezTo>
                        <a:pt x="0" y="518394"/>
                        <a:pt x="37433" y="533341"/>
                        <a:pt x="83385" y="533341"/>
                      </a:cubicBezTo>
                      <a:cubicBezTo>
                        <a:pt x="129595" y="533341"/>
                        <a:pt x="167028" y="518394"/>
                        <a:pt x="167028" y="500097"/>
                      </a:cubicBezTo>
                      <a:lnTo>
                        <a:pt x="167028" y="566844"/>
                      </a:lnTo>
                      <a:cubicBezTo>
                        <a:pt x="167028" y="585141"/>
                        <a:pt x="129595" y="600088"/>
                        <a:pt x="83385" y="600088"/>
                      </a:cubicBezTo>
                      <a:cubicBezTo>
                        <a:pt x="37433" y="600088"/>
                        <a:pt x="0" y="585141"/>
                        <a:pt x="0" y="566844"/>
                      </a:cubicBezTo>
                      <a:close/>
                      <a:moveTo>
                        <a:pt x="0" y="416547"/>
                      </a:moveTo>
                      <a:cubicBezTo>
                        <a:pt x="0" y="435107"/>
                        <a:pt x="37431" y="450057"/>
                        <a:pt x="83381" y="450057"/>
                      </a:cubicBezTo>
                      <a:cubicBezTo>
                        <a:pt x="129589" y="450057"/>
                        <a:pt x="167020" y="435107"/>
                        <a:pt x="167020" y="416547"/>
                      </a:cubicBezTo>
                      <a:lnTo>
                        <a:pt x="167020" y="455986"/>
                      </a:lnTo>
                      <a:lnTo>
                        <a:pt x="333783" y="455986"/>
                      </a:lnTo>
                      <a:lnTo>
                        <a:pt x="333783" y="416547"/>
                      </a:lnTo>
                      <a:cubicBezTo>
                        <a:pt x="333783" y="435107"/>
                        <a:pt x="371214" y="450057"/>
                        <a:pt x="417164" y="450057"/>
                      </a:cubicBezTo>
                      <a:cubicBezTo>
                        <a:pt x="463372" y="450057"/>
                        <a:pt x="500803" y="435107"/>
                        <a:pt x="500803" y="416547"/>
                      </a:cubicBezTo>
                      <a:lnTo>
                        <a:pt x="500803" y="483310"/>
                      </a:lnTo>
                      <a:cubicBezTo>
                        <a:pt x="500803" y="501869"/>
                        <a:pt x="463372" y="516820"/>
                        <a:pt x="417164" y="516820"/>
                      </a:cubicBezTo>
                      <a:cubicBezTo>
                        <a:pt x="371214" y="516820"/>
                        <a:pt x="333783" y="501869"/>
                        <a:pt x="333783" y="483310"/>
                      </a:cubicBezTo>
                      <a:lnTo>
                        <a:pt x="333783" y="477381"/>
                      </a:lnTo>
                      <a:lnTo>
                        <a:pt x="167020" y="477381"/>
                      </a:lnTo>
                      <a:lnTo>
                        <a:pt x="167020" y="483310"/>
                      </a:lnTo>
                      <a:cubicBezTo>
                        <a:pt x="167020" y="501869"/>
                        <a:pt x="129589" y="516820"/>
                        <a:pt x="83381" y="516820"/>
                      </a:cubicBezTo>
                      <a:cubicBezTo>
                        <a:pt x="37431" y="516820"/>
                        <a:pt x="0" y="501869"/>
                        <a:pt x="0" y="483310"/>
                      </a:cubicBezTo>
                      <a:close/>
                      <a:moveTo>
                        <a:pt x="417164" y="308275"/>
                      </a:moveTo>
                      <a:cubicBezTo>
                        <a:pt x="371472" y="308275"/>
                        <a:pt x="342043" y="323224"/>
                        <a:pt x="342043" y="333275"/>
                      </a:cubicBezTo>
                      <a:cubicBezTo>
                        <a:pt x="342043" y="343584"/>
                        <a:pt x="371472" y="358274"/>
                        <a:pt x="417164" y="358274"/>
                      </a:cubicBezTo>
                      <a:cubicBezTo>
                        <a:pt x="463114" y="358274"/>
                        <a:pt x="492284" y="343584"/>
                        <a:pt x="492284" y="333275"/>
                      </a:cubicBezTo>
                      <a:cubicBezTo>
                        <a:pt x="492284" y="323224"/>
                        <a:pt x="463114" y="308275"/>
                        <a:pt x="417164" y="308275"/>
                      </a:cubicBezTo>
                      <a:close/>
                      <a:moveTo>
                        <a:pt x="83381" y="308275"/>
                      </a:moveTo>
                      <a:cubicBezTo>
                        <a:pt x="37689" y="308275"/>
                        <a:pt x="8261" y="323224"/>
                        <a:pt x="8261" y="333275"/>
                      </a:cubicBezTo>
                      <a:cubicBezTo>
                        <a:pt x="8261" y="343584"/>
                        <a:pt x="37689" y="358274"/>
                        <a:pt x="83381" y="358274"/>
                      </a:cubicBezTo>
                      <a:cubicBezTo>
                        <a:pt x="129331" y="358274"/>
                        <a:pt x="158502" y="343584"/>
                        <a:pt x="158502" y="333275"/>
                      </a:cubicBezTo>
                      <a:cubicBezTo>
                        <a:pt x="158502" y="323224"/>
                        <a:pt x="129331" y="308275"/>
                        <a:pt x="83381" y="308275"/>
                      </a:cubicBezTo>
                      <a:close/>
                      <a:moveTo>
                        <a:pt x="167028" y="200053"/>
                      </a:moveTo>
                      <a:cubicBezTo>
                        <a:pt x="167028" y="218350"/>
                        <a:pt x="204197" y="233297"/>
                        <a:pt x="250401" y="233297"/>
                      </a:cubicBezTo>
                      <a:cubicBezTo>
                        <a:pt x="296605" y="233297"/>
                        <a:pt x="333774" y="218350"/>
                        <a:pt x="333774" y="200053"/>
                      </a:cubicBezTo>
                      <a:lnTo>
                        <a:pt x="333774" y="266800"/>
                      </a:lnTo>
                      <a:cubicBezTo>
                        <a:pt x="333774" y="285097"/>
                        <a:pt x="296605" y="300044"/>
                        <a:pt x="250401" y="300044"/>
                      </a:cubicBezTo>
                      <a:cubicBezTo>
                        <a:pt x="204197" y="300044"/>
                        <a:pt x="167028" y="285097"/>
                        <a:pt x="167028" y="266800"/>
                      </a:cubicBezTo>
                      <a:close/>
                      <a:moveTo>
                        <a:pt x="167020" y="116786"/>
                      </a:moveTo>
                      <a:cubicBezTo>
                        <a:pt x="167020" y="135084"/>
                        <a:pt x="204193" y="150032"/>
                        <a:pt x="250402" y="150032"/>
                      </a:cubicBezTo>
                      <a:cubicBezTo>
                        <a:pt x="296610" y="150032"/>
                        <a:pt x="333783" y="135084"/>
                        <a:pt x="333783" y="116786"/>
                      </a:cubicBezTo>
                      <a:lnTo>
                        <a:pt x="333783" y="146424"/>
                      </a:lnTo>
                      <a:lnTo>
                        <a:pt x="430329" y="300544"/>
                      </a:lnTo>
                      <a:cubicBezTo>
                        <a:pt x="470084" y="303121"/>
                        <a:pt x="500803" y="316780"/>
                        <a:pt x="500803" y="333275"/>
                      </a:cubicBezTo>
                      <a:lnTo>
                        <a:pt x="500803" y="400025"/>
                      </a:lnTo>
                      <a:cubicBezTo>
                        <a:pt x="500803" y="418324"/>
                        <a:pt x="463372" y="433272"/>
                        <a:pt x="417422" y="433272"/>
                      </a:cubicBezTo>
                      <a:cubicBezTo>
                        <a:pt x="371214" y="433272"/>
                        <a:pt x="333783" y="418324"/>
                        <a:pt x="333783" y="400025"/>
                      </a:cubicBezTo>
                      <a:lnTo>
                        <a:pt x="333783" y="333275"/>
                      </a:lnTo>
                      <a:cubicBezTo>
                        <a:pt x="333783" y="316523"/>
                        <a:pt x="364760" y="302863"/>
                        <a:pt x="405031" y="300544"/>
                      </a:cubicBezTo>
                      <a:lnTo>
                        <a:pt x="333266" y="185856"/>
                      </a:lnTo>
                      <a:cubicBezTo>
                        <a:pt x="329910" y="203124"/>
                        <a:pt x="294286" y="216783"/>
                        <a:pt x="250402" y="216783"/>
                      </a:cubicBezTo>
                      <a:cubicBezTo>
                        <a:pt x="206517" y="216783"/>
                        <a:pt x="170893" y="203124"/>
                        <a:pt x="167537" y="185856"/>
                      </a:cubicBezTo>
                      <a:lnTo>
                        <a:pt x="95772" y="300544"/>
                      </a:lnTo>
                      <a:cubicBezTo>
                        <a:pt x="136043" y="302863"/>
                        <a:pt x="167020" y="316523"/>
                        <a:pt x="167020" y="333275"/>
                      </a:cubicBezTo>
                      <a:lnTo>
                        <a:pt x="167020" y="400025"/>
                      </a:lnTo>
                      <a:cubicBezTo>
                        <a:pt x="167020" y="418324"/>
                        <a:pt x="129589" y="433272"/>
                        <a:pt x="83381" y="433272"/>
                      </a:cubicBezTo>
                      <a:cubicBezTo>
                        <a:pt x="37431" y="433272"/>
                        <a:pt x="0" y="418324"/>
                        <a:pt x="0" y="400025"/>
                      </a:cubicBezTo>
                      <a:lnTo>
                        <a:pt x="0" y="333275"/>
                      </a:lnTo>
                      <a:cubicBezTo>
                        <a:pt x="0" y="316780"/>
                        <a:pt x="30719" y="303121"/>
                        <a:pt x="70474" y="300544"/>
                      </a:cubicBezTo>
                      <a:lnTo>
                        <a:pt x="167020" y="146424"/>
                      </a:lnTo>
                      <a:close/>
                      <a:moveTo>
                        <a:pt x="250401" y="8251"/>
                      </a:moveTo>
                      <a:cubicBezTo>
                        <a:pt x="204456" y="8251"/>
                        <a:pt x="175288" y="23205"/>
                        <a:pt x="175288" y="33260"/>
                      </a:cubicBezTo>
                      <a:cubicBezTo>
                        <a:pt x="175288" y="43573"/>
                        <a:pt x="204456" y="58270"/>
                        <a:pt x="250401" y="58270"/>
                      </a:cubicBezTo>
                      <a:cubicBezTo>
                        <a:pt x="296346" y="58270"/>
                        <a:pt x="325514" y="43573"/>
                        <a:pt x="325514" y="33260"/>
                      </a:cubicBezTo>
                      <a:cubicBezTo>
                        <a:pt x="325514" y="23205"/>
                        <a:pt x="296346" y="8251"/>
                        <a:pt x="250401" y="8251"/>
                      </a:cubicBezTo>
                      <a:close/>
                      <a:moveTo>
                        <a:pt x="250401" y="0"/>
                      </a:moveTo>
                      <a:cubicBezTo>
                        <a:pt x="296605" y="0"/>
                        <a:pt x="333774" y="14954"/>
                        <a:pt x="333774" y="33260"/>
                      </a:cubicBezTo>
                      <a:lnTo>
                        <a:pt x="333774" y="100038"/>
                      </a:lnTo>
                      <a:cubicBezTo>
                        <a:pt x="333774" y="118344"/>
                        <a:pt x="296605" y="133298"/>
                        <a:pt x="250401" y="133298"/>
                      </a:cubicBezTo>
                      <a:cubicBezTo>
                        <a:pt x="204197" y="133298"/>
                        <a:pt x="167028" y="118344"/>
                        <a:pt x="167028" y="100038"/>
                      </a:cubicBezTo>
                      <a:lnTo>
                        <a:pt x="167028" y="33260"/>
                      </a:lnTo>
                      <a:cubicBezTo>
                        <a:pt x="167028" y="14954"/>
                        <a:pt x="204197" y="0"/>
                        <a:pt x="25040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</a:ln>
              </p:spPr>
              <p:txBody>
                <a:bodyPr wrap="squar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100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32" name="组合 31"/>
            <p:cNvGrpSpPr/>
            <p:nvPr/>
          </p:nvGrpSpPr>
          <p:grpSpPr>
            <a:xfrm>
              <a:off x="660401" y="2050231"/>
              <a:ext cx="3990733" cy="962917"/>
              <a:chOff x="660400" y="3505814"/>
              <a:chExt cx="5242847" cy="1265038"/>
            </a:xfrm>
          </p:grpSpPr>
          <p:grpSp>
            <p:nvGrpSpPr>
              <p:cNvPr id="33" name="组合 32"/>
              <p:cNvGrpSpPr/>
              <p:nvPr/>
            </p:nvGrpSpPr>
            <p:grpSpPr>
              <a:xfrm>
                <a:off x="1495948" y="3505814"/>
                <a:ext cx="4407299" cy="1265038"/>
                <a:chOff x="7793408" y="2617347"/>
                <a:chExt cx="4407299" cy="1265038"/>
              </a:xfrm>
            </p:grpSpPr>
            <p:sp>
              <p:nvSpPr>
                <p:cNvPr id="37" name="Text3"/>
                <p:cNvSpPr txBox="1"/>
                <p:nvPr/>
              </p:nvSpPr>
              <p:spPr>
                <a:xfrm>
                  <a:off x="7793408" y="3084327"/>
                  <a:ext cx="4407299" cy="7980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050" dirty="0" err="1">
                      <a:cs typeface="+mn-ea"/>
                      <a:sym typeface="+mn-lt"/>
                    </a:rPr>
                    <a:t>所有敏感接口需携带JWT Token，服务端验证签名有效性，防止未授权访问。</a:t>
                  </a:r>
                  <a:endParaRPr lang="en-US" dirty="0"/>
                </a:p>
              </p:txBody>
            </p:sp>
            <p:sp>
              <p:nvSpPr>
                <p:cNvPr id="38" name="Bullet3"/>
                <p:cNvSpPr/>
                <p:nvPr/>
              </p:nvSpPr>
              <p:spPr>
                <a:xfrm>
                  <a:off x="7793408" y="2617347"/>
                  <a:ext cx="4407299" cy="46698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>
                    <a:lnSpc>
                      <a:spcPct val="130000"/>
                    </a:lnSpc>
                  </a:pPr>
                  <a:r>
                    <a:rPr lang="zh-CN" altLang="en-US" sz="1400" b="1" dirty="0">
                      <a:cs typeface="+mn-ea"/>
                      <a:sym typeface="+mn-lt"/>
                    </a:rPr>
                    <a:t>API接口身份验证</a:t>
                  </a:r>
                  <a:endParaRPr lang="en-US" dirty="0"/>
                </a:p>
              </p:txBody>
            </p:sp>
          </p:grpSp>
          <p:grpSp>
            <p:nvGrpSpPr>
              <p:cNvPr id="34" name="组合 33"/>
              <p:cNvGrpSpPr/>
              <p:nvPr/>
            </p:nvGrpSpPr>
            <p:grpSpPr>
              <a:xfrm>
                <a:off x="660400" y="3686487"/>
                <a:ext cx="660321" cy="660320"/>
                <a:chOff x="4670425" y="4295364"/>
                <a:chExt cx="1463673" cy="1463672"/>
              </a:xfrm>
            </p:grpSpPr>
            <p:sp>
              <p:nvSpPr>
                <p:cNvPr id="35" name="椭圆 34"/>
                <p:cNvSpPr/>
                <p:nvPr/>
              </p:nvSpPr>
              <p:spPr bwMode="auto">
                <a:xfrm>
                  <a:off x="4670425" y="4295364"/>
                  <a:ext cx="1463673" cy="1463672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noFill/>
                  <a:rou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Icon3"/>
                <p:cNvSpPr/>
                <p:nvPr/>
              </p:nvSpPr>
              <p:spPr bwMode="auto">
                <a:xfrm>
                  <a:off x="5149232" y="4741907"/>
                  <a:ext cx="506059" cy="570584"/>
                </a:xfrm>
                <a:custGeom>
                  <a:avLst/>
                  <a:gdLst>
                    <a:gd name="connsiteX0" fmla="*/ 72606 w 539049"/>
                    <a:gd name="connsiteY0" fmla="*/ 462631 h 607780"/>
                    <a:gd name="connsiteX1" fmla="*/ 72606 w 539049"/>
                    <a:gd name="connsiteY1" fmla="*/ 577437 h 607780"/>
                    <a:gd name="connsiteX2" fmla="*/ 466443 w 539049"/>
                    <a:gd name="connsiteY2" fmla="*/ 577437 h 607780"/>
                    <a:gd name="connsiteX3" fmla="*/ 466443 w 539049"/>
                    <a:gd name="connsiteY3" fmla="*/ 462631 h 607780"/>
                    <a:gd name="connsiteX4" fmla="*/ 240317 w 539049"/>
                    <a:gd name="connsiteY4" fmla="*/ 283532 h 607780"/>
                    <a:gd name="connsiteX5" fmla="*/ 279368 w 539049"/>
                    <a:gd name="connsiteY5" fmla="*/ 337481 h 607780"/>
                    <a:gd name="connsiteX6" fmla="*/ 240483 w 539049"/>
                    <a:gd name="connsiteY6" fmla="*/ 392344 h 607780"/>
                    <a:gd name="connsiteX7" fmla="*/ 201182 w 539049"/>
                    <a:gd name="connsiteY7" fmla="*/ 338478 h 607780"/>
                    <a:gd name="connsiteX8" fmla="*/ 240317 w 539049"/>
                    <a:gd name="connsiteY8" fmla="*/ 283532 h 607780"/>
                    <a:gd name="connsiteX9" fmla="*/ 56370 w 539049"/>
                    <a:gd name="connsiteY9" fmla="*/ 257211 h 607780"/>
                    <a:gd name="connsiteX10" fmla="*/ 56370 w 539049"/>
                    <a:gd name="connsiteY10" fmla="*/ 418737 h 607780"/>
                    <a:gd name="connsiteX11" fmla="*/ 157452 w 539049"/>
                    <a:gd name="connsiteY11" fmla="*/ 418737 h 607780"/>
                    <a:gd name="connsiteX12" fmla="*/ 157452 w 539049"/>
                    <a:gd name="connsiteY12" fmla="*/ 388061 h 607780"/>
                    <a:gd name="connsiteX13" fmla="*/ 93089 w 539049"/>
                    <a:gd name="connsiteY13" fmla="*/ 388061 h 607780"/>
                    <a:gd name="connsiteX14" fmla="*/ 93089 w 539049"/>
                    <a:gd name="connsiteY14" fmla="*/ 257211 h 607780"/>
                    <a:gd name="connsiteX15" fmla="*/ 427059 w 539049"/>
                    <a:gd name="connsiteY15" fmla="*/ 255549 h 607780"/>
                    <a:gd name="connsiteX16" fmla="*/ 334637 w 539049"/>
                    <a:gd name="connsiteY16" fmla="*/ 339928 h 607780"/>
                    <a:gd name="connsiteX17" fmla="*/ 357451 w 539049"/>
                    <a:gd name="connsiteY17" fmla="*/ 398619 h 607780"/>
                    <a:gd name="connsiteX18" fmla="*/ 423146 w 539049"/>
                    <a:gd name="connsiteY18" fmla="*/ 420400 h 607780"/>
                    <a:gd name="connsiteX19" fmla="*/ 477184 w 539049"/>
                    <a:gd name="connsiteY19" fmla="*/ 411338 h 607780"/>
                    <a:gd name="connsiteX20" fmla="*/ 477184 w 539049"/>
                    <a:gd name="connsiteY20" fmla="*/ 326294 h 607780"/>
                    <a:gd name="connsiteX21" fmla="*/ 416984 w 539049"/>
                    <a:gd name="connsiteY21" fmla="*/ 326294 h 607780"/>
                    <a:gd name="connsiteX22" fmla="*/ 416984 w 539049"/>
                    <a:gd name="connsiteY22" fmla="*/ 354809 h 607780"/>
                    <a:gd name="connsiteX23" fmla="*/ 441880 w 539049"/>
                    <a:gd name="connsiteY23" fmla="*/ 354809 h 607780"/>
                    <a:gd name="connsiteX24" fmla="*/ 441880 w 539049"/>
                    <a:gd name="connsiteY24" fmla="*/ 388560 h 607780"/>
                    <a:gd name="connsiteX25" fmla="*/ 423895 w 539049"/>
                    <a:gd name="connsiteY25" fmla="*/ 390971 h 607780"/>
                    <a:gd name="connsiteX26" fmla="*/ 373021 w 539049"/>
                    <a:gd name="connsiteY26" fmla="*/ 338016 h 607780"/>
                    <a:gd name="connsiteX27" fmla="*/ 426560 w 539049"/>
                    <a:gd name="connsiteY27" fmla="*/ 285726 h 607780"/>
                    <a:gd name="connsiteX28" fmla="*/ 464195 w 539049"/>
                    <a:gd name="connsiteY28" fmla="*/ 292709 h 607780"/>
                    <a:gd name="connsiteX29" fmla="*/ 471938 w 539049"/>
                    <a:gd name="connsiteY29" fmla="*/ 263446 h 607780"/>
                    <a:gd name="connsiteX30" fmla="*/ 427059 w 539049"/>
                    <a:gd name="connsiteY30" fmla="*/ 255549 h 607780"/>
                    <a:gd name="connsiteX31" fmla="*/ 241215 w 539049"/>
                    <a:gd name="connsiteY31" fmla="*/ 254634 h 607780"/>
                    <a:gd name="connsiteX32" fmla="*/ 162531 w 539049"/>
                    <a:gd name="connsiteY32" fmla="*/ 339180 h 607780"/>
                    <a:gd name="connsiteX33" fmla="*/ 238550 w 539049"/>
                    <a:gd name="connsiteY33" fmla="*/ 421397 h 607780"/>
                    <a:gd name="connsiteX34" fmla="*/ 318067 w 539049"/>
                    <a:gd name="connsiteY34" fmla="*/ 336353 h 607780"/>
                    <a:gd name="connsiteX35" fmla="*/ 241215 w 539049"/>
                    <a:gd name="connsiteY35" fmla="*/ 254634 h 607780"/>
                    <a:gd name="connsiteX36" fmla="*/ 72606 w 539049"/>
                    <a:gd name="connsiteY36" fmla="*/ 23859 h 607780"/>
                    <a:gd name="connsiteX37" fmla="*/ 72606 w 539049"/>
                    <a:gd name="connsiteY37" fmla="*/ 217391 h 607780"/>
                    <a:gd name="connsiteX38" fmla="*/ 466443 w 539049"/>
                    <a:gd name="connsiteY38" fmla="*/ 217391 h 607780"/>
                    <a:gd name="connsiteX39" fmla="*/ 466443 w 539049"/>
                    <a:gd name="connsiteY39" fmla="*/ 157702 h 607780"/>
                    <a:gd name="connsiteX40" fmla="*/ 361031 w 539049"/>
                    <a:gd name="connsiteY40" fmla="*/ 157702 h 607780"/>
                    <a:gd name="connsiteX41" fmla="*/ 349125 w 539049"/>
                    <a:gd name="connsiteY41" fmla="*/ 145731 h 607780"/>
                    <a:gd name="connsiteX42" fmla="*/ 349125 w 539049"/>
                    <a:gd name="connsiteY42" fmla="*/ 23859 h 607780"/>
                    <a:gd name="connsiteX43" fmla="*/ 72606 w 539049"/>
                    <a:gd name="connsiteY43" fmla="*/ 0 h 607780"/>
                    <a:gd name="connsiteX44" fmla="*/ 361031 w 539049"/>
                    <a:gd name="connsiteY44" fmla="*/ 0 h 607780"/>
                    <a:gd name="connsiteX45" fmla="*/ 363779 w 539049"/>
                    <a:gd name="connsiteY45" fmla="*/ 333 h 607780"/>
                    <a:gd name="connsiteX46" fmla="*/ 364445 w 539049"/>
                    <a:gd name="connsiteY46" fmla="*/ 582 h 607780"/>
                    <a:gd name="connsiteX47" fmla="*/ 366776 w 539049"/>
                    <a:gd name="connsiteY47" fmla="*/ 1580 h 607780"/>
                    <a:gd name="connsiteX48" fmla="*/ 367526 w 539049"/>
                    <a:gd name="connsiteY48" fmla="*/ 1995 h 607780"/>
                    <a:gd name="connsiteX49" fmla="*/ 369941 w 539049"/>
                    <a:gd name="connsiteY49" fmla="*/ 3990 h 607780"/>
                    <a:gd name="connsiteX50" fmla="*/ 370024 w 539049"/>
                    <a:gd name="connsiteY50" fmla="*/ 4073 h 607780"/>
                    <a:gd name="connsiteX51" fmla="*/ 487426 w 539049"/>
                    <a:gd name="connsiteY51" fmla="*/ 137916 h 607780"/>
                    <a:gd name="connsiteX52" fmla="*/ 490257 w 539049"/>
                    <a:gd name="connsiteY52" fmla="*/ 145648 h 607780"/>
                    <a:gd name="connsiteX53" fmla="*/ 490340 w 539049"/>
                    <a:gd name="connsiteY53" fmla="*/ 146978 h 607780"/>
                    <a:gd name="connsiteX54" fmla="*/ 490340 w 539049"/>
                    <a:gd name="connsiteY54" fmla="*/ 217391 h 607780"/>
                    <a:gd name="connsiteX55" fmla="*/ 504994 w 539049"/>
                    <a:gd name="connsiteY55" fmla="*/ 217391 h 607780"/>
                    <a:gd name="connsiteX56" fmla="*/ 539049 w 539049"/>
                    <a:gd name="connsiteY56" fmla="*/ 251475 h 607780"/>
                    <a:gd name="connsiteX57" fmla="*/ 539049 w 539049"/>
                    <a:gd name="connsiteY57" fmla="*/ 428547 h 607780"/>
                    <a:gd name="connsiteX58" fmla="*/ 504994 w 539049"/>
                    <a:gd name="connsiteY58" fmla="*/ 462631 h 607780"/>
                    <a:gd name="connsiteX59" fmla="*/ 490340 w 539049"/>
                    <a:gd name="connsiteY59" fmla="*/ 462631 h 607780"/>
                    <a:gd name="connsiteX60" fmla="*/ 490340 w 539049"/>
                    <a:gd name="connsiteY60" fmla="*/ 583921 h 607780"/>
                    <a:gd name="connsiteX61" fmla="*/ 466443 w 539049"/>
                    <a:gd name="connsiteY61" fmla="*/ 607780 h 607780"/>
                    <a:gd name="connsiteX62" fmla="*/ 72606 w 539049"/>
                    <a:gd name="connsiteY62" fmla="*/ 607780 h 607780"/>
                    <a:gd name="connsiteX63" fmla="*/ 48709 w 539049"/>
                    <a:gd name="connsiteY63" fmla="*/ 583921 h 607780"/>
                    <a:gd name="connsiteX64" fmla="*/ 48709 w 539049"/>
                    <a:gd name="connsiteY64" fmla="*/ 462631 h 607780"/>
                    <a:gd name="connsiteX65" fmla="*/ 34138 w 539049"/>
                    <a:gd name="connsiteY65" fmla="*/ 462631 h 607780"/>
                    <a:gd name="connsiteX66" fmla="*/ 0 w 539049"/>
                    <a:gd name="connsiteY66" fmla="*/ 428547 h 607780"/>
                    <a:gd name="connsiteX67" fmla="*/ 0 w 539049"/>
                    <a:gd name="connsiteY67" fmla="*/ 251475 h 607780"/>
                    <a:gd name="connsiteX68" fmla="*/ 34138 w 539049"/>
                    <a:gd name="connsiteY68" fmla="*/ 217391 h 607780"/>
                    <a:gd name="connsiteX69" fmla="*/ 48709 w 539049"/>
                    <a:gd name="connsiteY69" fmla="*/ 217391 h 607780"/>
                    <a:gd name="connsiteX70" fmla="*/ 48709 w 539049"/>
                    <a:gd name="connsiteY70" fmla="*/ 23859 h 607780"/>
                    <a:gd name="connsiteX71" fmla="*/ 72606 w 539049"/>
                    <a:gd name="connsiteY71" fmla="*/ 0 h 6077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</a:cxnLst>
                  <a:rect l="l" t="t" r="r" b="b"/>
                  <a:pathLst>
                    <a:path w="539049" h="607780">
                      <a:moveTo>
                        <a:pt x="72606" y="462631"/>
                      </a:moveTo>
                      <a:lnTo>
                        <a:pt x="72606" y="577437"/>
                      </a:lnTo>
                      <a:lnTo>
                        <a:pt x="466443" y="577437"/>
                      </a:lnTo>
                      <a:lnTo>
                        <a:pt x="466443" y="462631"/>
                      </a:lnTo>
                      <a:close/>
                      <a:moveTo>
                        <a:pt x="240317" y="283532"/>
                      </a:moveTo>
                      <a:cubicBezTo>
                        <a:pt x="265463" y="283532"/>
                        <a:pt x="279368" y="308470"/>
                        <a:pt x="279368" y="337481"/>
                      </a:cubicBezTo>
                      <a:cubicBezTo>
                        <a:pt x="279368" y="368902"/>
                        <a:pt x="265213" y="392344"/>
                        <a:pt x="240483" y="392344"/>
                      </a:cubicBezTo>
                      <a:cubicBezTo>
                        <a:pt x="216086" y="392344"/>
                        <a:pt x="201182" y="370066"/>
                        <a:pt x="201182" y="338478"/>
                      </a:cubicBezTo>
                      <a:cubicBezTo>
                        <a:pt x="201182" y="307057"/>
                        <a:pt x="215587" y="283532"/>
                        <a:pt x="240317" y="283532"/>
                      </a:cubicBezTo>
                      <a:close/>
                      <a:moveTo>
                        <a:pt x="56370" y="257211"/>
                      </a:moveTo>
                      <a:lnTo>
                        <a:pt x="56370" y="418737"/>
                      </a:lnTo>
                      <a:lnTo>
                        <a:pt x="157452" y="418737"/>
                      </a:lnTo>
                      <a:lnTo>
                        <a:pt x="157452" y="388061"/>
                      </a:lnTo>
                      <a:lnTo>
                        <a:pt x="93089" y="388061"/>
                      </a:lnTo>
                      <a:lnTo>
                        <a:pt x="93089" y="257211"/>
                      </a:lnTo>
                      <a:close/>
                      <a:moveTo>
                        <a:pt x="427059" y="255549"/>
                      </a:moveTo>
                      <a:cubicBezTo>
                        <a:pt x="374020" y="255549"/>
                        <a:pt x="334886" y="286224"/>
                        <a:pt x="334637" y="339928"/>
                      </a:cubicBezTo>
                      <a:cubicBezTo>
                        <a:pt x="334387" y="363621"/>
                        <a:pt x="342547" y="384736"/>
                        <a:pt x="357451" y="398619"/>
                      </a:cubicBezTo>
                      <a:cubicBezTo>
                        <a:pt x="372272" y="413001"/>
                        <a:pt x="393671" y="420400"/>
                        <a:pt x="423146" y="420400"/>
                      </a:cubicBezTo>
                      <a:cubicBezTo>
                        <a:pt x="444545" y="420400"/>
                        <a:pt x="465943" y="415163"/>
                        <a:pt x="477184" y="411338"/>
                      </a:cubicBezTo>
                      <a:lnTo>
                        <a:pt x="477184" y="326294"/>
                      </a:lnTo>
                      <a:lnTo>
                        <a:pt x="416984" y="326294"/>
                      </a:lnTo>
                      <a:lnTo>
                        <a:pt x="416984" y="354809"/>
                      </a:lnTo>
                      <a:lnTo>
                        <a:pt x="441880" y="354809"/>
                      </a:lnTo>
                      <a:lnTo>
                        <a:pt x="441880" y="388560"/>
                      </a:lnTo>
                      <a:cubicBezTo>
                        <a:pt x="439049" y="389973"/>
                        <a:pt x="432305" y="390971"/>
                        <a:pt x="423895" y="390971"/>
                      </a:cubicBezTo>
                      <a:cubicBezTo>
                        <a:pt x="393920" y="390971"/>
                        <a:pt x="373021" y="371269"/>
                        <a:pt x="373021" y="338016"/>
                      </a:cubicBezTo>
                      <a:cubicBezTo>
                        <a:pt x="373021" y="303017"/>
                        <a:pt x="396085" y="285726"/>
                        <a:pt x="426560" y="285726"/>
                      </a:cubicBezTo>
                      <a:cubicBezTo>
                        <a:pt x="444295" y="285726"/>
                        <a:pt x="455369" y="288885"/>
                        <a:pt x="464195" y="292709"/>
                      </a:cubicBezTo>
                      <a:lnTo>
                        <a:pt x="471938" y="263446"/>
                      </a:lnTo>
                      <a:cubicBezTo>
                        <a:pt x="463945" y="259622"/>
                        <a:pt x="447875" y="255549"/>
                        <a:pt x="427059" y="255549"/>
                      </a:cubicBezTo>
                      <a:close/>
                      <a:moveTo>
                        <a:pt x="241215" y="254634"/>
                      </a:moveTo>
                      <a:cubicBezTo>
                        <a:pt x="193505" y="254634"/>
                        <a:pt x="162531" y="290797"/>
                        <a:pt x="162531" y="339180"/>
                      </a:cubicBezTo>
                      <a:cubicBezTo>
                        <a:pt x="162531" y="385235"/>
                        <a:pt x="190591" y="421397"/>
                        <a:pt x="238550" y="421397"/>
                      </a:cubicBezTo>
                      <a:cubicBezTo>
                        <a:pt x="285844" y="421397"/>
                        <a:pt x="318067" y="389308"/>
                        <a:pt x="318067" y="336353"/>
                      </a:cubicBezTo>
                      <a:cubicBezTo>
                        <a:pt x="318067" y="291794"/>
                        <a:pt x="290923" y="254634"/>
                        <a:pt x="241215" y="254634"/>
                      </a:cubicBezTo>
                      <a:close/>
                      <a:moveTo>
                        <a:pt x="72606" y="23859"/>
                      </a:moveTo>
                      <a:lnTo>
                        <a:pt x="72606" y="217391"/>
                      </a:lnTo>
                      <a:lnTo>
                        <a:pt x="466443" y="217391"/>
                      </a:lnTo>
                      <a:lnTo>
                        <a:pt x="466443" y="157702"/>
                      </a:lnTo>
                      <a:lnTo>
                        <a:pt x="361031" y="157702"/>
                      </a:lnTo>
                      <a:cubicBezTo>
                        <a:pt x="354453" y="157702"/>
                        <a:pt x="349125" y="152381"/>
                        <a:pt x="349125" y="145731"/>
                      </a:cubicBezTo>
                      <a:lnTo>
                        <a:pt x="349125" y="23859"/>
                      </a:lnTo>
                      <a:close/>
                      <a:moveTo>
                        <a:pt x="72606" y="0"/>
                      </a:moveTo>
                      <a:lnTo>
                        <a:pt x="361031" y="0"/>
                      </a:lnTo>
                      <a:cubicBezTo>
                        <a:pt x="361947" y="0"/>
                        <a:pt x="362863" y="166"/>
                        <a:pt x="363779" y="333"/>
                      </a:cubicBezTo>
                      <a:cubicBezTo>
                        <a:pt x="364029" y="416"/>
                        <a:pt x="364195" y="499"/>
                        <a:pt x="364445" y="582"/>
                      </a:cubicBezTo>
                      <a:cubicBezTo>
                        <a:pt x="365278" y="831"/>
                        <a:pt x="366027" y="1164"/>
                        <a:pt x="366776" y="1580"/>
                      </a:cubicBezTo>
                      <a:cubicBezTo>
                        <a:pt x="367026" y="1663"/>
                        <a:pt x="367276" y="1829"/>
                        <a:pt x="367526" y="1995"/>
                      </a:cubicBezTo>
                      <a:cubicBezTo>
                        <a:pt x="368442" y="2577"/>
                        <a:pt x="369274" y="3242"/>
                        <a:pt x="369941" y="3990"/>
                      </a:cubicBezTo>
                      <a:cubicBezTo>
                        <a:pt x="369941" y="3990"/>
                        <a:pt x="370024" y="4073"/>
                        <a:pt x="370024" y="4073"/>
                      </a:cubicBezTo>
                      <a:lnTo>
                        <a:pt x="487426" y="137916"/>
                      </a:lnTo>
                      <a:cubicBezTo>
                        <a:pt x="489341" y="140078"/>
                        <a:pt x="490173" y="142821"/>
                        <a:pt x="490257" y="145648"/>
                      </a:cubicBezTo>
                      <a:cubicBezTo>
                        <a:pt x="490257" y="146063"/>
                        <a:pt x="490340" y="146562"/>
                        <a:pt x="490340" y="146978"/>
                      </a:cubicBezTo>
                      <a:lnTo>
                        <a:pt x="490340" y="217391"/>
                      </a:lnTo>
                      <a:lnTo>
                        <a:pt x="504994" y="217391"/>
                      </a:lnTo>
                      <a:cubicBezTo>
                        <a:pt x="523812" y="217391"/>
                        <a:pt x="539049" y="232604"/>
                        <a:pt x="539049" y="251475"/>
                      </a:cubicBezTo>
                      <a:lnTo>
                        <a:pt x="539049" y="428547"/>
                      </a:lnTo>
                      <a:cubicBezTo>
                        <a:pt x="539049" y="447418"/>
                        <a:pt x="523812" y="462631"/>
                        <a:pt x="504994" y="462631"/>
                      </a:cubicBezTo>
                      <a:lnTo>
                        <a:pt x="490340" y="462631"/>
                      </a:lnTo>
                      <a:lnTo>
                        <a:pt x="490340" y="583921"/>
                      </a:lnTo>
                      <a:cubicBezTo>
                        <a:pt x="490340" y="597056"/>
                        <a:pt x="479599" y="607780"/>
                        <a:pt x="466443" y="607780"/>
                      </a:cubicBezTo>
                      <a:lnTo>
                        <a:pt x="72606" y="607780"/>
                      </a:lnTo>
                      <a:cubicBezTo>
                        <a:pt x="59450" y="607780"/>
                        <a:pt x="48709" y="597056"/>
                        <a:pt x="48709" y="583921"/>
                      </a:cubicBezTo>
                      <a:lnTo>
                        <a:pt x="48709" y="462631"/>
                      </a:lnTo>
                      <a:lnTo>
                        <a:pt x="34138" y="462631"/>
                      </a:lnTo>
                      <a:cubicBezTo>
                        <a:pt x="15321" y="462631"/>
                        <a:pt x="0" y="447418"/>
                        <a:pt x="0" y="428547"/>
                      </a:cubicBezTo>
                      <a:lnTo>
                        <a:pt x="0" y="251475"/>
                      </a:lnTo>
                      <a:cubicBezTo>
                        <a:pt x="0" y="232604"/>
                        <a:pt x="15321" y="217391"/>
                        <a:pt x="34138" y="217391"/>
                      </a:cubicBezTo>
                      <a:lnTo>
                        <a:pt x="48709" y="217391"/>
                      </a:lnTo>
                      <a:lnTo>
                        <a:pt x="48709" y="23859"/>
                      </a:lnTo>
                      <a:cubicBezTo>
                        <a:pt x="48709" y="10724"/>
                        <a:pt x="59450" y="0"/>
                        <a:pt x="7260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</a:ln>
              </p:spPr>
              <p:txBody>
                <a:bodyPr wrap="squar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700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39" name="组合 38"/>
            <p:cNvGrpSpPr/>
            <p:nvPr/>
          </p:nvGrpSpPr>
          <p:grpSpPr>
            <a:xfrm>
              <a:off x="4934904" y="2050232"/>
              <a:ext cx="3990733" cy="962917"/>
              <a:chOff x="660400" y="7317537"/>
              <a:chExt cx="5242847" cy="1265038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1495948" y="7317537"/>
                <a:ext cx="4407299" cy="1265038"/>
                <a:chOff x="7793408" y="2617347"/>
                <a:chExt cx="4407299" cy="1265038"/>
              </a:xfrm>
            </p:grpSpPr>
            <p:sp>
              <p:nvSpPr>
                <p:cNvPr id="44" name="Text4"/>
                <p:cNvSpPr txBox="1"/>
                <p:nvPr/>
              </p:nvSpPr>
              <p:spPr>
                <a:xfrm>
                  <a:off x="7793408" y="3084327"/>
                  <a:ext cx="4407299" cy="7980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050" dirty="0">
                      <a:cs typeface="+mn-ea"/>
                      <a:sym typeface="+mn-lt"/>
                    </a:rPr>
                    <a:t>使用MyBatis预编译参数占位符（#{param}），杜绝拼接SQL字符串带来的风险。</a:t>
                  </a:r>
                  <a:endParaRPr lang="en-US" dirty="0"/>
                </a:p>
              </p:txBody>
            </p:sp>
            <p:sp>
              <p:nvSpPr>
                <p:cNvPr id="45" name="Bullet4"/>
                <p:cNvSpPr/>
                <p:nvPr/>
              </p:nvSpPr>
              <p:spPr>
                <a:xfrm>
                  <a:off x="7793408" y="2617347"/>
                  <a:ext cx="4407299" cy="46698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>
                    <a:lnSpc>
                      <a:spcPct val="130000"/>
                    </a:lnSpc>
                  </a:pPr>
                  <a:r>
                    <a:rPr lang="zh-CN" altLang="en-US" sz="1400" b="1" dirty="0">
                      <a:cs typeface="+mn-ea"/>
                      <a:sym typeface="+mn-lt"/>
                    </a:rPr>
                    <a:t>SQL注入防御措施</a:t>
                  </a:r>
                  <a:endParaRPr lang="en-US" dirty="0"/>
                </a:p>
              </p:txBody>
            </p:sp>
          </p:grpSp>
          <p:grpSp>
            <p:nvGrpSpPr>
              <p:cNvPr id="41" name="组合 40"/>
              <p:cNvGrpSpPr/>
              <p:nvPr/>
            </p:nvGrpSpPr>
            <p:grpSpPr>
              <a:xfrm>
                <a:off x="660400" y="7498210"/>
                <a:ext cx="660321" cy="660320"/>
                <a:chOff x="6045202" y="1505364"/>
                <a:chExt cx="1463673" cy="1463672"/>
              </a:xfrm>
            </p:grpSpPr>
            <p:sp>
              <p:nvSpPr>
                <p:cNvPr id="42" name="椭圆 41"/>
                <p:cNvSpPr/>
                <p:nvPr/>
              </p:nvSpPr>
              <p:spPr bwMode="auto">
                <a:xfrm>
                  <a:off x="6045202" y="1505364"/>
                  <a:ext cx="1463673" cy="1463672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noFill/>
                  <a:rou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Icon4"/>
                <p:cNvSpPr/>
                <p:nvPr/>
              </p:nvSpPr>
              <p:spPr bwMode="auto">
                <a:xfrm>
                  <a:off x="6483852" y="1944251"/>
                  <a:ext cx="586373" cy="585896"/>
                </a:xfrm>
                <a:custGeom>
                  <a:avLst/>
                  <a:gdLst>
                    <a:gd name="T0" fmla="*/ 2935 w 3055"/>
                    <a:gd name="T1" fmla="*/ 483 h 3057"/>
                    <a:gd name="T2" fmla="*/ 2575 w 3055"/>
                    <a:gd name="T3" fmla="*/ 483 h 3057"/>
                    <a:gd name="T4" fmla="*/ 2575 w 3055"/>
                    <a:gd name="T5" fmla="*/ 120 h 3057"/>
                    <a:gd name="T6" fmla="*/ 2455 w 3055"/>
                    <a:gd name="T7" fmla="*/ 0 h 3057"/>
                    <a:gd name="T8" fmla="*/ 120 w 3055"/>
                    <a:gd name="T9" fmla="*/ 0 h 3057"/>
                    <a:gd name="T10" fmla="*/ 0 w 3055"/>
                    <a:gd name="T11" fmla="*/ 120 h 3057"/>
                    <a:gd name="T12" fmla="*/ 0 w 3055"/>
                    <a:gd name="T13" fmla="*/ 2454 h 3057"/>
                    <a:gd name="T14" fmla="*/ 120 w 3055"/>
                    <a:gd name="T15" fmla="*/ 2574 h 3057"/>
                    <a:gd name="T16" fmla="*/ 481 w 3055"/>
                    <a:gd name="T17" fmla="*/ 2574 h 3057"/>
                    <a:gd name="T18" fmla="*/ 481 w 3055"/>
                    <a:gd name="T19" fmla="*/ 2937 h 3057"/>
                    <a:gd name="T20" fmla="*/ 601 w 3055"/>
                    <a:gd name="T21" fmla="*/ 3057 h 3057"/>
                    <a:gd name="T22" fmla="*/ 2935 w 3055"/>
                    <a:gd name="T23" fmla="*/ 3057 h 3057"/>
                    <a:gd name="T24" fmla="*/ 3055 w 3055"/>
                    <a:gd name="T25" fmla="*/ 2937 h 3057"/>
                    <a:gd name="T26" fmla="*/ 3055 w 3055"/>
                    <a:gd name="T27" fmla="*/ 603 h 3057"/>
                    <a:gd name="T28" fmla="*/ 2935 w 3055"/>
                    <a:gd name="T29" fmla="*/ 483 h 3057"/>
                    <a:gd name="T30" fmla="*/ 481 w 3055"/>
                    <a:gd name="T31" fmla="*/ 603 h 3057"/>
                    <a:gd name="T32" fmla="*/ 481 w 3055"/>
                    <a:gd name="T33" fmla="*/ 2334 h 3057"/>
                    <a:gd name="T34" fmla="*/ 240 w 3055"/>
                    <a:gd name="T35" fmla="*/ 2334 h 3057"/>
                    <a:gd name="T36" fmla="*/ 240 w 3055"/>
                    <a:gd name="T37" fmla="*/ 240 h 3057"/>
                    <a:gd name="T38" fmla="*/ 2335 w 3055"/>
                    <a:gd name="T39" fmla="*/ 240 h 3057"/>
                    <a:gd name="T40" fmla="*/ 2335 w 3055"/>
                    <a:gd name="T41" fmla="*/ 483 h 3057"/>
                    <a:gd name="T42" fmla="*/ 601 w 3055"/>
                    <a:gd name="T43" fmla="*/ 483 h 3057"/>
                    <a:gd name="T44" fmla="*/ 481 w 3055"/>
                    <a:gd name="T45" fmla="*/ 603 h 3057"/>
                    <a:gd name="T46" fmla="*/ 2335 w 3055"/>
                    <a:gd name="T47" fmla="*/ 723 h 3057"/>
                    <a:gd name="T48" fmla="*/ 2335 w 3055"/>
                    <a:gd name="T49" fmla="*/ 2334 h 3057"/>
                    <a:gd name="T50" fmla="*/ 721 w 3055"/>
                    <a:gd name="T51" fmla="*/ 2334 h 3057"/>
                    <a:gd name="T52" fmla="*/ 721 w 3055"/>
                    <a:gd name="T53" fmla="*/ 723 h 3057"/>
                    <a:gd name="T54" fmla="*/ 2335 w 3055"/>
                    <a:gd name="T55" fmla="*/ 723 h 3057"/>
                    <a:gd name="T56" fmla="*/ 2815 w 3055"/>
                    <a:gd name="T57" fmla="*/ 2817 h 3057"/>
                    <a:gd name="T58" fmla="*/ 721 w 3055"/>
                    <a:gd name="T59" fmla="*/ 2817 h 3057"/>
                    <a:gd name="T60" fmla="*/ 721 w 3055"/>
                    <a:gd name="T61" fmla="*/ 2574 h 3057"/>
                    <a:gd name="T62" fmla="*/ 2455 w 3055"/>
                    <a:gd name="T63" fmla="*/ 2574 h 3057"/>
                    <a:gd name="T64" fmla="*/ 2575 w 3055"/>
                    <a:gd name="T65" fmla="*/ 2454 h 3057"/>
                    <a:gd name="T66" fmla="*/ 2575 w 3055"/>
                    <a:gd name="T67" fmla="*/ 723 h 3057"/>
                    <a:gd name="T68" fmla="*/ 2815 w 3055"/>
                    <a:gd name="T69" fmla="*/ 723 h 3057"/>
                    <a:gd name="T70" fmla="*/ 2815 w 3055"/>
                    <a:gd name="T71" fmla="*/ 2817 h 30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3055" h="3057">
                      <a:moveTo>
                        <a:pt x="2935" y="483"/>
                      </a:moveTo>
                      <a:lnTo>
                        <a:pt x="2575" y="483"/>
                      </a:lnTo>
                      <a:lnTo>
                        <a:pt x="2575" y="120"/>
                      </a:lnTo>
                      <a:cubicBezTo>
                        <a:pt x="2575" y="54"/>
                        <a:pt x="2521" y="0"/>
                        <a:pt x="2455" y="0"/>
                      </a:cubicBezTo>
                      <a:lnTo>
                        <a:pt x="120" y="0"/>
                      </a:lnTo>
                      <a:cubicBezTo>
                        <a:pt x="54" y="0"/>
                        <a:pt x="0" y="54"/>
                        <a:pt x="0" y="120"/>
                      </a:cubicBezTo>
                      <a:lnTo>
                        <a:pt x="0" y="2454"/>
                      </a:lnTo>
                      <a:cubicBezTo>
                        <a:pt x="0" y="2521"/>
                        <a:pt x="54" y="2574"/>
                        <a:pt x="120" y="2574"/>
                      </a:cubicBezTo>
                      <a:lnTo>
                        <a:pt x="481" y="2574"/>
                      </a:lnTo>
                      <a:lnTo>
                        <a:pt x="481" y="2937"/>
                      </a:lnTo>
                      <a:cubicBezTo>
                        <a:pt x="481" y="3004"/>
                        <a:pt x="534" y="3057"/>
                        <a:pt x="601" y="3057"/>
                      </a:cubicBezTo>
                      <a:lnTo>
                        <a:pt x="2935" y="3057"/>
                      </a:lnTo>
                      <a:cubicBezTo>
                        <a:pt x="3001" y="3057"/>
                        <a:pt x="3055" y="3004"/>
                        <a:pt x="3055" y="2937"/>
                      </a:cubicBezTo>
                      <a:lnTo>
                        <a:pt x="3055" y="603"/>
                      </a:lnTo>
                      <a:cubicBezTo>
                        <a:pt x="3055" y="537"/>
                        <a:pt x="3001" y="483"/>
                        <a:pt x="2935" y="483"/>
                      </a:cubicBezTo>
                      <a:close/>
                      <a:moveTo>
                        <a:pt x="481" y="603"/>
                      </a:moveTo>
                      <a:lnTo>
                        <a:pt x="481" y="2334"/>
                      </a:lnTo>
                      <a:lnTo>
                        <a:pt x="240" y="2334"/>
                      </a:lnTo>
                      <a:lnTo>
                        <a:pt x="240" y="240"/>
                      </a:lnTo>
                      <a:lnTo>
                        <a:pt x="2335" y="240"/>
                      </a:lnTo>
                      <a:lnTo>
                        <a:pt x="2335" y="483"/>
                      </a:lnTo>
                      <a:lnTo>
                        <a:pt x="601" y="483"/>
                      </a:lnTo>
                      <a:cubicBezTo>
                        <a:pt x="534" y="483"/>
                        <a:pt x="481" y="537"/>
                        <a:pt x="481" y="603"/>
                      </a:cubicBezTo>
                      <a:close/>
                      <a:moveTo>
                        <a:pt x="2335" y="723"/>
                      </a:moveTo>
                      <a:lnTo>
                        <a:pt x="2335" y="2334"/>
                      </a:lnTo>
                      <a:lnTo>
                        <a:pt x="721" y="2334"/>
                      </a:lnTo>
                      <a:lnTo>
                        <a:pt x="721" y="723"/>
                      </a:lnTo>
                      <a:lnTo>
                        <a:pt x="2335" y="723"/>
                      </a:lnTo>
                      <a:close/>
                      <a:moveTo>
                        <a:pt x="2815" y="2817"/>
                      </a:moveTo>
                      <a:lnTo>
                        <a:pt x="721" y="2817"/>
                      </a:lnTo>
                      <a:lnTo>
                        <a:pt x="721" y="2574"/>
                      </a:lnTo>
                      <a:lnTo>
                        <a:pt x="2455" y="2574"/>
                      </a:lnTo>
                      <a:cubicBezTo>
                        <a:pt x="2521" y="2574"/>
                        <a:pt x="2575" y="2521"/>
                        <a:pt x="2575" y="2454"/>
                      </a:cubicBezTo>
                      <a:lnTo>
                        <a:pt x="2575" y="723"/>
                      </a:lnTo>
                      <a:lnTo>
                        <a:pt x="2815" y="723"/>
                      </a:lnTo>
                      <a:lnTo>
                        <a:pt x="2815" y="28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</a:ln>
              </p:spPr>
              <p:txBody>
                <a:bodyPr wrap="squar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100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660401" y="3013149"/>
              <a:ext cx="3990733" cy="962917"/>
              <a:chOff x="660400" y="4652173"/>
              <a:chExt cx="5242847" cy="1265038"/>
            </a:xfrm>
          </p:grpSpPr>
          <p:grpSp>
            <p:nvGrpSpPr>
              <p:cNvPr id="47" name="组合 46"/>
              <p:cNvGrpSpPr/>
              <p:nvPr/>
            </p:nvGrpSpPr>
            <p:grpSpPr>
              <a:xfrm>
                <a:off x="1495948" y="4652173"/>
                <a:ext cx="4407299" cy="1265038"/>
                <a:chOff x="7793408" y="2617347"/>
                <a:chExt cx="4407299" cy="1265038"/>
              </a:xfrm>
            </p:grpSpPr>
            <p:sp>
              <p:nvSpPr>
                <p:cNvPr id="51" name="Text5"/>
                <p:cNvSpPr txBox="1"/>
                <p:nvPr/>
              </p:nvSpPr>
              <p:spPr>
                <a:xfrm>
                  <a:off x="7793408" y="3084327"/>
                  <a:ext cx="4407299" cy="7980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050" dirty="0">
                      <a:cs typeface="+mn-ea"/>
                      <a:sym typeface="+mn-lt"/>
                    </a:rPr>
                    <a:t>前端对用户输入内容进行转义处理，后端使用Spring Security过滤恶意脚本代码。</a:t>
                  </a:r>
                  <a:endParaRPr lang="en-US" dirty="0"/>
                </a:p>
              </p:txBody>
            </p:sp>
            <p:sp>
              <p:nvSpPr>
                <p:cNvPr id="52" name="Bullet5"/>
                <p:cNvSpPr/>
                <p:nvPr/>
              </p:nvSpPr>
              <p:spPr>
                <a:xfrm>
                  <a:off x="7793408" y="2617347"/>
                  <a:ext cx="4407299" cy="46698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>
                    <a:lnSpc>
                      <a:spcPct val="130000"/>
                    </a:lnSpc>
                  </a:pPr>
                  <a:r>
                    <a:rPr lang="zh-CN" altLang="en-US" sz="1400" b="1" dirty="0">
                      <a:cs typeface="+mn-ea"/>
                      <a:sym typeface="+mn-lt"/>
                    </a:rPr>
                    <a:t>XSS跨站脚本防护</a:t>
                  </a:r>
                  <a:endParaRPr lang="en-US" dirty="0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60400" y="4832846"/>
                <a:ext cx="660321" cy="660320"/>
                <a:chOff x="6045202" y="2900364"/>
                <a:chExt cx="1463673" cy="1463672"/>
              </a:xfrm>
            </p:grpSpPr>
            <p:sp>
              <p:nvSpPr>
                <p:cNvPr id="49" name="椭圆 48"/>
                <p:cNvSpPr/>
                <p:nvPr/>
              </p:nvSpPr>
              <p:spPr bwMode="auto">
                <a:xfrm>
                  <a:off x="6045202" y="2900364"/>
                  <a:ext cx="1463673" cy="1463672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noFill/>
                  <a:rou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Icon5"/>
                <p:cNvSpPr/>
                <p:nvPr/>
              </p:nvSpPr>
              <p:spPr bwMode="auto">
                <a:xfrm>
                  <a:off x="6497065" y="3354890"/>
                  <a:ext cx="559948" cy="554618"/>
                </a:xfrm>
                <a:custGeom>
                  <a:avLst/>
                  <a:gdLst>
                    <a:gd name="connsiteX0" fmla="*/ 324452 w 608419"/>
                    <a:gd name="connsiteY0" fmla="*/ 409324 h 602629"/>
                    <a:gd name="connsiteX1" fmla="*/ 301251 w 608419"/>
                    <a:gd name="connsiteY1" fmla="*/ 432643 h 602629"/>
                    <a:gd name="connsiteX2" fmla="*/ 324452 w 608419"/>
                    <a:gd name="connsiteY2" fmla="*/ 455809 h 602629"/>
                    <a:gd name="connsiteX3" fmla="*/ 347652 w 608419"/>
                    <a:gd name="connsiteY3" fmla="*/ 432643 h 602629"/>
                    <a:gd name="connsiteX4" fmla="*/ 324452 w 608419"/>
                    <a:gd name="connsiteY4" fmla="*/ 409324 h 602629"/>
                    <a:gd name="connsiteX5" fmla="*/ 370853 w 608419"/>
                    <a:gd name="connsiteY5" fmla="*/ 339826 h 602629"/>
                    <a:gd name="connsiteX6" fmla="*/ 347652 w 608419"/>
                    <a:gd name="connsiteY6" fmla="*/ 362992 h 602629"/>
                    <a:gd name="connsiteX7" fmla="*/ 370853 w 608419"/>
                    <a:gd name="connsiteY7" fmla="*/ 386158 h 602629"/>
                    <a:gd name="connsiteX8" fmla="*/ 394053 w 608419"/>
                    <a:gd name="connsiteY8" fmla="*/ 362992 h 602629"/>
                    <a:gd name="connsiteX9" fmla="*/ 370853 w 608419"/>
                    <a:gd name="connsiteY9" fmla="*/ 339826 h 602629"/>
                    <a:gd name="connsiteX10" fmla="*/ 278051 w 608419"/>
                    <a:gd name="connsiteY10" fmla="*/ 339826 h 602629"/>
                    <a:gd name="connsiteX11" fmla="*/ 254851 w 608419"/>
                    <a:gd name="connsiteY11" fmla="*/ 362992 h 602629"/>
                    <a:gd name="connsiteX12" fmla="*/ 278051 w 608419"/>
                    <a:gd name="connsiteY12" fmla="*/ 386158 h 602629"/>
                    <a:gd name="connsiteX13" fmla="*/ 301251 w 608419"/>
                    <a:gd name="connsiteY13" fmla="*/ 362992 h 602629"/>
                    <a:gd name="connsiteX14" fmla="*/ 278051 w 608419"/>
                    <a:gd name="connsiteY14" fmla="*/ 339826 h 602629"/>
                    <a:gd name="connsiteX15" fmla="*/ 278051 w 608419"/>
                    <a:gd name="connsiteY15" fmla="*/ 262503 h 602629"/>
                    <a:gd name="connsiteX16" fmla="*/ 448290 w 608419"/>
                    <a:gd name="connsiteY16" fmla="*/ 432643 h 602629"/>
                    <a:gd name="connsiteX17" fmla="*/ 278051 w 608419"/>
                    <a:gd name="connsiteY17" fmla="*/ 602629 h 602629"/>
                    <a:gd name="connsiteX18" fmla="*/ 107812 w 608419"/>
                    <a:gd name="connsiteY18" fmla="*/ 432643 h 602629"/>
                    <a:gd name="connsiteX19" fmla="*/ 278051 w 608419"/>
                    <a:gd name="connsiteY19" fmla="*/ 262503 h 602629"/>
                    <a:gd name="connsiteX20" fmla="*/ 134434 w 608419"/>
                    <a:gd name="connsiteY20" fmla="*/ 241757 h 602629"/>
                    <a:gd name="connsiteX21" fmla="*/ 172379 w 608419"/>
                    <a:gd name="connsiteY21" fmla="*/ 261701 h 602629"/>
                    <a:gd name="connsiteX22" fmla="*/ 76979 w 608419"/>
                    <a:gd name="connsiteY22" fmla="*/ 432606 h 602629"/>
                    <a:gd name="connsiteX23" fmla="*/ 86503 w 608419"/>
                    <a:gd name="connsiteY23" fmla="*/ 493819 h 602629"/>
                    <a:gd name="connsiteX24" fmla="*/ 82048 w 608419"/>
                    <a:gd name="connsiteY24" fmla="*/ 497348 h 602629"/>
                    <a:gd name="connsiteX25" fmla="*/ 57161 w 608419"/>
                    <a:gd name="connsiteY25" fmla="*/ 499342 h 602629"/>
                    <a:gd name="connsiteX26" fmla="*/ 12610 w 608419"/>
                    <a:gd name="connsiteY26" fmla="*/ 476023 h 602629"/>
                    <a:gd name="connsiteX27" fmla="*/ 13 w 608419"/>
                    <a:gd name="connsiteY27" fmla="*/ 454698 h 602629"/>
                    <a:gd name="connsiteX28" fmla="*/ 31813 w 608419"/>
                    <a:gd name="connsiteY28" fmla="*/ 337028 h 602629"/>
                    <a:gd name="connsiteX29" fmla="*/ 113388 w 608419"/>
                    <a:gd name="connsiteY29" fmla="*/ 255258 h 602629"/>
                    <a:gd name="connsiteX30" fmla="*/ 134434 w 608419"/>
                    <a:gd name="connsiteY30" fmla="*/ 241757 h 602629"/>
                    <a:gd name="connsiteX31" fmla="*/ 167777 w 608419"/>
                    <a:gd name="connsiteY31" fmla="*/ 200829 h 602629"/>
                    <a:gd name="connsiteX32" fmla="*/ 195877 w 608419"/>
                    <a:gd name="connsiteY32" fmla="*/ 215550 h 602629"/>
                    <a:gd name="connsiteX33" fmla="*/ 184975 w 608419"/>
                    <a:gd name="connsiteY33" fmla="*/ 245144 h 602629"/>
                    <a:gd name="connsiteX34" fmla="*/ 149657 w 608419"/>
                    <a:gd name="connsiteY34" fmla="*/ 226590 h 602629"/>
                    <a:gd name="connsiteX35" fmla="*/ 167777 w 608419"/>
                    <a:gd name="connsiteY35" fmla="*/ 200829 h 602629"/>
                    <a:gd name="connsiteX36" fmla="*/ 497499 w 608419"/>
                    <a:gd name="connsiteY36" fmla="*/ 191162 h 602629"/>
                    <a:gd name="connsiteX37" fmla="*/ 518849 w 608419"/>
                    <a:gd name="connsiteY37" fmla="*/ 211260 h 602629"/>
                    <a:gd name="connsiteX38" fmla="*/ 594574 w 608419"/>
                    <a:gd name="connsiteY38" fmla="*/ 321258 h 602629"/>
                    <a:gd name="connsiteX39" fmla="*/ 605326 w 608419"/>
                    <a:gd name="connsiteY39" fmla="*/ 465162 h 602629"/>
                    <a:gd name="connsiteX40" fmla="*/ 589198 w 608419"/>
                    <a:gd name="connsiteY40" fmla="*/ 483265 h 602629"/>
                    <a:gd name="connsiteX41" fmla="*/ 528065 w 608419"/>
                    <a:gd name="connsiteY41" fmla="*/ 502288 h 602629"/>
                    <a:gd name="connsiteX42" fmla="*/ 504411 w 608419"/>
                    <a:gd name="connsiteY42" fmla="*/ 496458 h 602629"/>
                    <a:gd name="connsiteX43" fmla="*/ 476917 w 608419"/>
                    <a:gd name="connsiteY43" fmla="*/ 461940 h 602629"/>
                    <a:gd name="connsiteX44" fmla="*/ 479067 w 608419"/>
                    <a:gd name="connsiteY44" fmla="*/ 432638 h 602629"/>
                    <a:gd name="connsiteX45" fmla="*/ 420699 w 608419"/>
                    <a:gd name="connsiteY45" fmla="*/ 291189 h 602629"/>
                    <a:gd name="connsiteX46" fmla="*/ 431605 w 608419"/>
                    <a:gd name="connsiteY46" fmla="*/ 238414 h 602629"/>
                    <a:gd name="connsiteX47" fmla="*/ 437595 w 608419"/>
                    <a:gd name="connsiteY47" fmla="*/ 209725 h 602629"/>
                    <a:gd name="connsiteX48" fmla="*/ 468620 w 608419"/>
                    <a:gd name="connsiteY48" fmla="*/ 137744 h 602629"/>
                    <a:gd name="connsiteX49" fmla="*/ 485055 w 608419"/>
                    <a:gd name="connsiteY49" fmla="*/ 173331 h 602629"/>
                    <a:gd name="connsiteX50" fmla="*/ 437748 w 608419"/>
                    <a:gd name="connsiteY50" fmla="*/ 188057 h 602629"/>
                    <a:gd name="connsiteX51" fmla="*/ 431143 w 608419"/>
                    <a:gd name="connsiteY51" fmla="*/ 149402 h 602629"/>
                    <a:gd name="connsiteX52" fmla="*/ 227143 w 608419"/>
                    <a:gd name="connsiteY52" fmla="*/ 90220 h 602629"/>
                    <a:gd name="connsiteX53" fmla="*/ 241952 w 608419"/>
                    <a:gd name="connsiteY53" fmla="*/ 93729 h 602629"/>
                    <a:gd name="connsiteX54" fmla="*/ 257626 w 608419"/>
                    <a:gd name="connsiteY54" fmla="*/ 114899 h 602629"/>
                    <a:gd name="connsiteX55" fmla="*/ 254399 w 608419"/>
                    <a:gd name="connsiteY55" fmla="*/ 139136 h 602629"/>
                    <a:gd name="connsiteX56" fmla="*/ 252709 w 608419"/>
                    <a:gd name="connsiteY56" fmla="*/ 142665 h 602629"/>
                    <a:gd name="connsiteX57" fmla="*/ 234577 w 608419"/>
                    <a:gd name="connsiteY57" fmla="*/ 161380 h 602629"/>
                    <a:gd name="connsiteX58" fmla="*/ 205534 w 608419"/>
                    <a:gd name="connsiteY58" fmla="*/ 197583 h 602629"/>
                    <a:gd name="connsiteX59" fmla="*/ 177107 w 608419"/>
                    <a:gd name="connsiteY59" fmla="*/ 182549 h 602629"/>
                    <a:gd name="connsiteX60" fmla="*/ 190476 w 608419"/>
                    <a:gd name="connsiteY60" fmla="*/ 138216 h 602629"/>
                    <a:gd name="connsiteX61" fmla="*/ 195700 w 608419"/>
                    <a:gd name="connsiteY61" fmla="*/ 112751 h 602629"/>
                    <a:gd name="connsiteX62" fmla="*/ 197544 w 608419"/>
                    <a:gd name="connsiteY62" fmla="*/ 109376 h 602629"/>
                    <a:gd name="connsiteX63" fmla="*/ 215676 w 608419"/>
                    <a:gd name="connsiteY63" fmla="*/ 92809 h 602629"/>
                    <a:gd name="connsiteX64" fmla="*/ 227143 w 608419"/>
                    <a:gd name="connsiteY64" fmla="*/ 90220 h 602629"/>
                    <a:gd name="connsiteX65" fmla="*/ 416810 w 608419"/>
                    <a:gd name="connsiteY65" fmla="*/ 0 h 602629"/>
                    <a:gd name="connsiteX66" fmla="*/ 454458 w 608419"/>
                    <a:gd name="connsiteY66" fmla="*/ 29602 h 602629"/>
                    <a:gd name="connsiteX67" fmla="*/ 455995 w 608419"/>
                    <a:gd name="connsiteY67" fmla="*/ 33743 h 602629"/>
                    <a:gd name="connsiteX68" fmla="*/ 456609 w 608419"/>
                    <a:gd name="connsiteY68" fmla="*/ 64265 h 602629"/>
                    <a:gd name="connsiteX69" fmla="*/ 462756 w 608419"/>
                    <a:gd name="connsiteY69" fmla="*/ 118101 h 602629"/>
                    <a:gd name="connsiteX70" fmla="*/ 424801 w 608419"/>
                    <a:gd name="connsiteY70" fmla="*/ 129911 h 602629"/>
                    <a:gd name="connsiteX71" fmla="*/ 399139 w 608419"/>
                    <a:gd name="connsiteY71" fmla="*/ 82057 h 602629"/>
                    <a:gd name="connsiteX72" fmla="*/ 382390 w 608419"/>
                    <a:gd name="connsiteY72" fmla="*/ 56596 h 602629"/>
                    <a:gd name="connsiteX73" fmla="*/ 381160 w 608419"/>
                    <a:gd name="connsiteY73" fmla="*/ 52455 h 602629"/>
                    <a:gd name="connsiteX74" fmla="*/ 405593 w 608419"/>
                    <a:gd name="connsiteY74" fmla="*/ 1840 h 602629"/>
                    <a:gd name="connsiteX75" fmla="*/ 416810 w 608419"/>
                    <a:gd name="connsiteY75" fmla="*/ 0 h 602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608419" h="602629">
                      <a:moveTo>
                        <a:pt x="324452" y="409324"/>
                      </a:moveTo>
                      <a:cubicBezTo>
                        <a:pt x="311546" y="409324"/>
                        <a:pt x="301251" y="419756"/>
                        <a:pt x="301251" y="432643"/>
                      </a:cubicBezTo>
                      <a:cubicBezTo>
                        <a:pt x="301251" y="445377"/>
                        <a:pt x="311546" y="455809"/>
                        <a:pt x="324452" y="455809"/>
                      </a:cubicBezTo>
                      <a:cubicBezTo>
                        <a:pt x="337204" y="455809"/>
                        <a:pt x="347652" y="445377"/>
                        <a:pt x="347652" y="432643"/>
                      </a:cubicBezTo>
                      <a:cubicBezTo>
                        <a:pt x="347652" y="419756"/>
                        <a:pt x="337204" y="409324"/>
                        <a:pt x="324452" y="409324"/>
                      </a:cubicBezTo>
                      <a:close/>
                      <a:moveTo>
                        <a:pt x="370853" y="339826"/>
                      </a:moveTo>
                      <a:cubicBezTo>
                        <a:pt x="357947" y="339826"/>
                        <a:pt x="347652" y="350258"/>
                        <a:pt x="347652" y="362992"/>
                      </a:cubicBezTo>
                      <a:cubicBezTo>
                        <a:pt x="347652" y="375879"/>
                        <a:pt x="357947" y="386158"/>
                        <a:pt x="370853" y="386158"/>
                      </a:cubicBezTo>
                      <a:cubicBezTo>
                        <a:pt x="383605" y="386158"/>
                        <a:pt x="394053" y="375879"/>
                        <a:pt x="394053" y="362992"/>
                      </a:cubicBezTo>
                      <a:cubicBezTo>
                        <a:pt x="394053" y="350258"/>
                        <a:pt x="383605" y="339826"/>
                        <a:pt x="370853" y="339826"/>
                      </a:cubicBezTo>
                      <a:close/>
                      <a:moveTo>
                        <a:pt x="278051" y="339826"/>
                      </a:moveTo>
                      <a:cubicBezTo>
                        <a:pt x="265145" y="339826"/>
                        <a:pt x="254851" y="350258"/>
                        <a:pt x="254851" y="362992"/>
                      </a:cubicBezTo>
                      <a:cubicBezTo>
                        <a:pt x="254851" y="375879"/>
                        <a:pt x="265145" y="386158"/>
                        <a:pt x="278051" y="386158"/>
                      </a:cubicBezTo>
                      <a:cubicBezTo>
                        <a:pt x="290804" y="386158"/>
                        <a:pt x="301251" y="375879"/>
                        <a:pt x="301251" y="362992"/>
                      </a:cubicBezTo>
                      <a:cubicBezTo>
                        <a:pt x="301251" y="350258"/>
                        <a:pt x="290804" y="339826"/>
                        <a:pt x="278051" y="339826"/>
                      </a:cubicBezTo>
                      <a:close/>
                      <a:moveTo>
                        <a:pt x="278051" y="262503"/>
                      </a:moveTo>
                      <a:cubicBezTo>
                        <a:pt x="371928" y="262503"/>
                        <a:pt x="448290" y="338905"/>
                        <a:pt x="448290" y="432643"/>
                      </a:cubicBezTo>
                      <a:cubicBezTo>
                        <a:pt x="448290" y="526381"/>
                        <a:pt x="371928" y="602629"/>
                        <a:pt x="278051" y="602629"/>
                      </a:cubicBezTo>
                      <a:cubicBezTo>
                        <a:pt x="184174" y="602629"/>
                        <a:pt x="107812" y="526381"/>
                        <a:pt x="107812" y="432643"/>
                      </a:cubicBezTo>
                      <a:cubicBezTo>
                        <a:pt x="107812" y="338905"/>
                        <a:pt x="184174" y="262503"/>
                        <a:pt x="278051" y="262503"/>
                      </a:cubicBezTo>
                      <a:close/>
                      <a:moveTo>
                        <a:pt x="134434" y="241757"/>
                      </a:moveTo>
                      <a:lnTo>
                        <a:pt x="172379" y="261701"/>
                      </a:lnTo>
                      <a:cubicBezTo>
                        <a:pt x="115231" y="297140"/>
                        <a:pt x="76979" y="360501"/>
                        <a:pt x="76979" y="432606"/>
                      </a:cubicBezTo>
                      <a:cubicBezTo>
                        <a:pt x="76979" y="453931"/>
                        <a:pt x="80358" y="474489"/>
                        <a:pt x="86503" y="493819"/>
                      </a:cubicBezTo>
                      <a:cubicBezTo>
                        <a:pt x="84967" y="495046"/>
                        <a:pt x="83585" y="496274"/>
                        <a:pt x="82048" y="497348"/>
                      </a:cubicBezTo>
                      <a:cubicBezTo>
                        <a:pt x="74828" y="502717"/>
                        <a:pt x="65150" y="503484"/>
                        <a:pt x="57161" y="499342"/>
                      </a:cubicBezTo>
                      <a:lnTo>
                        <a:pt x="12610" y="476023"/>
                      </a:lnTo>
                      <a:cubicBezTo>
                        <a:pt x="4622" y="471881"/>
                        <a:pt x="-294" y="463596"/>
                        <a:pt x="13" y="454698"/>
                      </a:cubicBezTo>
                      <a:cubicBezTo>
                        <a:pt x="1089" y="420947"/>
                        <a:pt x="14300" y="370166"/>
                        <a:pt x="31813" y="337028"/>
                      </a:cubicBezTo>
                      <a:cubicBezTo>
                        <a:pt x="52092" y="298214"/>
                        <a:pt x="78822" y="271520"/>
                        <a:pt x="113388" y="255258"/>
                      </a:cubicBezTo>
                      <a:cubicBezTo>
                        <a:pt x="120915" y="251729"/>
                        <a:pt x="127982" y="247127"/>
                        <a:pt x="134434" y="241757"/>
                      </a:cubicBezTo>
                      <a:close/>
                      <a:moveTo>
                        <a:pt x="167777" y="200829"/>
                      </a:moveTo>
                      <a:lnTo>
                        <a:pt x="195877" y="215550"/>
                      </a:lnTo>
                      <a:cubicBezTo>
                        <a:pt x="191424" y="224903"/>
                        <a:pt x="187585" y="234871"/>
                        <a:pt x="184975" y="245144"/>
                      </a:cubicBezTo>
                      <a:lnTo>
                        <a:pt x="149657" y="226590"/>
                      </a:lnTo>
                      <a:cubicBezTo>
                        <a:pt x="156567" y="218617"/>
                        <a:pt x="162709" y="209723"/>
                        <a:pt x="167777" y="200829"/>
                      </a:cubicBezTo>
                      <a:close/>
                      <a:moveTo>
                        <a:pt x="497499" y="191162"/>
                      </a:moveTo>
                      <a:cubicBezTo>
                        <a:pt x="503643" y="198680"/>
                        <a:pt x="510862" y="205583"/>
                        <a:pt x="518849" y="211260"/>
                      </a:cubicBezTo>
                      <a:cubicBezTo>
                        <a:pt x="554638" y="237033"/>
                        <a:pt x="579521" y="272933"/>
                        <a:pt x="594574" y="321258"/>
                      </a:cubicBezTo>
                      <a:cubicBezTo>
                        <a:pt x="607784" y="363908"/>
                        <a:pt x="611931" y="426655"/>
                        <a:pt x="605326" y="465162"/>
                      </a:cubicBezTo>
                      <a:cubicBezTo>
                        <a:pt x="603790" y="473753"/>
                        <a:pt x="597493" y="480810"/>
                        <a:pt x="589198" y="483265"/>
                      </a:cubicBezTo>
                      <a:lnTo>
                        <a:pt x="528065" y="502288"/>
                      </a:lnTo>
                      <a:cubicBezTo>
                        <a:pt x="519771" y="504896"/>
                        <a:pt x="510555" y="502748"/>
                        <a:pt x="504411" y="496458"/>
                      </a:cubicBezTo>
                      <a:cubicBezTo>
                        <a:pt x="495502" y="487253"/>
                        <a:pt x="486133" y="475441"/>
                        <a:pt x="476917" y="461940"/>
                      </a:cubicBezTo>
                      <a:cubicBezTo>
                        <a:pt x="478453" y="452428"/>
                        <a:pt x="479067" y="442610"/>
                        <a:pt x="479067" y="432638"/>
                      </a:cubicBezTo>
                      <a:cubicBezTo>
                        <a:pt x="479067" y="377408"/>
                        <a:pt x="456795" y="327548"/>
                        <a:pt x="420699" y="291189"/>
                      </a:cubicBezTo>
                      <a:cubicBezTo>
                        <a:pt x="421774" y="273086"/>
                        <a:pt x="425307" y="255597"/>
                        <a:pt x="431605" y="238414"/>
                      </a:cubicBezTo>
                      <a:cubicBezTo>
                        <a:pt x="434830" y="229209"/>
                        <a:pt x="436827" y="219544"/>
                        <a:pt x="437595" y="209725"/>
                      </a:cubicBezTo>
                      <a:close/>
                      <a:moveTo>
                        <a:pt x="468620" y="137744"/>
                      </a:moveTo>
                      <a:cubicBezTo>
                        <a:pt x="472921" y="149862"/>
                        <a:pt x="478297" y="161980"/>
                        <a:pt x="485055" y="173331"/>
                      </a:cubicBezTo>
                      <a:lnTo>
                        <a:pt x="437748" y="188057"/>
                      </a:lnTo>
                      <a:cubicBezTo>
                        <a:pt x="436980" y="174865"/>
                        <a:pt x="434522" y="161826"/>
                        <a:pt x="431143" y="149402"/>
                      </a:cubicBezTo>
                      <a:close/>
                      <a:moveTo>
                        <a:pt x="227143" y="90220"/>
                      </a:moveTo>
                      <a:cubicBezTo>
                        <a:pt x="231619" y="90086"/>
                        <a:pt x="236651" y="90968"/>
                        <a:pt x="241952" y="93729"/>
                      </a:cubicBezTo>
                      <a:cubicBezTo>
                        <a:pt x="252555" y="99405"/>
                        <a:pt x="256396" y="108302"/>
                        <a:pt x="257626" y="114899"/>
                      </a:cubicBezTo>
                      <a:cubicBezTo>
                        <a:pt x="259316" y="123029"/>
                        <a:pt x="258087" y="132233"/>
                        <a:pt x="254399" y="139136"/>
                      </a:cubicBezTo>
                      <a:cubicBezTo>
                        <a:pt x="253784" y="140364"/>
                        <a:pt x="253170" y="141591"/>
                        <a:pt x="252709" y="142665"/>
                      </a:cubicBezTo>
                      <a:cubicBezTo>
                        <a:pt x="250557" y="146960"/>
                        <a:pt x="249328" y="149568"/>
                        <a:pt x="234577" y="161380"/>
                      </a:cubicBezTo>
                      <a:cubicBezTo>
                        <a:pt x="227201" y="167209"/>
                        <a:pt x="215983" y="180402"/>
                        <a:pt x="205534" y="197583"/>
                      </a:cubicBezTo>
                      <a:lnTo>
                        <a:pt x="177107" y="182549"/>
                      </a:lnTo>
                      <a:cubicBezTo>
                        <a:pt x="185405" y="164448"/>
                        <a:pt x="189861" y="147574"/>
                        <a:pt x="190476" y="138216"/>
                      </a:cubicBezTo>
                      <a:cubicBezTo>
                        <a:pt x="191859" y="119347"/>
                        <a:pt x="193242" y="116893"/>
                        <a:pt x="195700" y="112751"/>
                      </a:cubicBezTo>
                      <a:cubicBezTo>
                        <a:pt x="196315" y="111677"/>
                        <a:pt x="196929" y="110604"/>
                        <a:pt x="197544" y="109376"/>
                      </a:cubicBezTo>
                      <a:cubicBezTo>
                        <a:pt x="201232" y="102473"/>
                        <a:pt x="208147" y="96184"/>
                        <a:pt x="215676" y="92809"/>
                      </a:cubicBezTo>
                      <a:cubicBezTo>
                        <a:pt x="218749" y="91505"/>
                        <a:pt x="222668" y="90354"/>
                        <a:pt x="227143" y="90220"/>
                      </a:cubicBezTo>
                      <a:close/>
                      <a:moveTo>
                        <a:pt x="416810" y="0"/>
                      </a:moveTo>
                      <a:cubicBezTo>
                        <a:pt x="436172" y="0"/>
                        <a:pt x="450309" y="16258"/>
                        <a:pt x="454458" y="29602"/>
                      </a:cubicBezTo>
                      <a:cubicBezTo>
                        <a:pt x="455073" y="31135"/>
                        <a:pt x="455534" y="32516"/>
                        <a:pt x="455995" y="33743"/>
                      </a:cubicBezTo>
                      <a:cubicBezTo>
                        <a:pt x="457839" y="39111"/>
                        <a:pt x="458914" y="42485"/>
                        <a:pt x="456609" y="64265"/>
                      </a:cubicBezTo>
                      <a:cubicBezTo>
                        <a:pt x="455380" y="75155"/>
                        <a:pt x="456917" y="95554"/>
                        <a:pt x="462756" y="118101"/>
                      </a:cubicBezTo>
                      <a:lnTo>
                        <a:pt x="424801" y="129911"/>
                      </a:lnTo>
                      <a:cubicBezTo>
                        <a:pt x="416657" y="107978"/>
                        <a:pt x="406361" y="90493"/>
                        <a:pt x="399139" y="82057"/>
                      </a:cubicBezTo>
                      <a:cubicBezTo>
                        <a:pt x="384848" y="65492"/>
                        <a:pt x="383926" y="62118"/>
                        <a:pt x="382390" y="56596"/>
                      </a:cubicBezTo>
                      <a:cubicBezTo>
                        <a:pt x="382082" y="55369"/>
                        <a:pt x="381621" y="53989"/>
                        <a:pt x="381160" y="52455"/>
                      </a:cubicBezTo>
                      <a:cubicBezTo>
                        <a:pt x="376243" y="36504"/>
                        <a:pt x="380546" y="9509"/>
                        <a:pt x="405593" y="1840"/>
                      </a:cubicBezTo>
                      <a:cubicBezTo>
                        <a:pt x="409434" y="613"/>
                        <a:pt x="413276" y="0"/>
                        <a:pt x="41681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</a:ln>
              </p:spPr>
              <p:txBody>
                <a:bodyPr wrap="squar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100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3" name="组合 52"/>
            <p:cNvGrpSpPr/>
            <p:nvPr/>
          </p:nvGrpSpPr>
          <p:grpSpPr>
            <a:xfrm>
              <a:off x="4934904" y="3013150"/>
              <a:ext cx="3990733" cy="962917"/>
              <a:chOff x="660400" y="8681647"/>
              <a:chExt cx="5242847" cy="1265038"/>
            </a:xfrm>
          </p:grpSpPr>
          <p:grpSp>
            <p:nvGrpSpPr>
              <p:cNvPr id="54" name="组合 53"/>
              <p:cNvGrpSpPr/>
              <p:nvPr/>
            </p:nvGrpSpPr>
            <p:grpSpPr>
              <a:xfrm>
                <a:off x="660400" y="8862320"/>
                <a:ext cx="660321" cy="660320"/>
                <a:chOff x="6045202" y="4295364"/>
                <a:chExt cx="1463673" cy="1463672"/>
              </a:xfrm>
            </p:grpSpPr>
            <p:sp>
              <p:nvSpPr>
                <p:cNvPr id="58" name="椭圆 57"/>
                <p:cNvSpPr/>
                <p:nvPr/>
              </p:nvSpPr>
              <p:spPr bwMode="auto">
                <a:xfrm>
                  <a:off x="6045202" y="4295364"/>
                  <a:ext cx="1463673" cy="1463672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noFill/>
                  <a:rou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Icon6"/>
                <p:cNvSpPr/>
                <p:nvPr/>
              </p:nvSpPr>
              <p:spPr bwMode="auto">
                <a:xfrm>
                  <a:off x="6507327" y="4747226"/>
                  <a:ext cx="539424" cy="559948"/>
                </a:xfrm>
                <a:custGeom>
                  <a:avLst/>
                  <a:gdLst>
                    <a:gd name="connsiteX0" fmla="*/ 456840 w 584211"/>
                    <a:gd name="connsiteY0" fmla="*/ 401235 h 606439"/>
                    <a:gd name="connsiteX1" fmla="*/ 478574 w 584211"/>
                    <a:gd name="connsiteY1" fmla="*/ 401235 h 606439"/>
                    <a:gd name="connsiteX2" fmla="*/ 478574 w 584211"/>
                    <a:gd name="connsiteY2" fmla="*/ 413443 h 606439"/>
                    <a:gd name="connsiteX3" fmla="*/ 456840 w 584211"/>
                    <a:gd name="connsiteY3" fmla="*/ 413443 h 606439"/>
                    <a:gd name="connsiteX4" fmla="*/ 430943 w 584211"/>
                    <a:gd name="connsiteY4" fmla="*/ 401235 h 606439"/>
                    <a:gd name="connsiteX5" fmla="*/ 452677 w 584211"/>
                    <a:gd name="connsiteY5" fmla="*/ 401235 h 606439"/>
                    <a:gd name="connsiteX6" fmla="*/ 452677 w 584211"/>
                    <a:gd name="connsiteY6" fmla="*/ 413443 h 606439"/>
                    <a:gd name="connsiteX7" fmla="*/ 430943 w 584211"/>
                    <a:gd name="connsiteY7" fmla="*/ 413443 h 606439"/>
                    <a:gd name="connsiteX8" fmla="*/ 405539 w 584211"/>
                    <a:gd name="connsiteY8" fmla="*/ 401235 h 606439"/>
                    <a:gd name="connsiteX9" fmla="*/ 427273 w 584211"/>
                    <a:gd name="connsiteY9" fmla="*/ 401235 h 606439"/>
                    <a:gd name="connsiteX10" fmla="*/ 427273 w 584211"/>
                    <a:gd name="connsiteY10" fmla="*/ 413443 h 606439"/>
                    <a:gd name="connsiteX11" fmla="*/ 405539 w 584211"/>
                    <a:gd name="connsiteY11" fmla="*/ 413443 h 606439"/>
                    <a:gd name="connsiteX12" fmla="*/ 379642 w 584211"/>
                    <a:gd name="connsiteY12" fmla="*/ 401235 h 606439"/>
                    <a:gd name="connsiteX13" fmla="*/ 401447 w 584211"/>
                    <a:gd name="connsiteY13" fmla="*/ 401235 h 606439"/>
                    <a:gd name="connsiteX14" fmla="*/ 401447 w 584211"/>
                    <a:gd name="connsiteY14" fmla="*/ 413443 h 606439"/>
                    <a:gd name="connsiteX15" fmla="*/ 379642 w 584211"/>
                    <a:gd name="connsiteY15" fmla="*/ 413443 h 606439"/>
                    <a:gd name="connsiteX16" fmla="*/ 502779 w 584211"/>
                    <a:gd name="connsiteY16" fmla="*/ 358754 h 606439"/>
                    <a:gd name="connsiteX17" fmla="*/ 530158 w 584211"/>
                    <a:gd name="connsiteY17" fmla="*/ 358754 h 606439"/>
                    <a:gd name="connsiteX18" fmla="*/ 530158 w 584211"/>
                    <a:gd name="connsiteY18" fmla="*/ 370891 h 606439"/>
                    <a:gd name="connsiteX19" fmla="*/ 502779 w 584211"/>
                    <a:gd name="connsiteY19" fmla="*/ 370891 h 606439"/>
                    <a:gd name="connsiteX20" fmla="*/ 470389 w 584211"/>
                    <a:gd name="connsiteY20" fmla="*/ 358754 h 606439"/>
                    <a:gd name="connsiteX21" fmla="*/ 497627 w 584211"/>
                    <a:gd name="connsiteY21" fmla="*/ 358754 h 606439"/>
                    <a:gd name="connsiteX22" fmla="*/ 497627 w 584211"/>
                    <a:gd name="connsiteY22" fmla="*/ 370891 h 606439"/>
                    <a:gd name="connsiteX23" fmla="*/ 470389 w 584211"/>
                    <a:gd name="connsiteY23" fmla="*/ 370891 h 606439"/>
                    <a:gd name="connsiteX24" fmla="*/ 438423 w 584211"/>
                    <a:gd name="connsiteY24" fmla="*/ 358754 h 606439"/>
                    <a:gd name="connsiteX25" fmla="*/ 465661 w 584211"/>
                    <a:gd name="connsiteY25" fmla="*/ 358754 h 606439"/>
                    <a:gd name="connsiteX26" fmla="*/ 465661 w 584211"/>
                    <a:gd name="connsiteY26" fmla="*/ 370891 h 606439"/>
                    <a:gd name="connsiteX27" fmla="*/ 438423 w 584211"/>
                    <a:gd name="connsiteY27" fmla="*/ 370891 h 606439"/>
                    <a:gd name="connsiteX28" fmla="*/ 405892 w 584211"/>
                    <a:gd name="connsiteY28" fmla="*/ 358754 h 606439"/>
                    <a:gd name="connsiteX29" fmla="*/ 433271 w 584211"/>
                    <a:gd name="connsiteY29" fmla="*/ 358754 h 606439"/>
                    <a:gd name="connsiteX30" fmla="*/ 433271 w 584211"/>
                    <a:gd name="connsiteY30" fmla="*/ 370891 h 606439"/>
                    <a:gd name="connsiteX31" fmla="*/ 405892 w 584211"/>
                    <a:gd name="connsiteY31" fmla="*/ 370891 h 606439"/>
                    <a:gd name="connsiteX32" fmla="*/ 373503 w 584211"/>
                    <a:gd name="connsiteY32" fmla="*/ 358754 h 606439"/>
                    <a:gd name="connsiteX33" fmla="*/ 400882 w 584211"/>
                    <a:gd name="connsiteY33" fmla="*/ 358754 h 606439"/>
                    <a:gd name="connsiteX34" fmla="*/ 400882 w 584211"/>
                    <a:gd name="connsiteY34" fmla="*/ 370891 h 606439"/>
                    <a:gd name="connsiteX35" fmla="*/ 373503 w 584211"/>
                    <a:gd name="connsiteY35" fmla="*/ 370891 h 606439"/>
                    <a:gd name="connsiteX36" fmla="*/ 527476 w 584211"/>
                    <a:gd name="connsiteY36" fmla="*/ 321143 h 606439"/>
                    <a:gd name="connsiteX37" fmla="*/ 546670 w 584211"/>
                    <a:gd name="connsiteY37" fmla="*/ 321143 h 606439"/>
                    <a:gd name="connsiteX38" fmla="*/ 546670 w 584211"/>
                    <a:gd name="connsiteY38" fmla="*/ 333351 h 606439"/>
                    <a:gd name="connsiteX39" fmla="*/ 527476 w 584211"/>
                    <a:gd name="connsiteY39" fmla="*/ 333351 h 606439"/>
                    <a:gd name="connsiteX40" fmla="*/ 504613 w 584211"/>
                    <a:gd name="connsiteY40" fmla="*/ 321143 h 606439"/>
                    <a:gd name="connsiteX41" fmla="*/ 523948 w 584211"/>
                    <a:gd name="connsiteY41" fmla="*/ 321143 h 606439"/>
                    <a:gd name="connsiteX42" fmla="*/ 523948 w 584211"/>
                    <a:gd name="connsiteY42" fmla="*/ 333351 h 606439"/>
                    <a:gd name="connsiteX43" fmla="*/ 504613 w 584211"/>
                    <a:gd name="connsiteY43" fmla="*/ 333351 h 606439"/>
                    <a:gd name="connsiteX44" fmla="*/ 482244 w 584211"/>
                    <a:gd name="connsiteY44" fmla="*/ 321143 h 606439"/>
                    <a:gd name="connsiteX45" fmla="*/ 501438 w 584211"/>
                    <a:gd name="connsiteY45" fmla="*/ 321143 h 606439"/>
                    <a:gd name="connsiteX46" fmla="*/ 501438 w 584211"/>
                    <a:gd name="connsiteY46" fmla="*/ 333351 h 606439"/>
                    <a:gd name="connsiteX47" fmla="*/ 482244 w 584211"/>
                    <a:gd name="connsiteY47" fmla="*/ 333351 h 606439"/>
                    <a:gd name="connsiteX48" fmla="*/ 459381 w 584211"/>
                    <a:gd name="connsiteY48" fmla="*/ 321143 h 606439"/>
                    <a:gd name="connsiteX49" fmla="*/ 478575 w 584211"/>
                    <a:gd name="connsiteY49" fmla="*/ 321143 h 606439"/>
                    <a:gd name="connsiteX50" fmla="*/ 478575 w 584211"/>
                    <a:gd name="connsiteY50" fmla="*/ 333351 h 606439"/>
                    <a:gd name="connsiteX51" fmla="*/ 459381 w 584211"/>
                    <a:gd name="connsiteY51" fmla="*/ 333351 h 606439"/>
                    <a:gd name="connsiteX52" fmla="*/ 435600 w 584211"/>
                    <a:gd name="connsiteY52" fmla="*/ 321143 h 606439"/>
                    <a:gd name="connsiteX53" fmla="*/ 454794 w 584211"/>
                    <a:gd name="connsiteY53" fmla="*/ 321143 h 606439"/>
                    <a:gd name="connsiteX54" fmla="*/ 454794 w 584211"/>
                    <a:gd name="connsiteY54" fmla="*/ 333351 h 606439"/>
                    <a:gd name="connsiteX55" fmla="*/ 435600 w 584211"/>
                    <a:gd name="connsiteY55" fmla="*/ 333351 h 606439"/>
                    <a:gd name="connsiteX56" fmla="*/ 412808 w 584211"/>
                    <a:gd name="connsiteY56" fmla="*/ 321143 h 606439"/>
                    <a:gd name="connsiteX57" fmla="*/ 432002 w 584211"/>
                    <a:gd name="connsiteY57" fmla="*/ 321143 h 606439"/>
                    <a:gd name="connsiteX58" fmla="*/ 432002 w 584211"/>
                    <a:gd name="connsiteY58" fmla="*/ 333351 h 606439"/>
                    <a:gd name="connsiteX59" fmla="*/ 412808 w 584211"/>
                    <a:gd name="connsiteY59" fmla="*/ 333351 h 606439"/>
                    <a:gd name="connsiteX60" fmla="*/ 390368 w 584211"/>
                    <a:gd name="connsiteY60" fmla="*/ 321143 h 606439"/>
                    <a:gd name="connsiteX61" fmla="*/ 409562 w 584211"/>
                    <a:gd name="connsiteY61" fmla="*/ 321143 h 606439"/>
                    <a:gd name="connsiteX62" fmla="*/ 409562 w 584211"/>
                    <a:gd name="connsiteY62" fmla="*/ 333351 h 606439"/>
                    <a:gd name="connsiteX63" fmla="*/ 390368 w 584211"/>
                    <a:gd name="connsiteY63" fmla="*/ 333351 h 606439"/>
                    <a:gd name="connsiteX64" fmla="*/ 367505 w 584211"/>
                    <a:gd name="connsiteY64" fmla="*/ 321143 h 606439"/>
                    <a:gd name="connsiteX65" fmla="*/ 386769 w 584211"/>
                    <a:gd name="connsiteY65" fmla="*/ 321143 h 606439"/>
                    <a:gd name="connsiteX66" fmla="*/ 386769 w 584211"/>
                    <a:gd name="connsiteY66" fmla="*/ 333351 h 606439"/>
                    <a:gd name="connsiteX67" fmla="*/ 367505 w 584211"/>
                    <a:gd name="connsiteY67" fmla="*/ 333351 h 606439"/>
                    <a:gd name="connsiteX68" fmla="*/ 436800 w 584211"/>
                    <a:gd name="connsiteY68" fmla="*/ 281626 h 606439"/>
                    <a:gd name="connsiteX69" fmla="*/ 482032 w 584211"/>
                    <a:gd name="connsiteY69" fmla="*/ 281626 h 606439"/>
                    <a:gd name="connsiteX70" fmla="*/ 482032 w 584211"/>
                    <a:gd name="connsiteY70" fmla="*/ 293763 h 606439"/>
                    <a:gd name="connsiteX71" fmla="*/ 436800 w 584211"/>
                    <a:gd name="connsiteY71" fmla="*/ 293763 h 606439"/>
                    <a:gd name="connsiteX72" fmla="*/ 382958 w 584211"/>
                    <a:gd name="connsiteY72" fmla="*/ 281626 h 606439"/>
                    <a:gd name="connsiteX73" fmla="*/ 428190 w 584211"/>
                    <a:gd name="connsiteY73" fmla="*/ 281626 h 606439"/>
                    <a:gd name="connsiteX74" fmla="*/ 428190 w 584211"/>
                    <a:gd name="connsiteY74" fmla="*/ 293763 h 606439"/>
                    <a:gd name="connsiteX75" fmla="*/ 382958 w 584211"/>
                    <a:gd name="connsiteY75" fmla="*/ 293763 h 606439"/>
                    <a:gd name="connsiteX76" fmla="*/ 165056 w 584211"/>
                    <a:gd name="connsiteY76" fmla="*/ 268783 h 606439"/>
                    <a:gd name="connsiteX77" fmla="*/ 194902 w 584211"/>
                    <a:gd name="connsiteY77" fmla="*/ 310449 h 606439"/>
                    <a:gd name="connsiteX78" fmla="*/ 164900 w 584211"/>
                    <a:gd name="connsiteY78" fmla="*/ 353433 h 606439"/>
                    <a:gd name="connsiteX79" fmla="*/ 136064 w 584211"/>
                    <a:gd name="connsiteY79" fmla="*/ 311612 h 606439"/>
                    <a:gd name="connsiteX80" fmla="*/ 165056 w 584211"/>
                    <a:gd name="connsiteY80" fmla="*/ 268783 h 606439"/>
                    <a:gd name="connsiteX81" fmla="*/ 65154 w 584211"/>
                    <a:gd name="connsiteY81" fmla="*/ 251984 h 606439"/>
                    <a:gd name="connsiteX82" fmla="*/ 26590 w 584211"/>
                    <a:gd name="connsiteY82" fmla="*/ 288314 h 606439"/>
                    <a:gd name="connsiteX83" fmla="*/ 54347 w 584211"/>
                    <a:gd name="connsiteY83" fmla="*/ 321617 h 606439"/>
                    <a:gd name="connsiteX84" fmla="*/ 71841 w 584211"/>
                    <a:gd name="connsiteY84" fmla="*/ 338075 h 606439"/>
                    <a:gd name="connsiteX85" fmla="*/ 55280 w 584211"/>
                    <a:gd name="connsiteY85" fmla="*/ 350495 h 606439"/>
                    <a:gd name="connsiteX86" fmla="*/ 29856 w 584211"/>
                    <a:gd name="connsiteY86" fmla="*/ 342888 h 606439"/>
                    <a:gd name="connsiteX87" fmla="*/ 25269 w 584211"/>
                    <a:gd name="connsiteY87" fmla="*/ 364003 h 606439"/>
                    <a:gd name="connsiteX88" fmla="*/ 53880 w 584211"/>
                    <a:gd name="connsiteY88" fmla="*/ 371921 h 606439"/>
                    <a:gd name="connsiteX89" fmla="*/ 96876 w 584211"/>
                    <a:gd name="connsiteY89" fmla="*/ 336367 h 606439"/>
                    <a:gd name="connsiteX90" fmla="*/ 68886 w 584211"/>
                    <a:gd name="connsiteY90" fmla="*/ 301201 h 606439"/>
                    <a:gd name="connsiteX91" fmla="*/ 49604 w 584211"/>
                    <a:gd name="connsiteY91" fmla="*/ 285365 h 606439"/>
                    <a:gd name="connsiteX92" fmla="*/ 64688 w 584211"/>
                    <a:gd name="connsiteY92" fmla="*/ 273643 h 606439"/>
                    <a:gd name="connsiteX93" fmla="*/ 87002 w 584211"/>
                    <a:gd name="connsiteY93" fmla="*/ 278378 h 606439"/>
                    <a:gd name="connsiteX94" fmla="*/ 92444 w 584211"/>
                    <a:gd name="connsiteY94" fmla="*/ 256409 h 606439"/>
                    <a:gd name="connsiteX95" fmla="*/ 65154 w 584211"/>
                    <a:gd name="connsiteY95" fmla="*/ 251984 h 606439"/>
                    <a:gd name="connsiteX96" fmla="*/ 165762 w 584211"/>
                    <a:gd name="connsiteY96" fmla="*/ 246162 h 606439"/>
                    <a:gd name="connsiteX97" fmla="*/ 108694 w 584211"/>
                    <a:gd name="connsiteY97" fmla="*/ 312845 h 606439"/>
                    <a:gd name="connsiteX98" fmla="*/ 159464 w 584211"/>
                    <a:gd name="connsiteY98" fmla="*/ 375803 h 606439"/>
                    <a:gd name="connsiteX99" fmla="*/ 167939 w 584211"/>
                    <a:gd name="connsiteY99" fmla="*/ 377976 h 606439"/>
                    <a:gd name="connsiteX100" fmla="*/ 217932 w 584211"/>
                    <a:gd name="connsiteY100" fmla="*/ 398160 h 606439"/>
                    <a:gd name="connsiteX101" fmla="*/ 226485 w 584211"/>
                    <a:gd name="connsiteY101" fmla="*/ 375647 h 606439"/>
                    <a:gd name="connsiteX102" fmla="*/ 195152 w 584211"/>
                    <a:gd name="connsiteY102" fmla="*/ 367341 h 606439"/>
                    <a:gd name="connsiteX103" fmla="*/ 195152 w 584211"/>
                    <a:gd name="connsiteY103" fmla="*/ 366565 h 606439"/>
                    <a:gd name="connsiteX104" fmla="*/ 225940 w 584211"/>
                    <a:gd name="connsiteY104" fmla="*/ 308886 h 606439"/>
                    <a:gd name="connsiteX105" fmla="*/ 165762 w 584211"/>
                    <a:gd name="connsiteY105" fmla="*/ 246162 h 606439"/>
                    <a:gd name="connsiteX106" fmla="*/ 416406 w 584211"/>
                    <a:gd name="connsiteY106" fmla="*/ 242816 h 606439"/>
                    <a:gd name="connsiteX107" fmla="*/ 455923 w 584211"/>
                    <a:gd name="connsiteY107" fmla="*/ 242816 h 606439"/>
                    <a:gd name="connsiteX108" fmla="*/ 455923 w 584211"/>
                    <a:gd name="connsiteY108" fmla="*/ 255024 h 606439"/>
                    <a:gd name="connsiteX109" fmla="*/ 416406 w 584211"/>
                    <a:gd name="connsiteY109" fmla="*/ 255024 h 606439"/>
                    <a:gd name="connsiteX110" fmla="*/ 369480 w 584211"/>
                    <a:gd name="connsiteY110" fmla="*/ 242816 h 606439"/>
                    <a:gd name="connsiteX111" fmla="*/ 408926 w 584211"/>
                    <a:gd name="connsiteY111" fmla="*/ 242816 h 606439"/>
                    <a:gd name="connsiteX112" fmla="*/ 408926 w 584211"/>
                    <a:gd name="connsiteY112" fmla="*/ 255024 h 606439"/>
                    <a:gd name="connsiteX113" fmla="*/ 369480 w 584211"/>
                    <a:gd name="connsiteY113" fmla="*/ 255024 h 606439"/>
                    <a:gd name="connsiteX114" fmla="*/ 277488 w 584211"/>
                    <a:gd name="connsiteY114" fmla="*/ 241970 h 606439"/>
                    <a:gd name="connsiteX115" fmla="*/ 245844 w 584211"/>
                    <a:gd name="connsiteY115" fmla="*/ 243755 h 606439"/>
                    <a:gd name="connsiteX116" fmla="*/ 245844 w 584211"/>
                    <a:gd name="connsiteY116" fmla="*/ 376656 h 606439"/>
                    <a:gd name="connsiteX117" fmla="*/ 336189 w 584211"/>
                    <a:gd name="connsiteY117" fmla="*/ 379762 h 606439"/>
                    <a:gd name="connsiteX118" fmla="*/ 336189 w 584211"/>
                    <a:gd name="connsiteY118" fmla="*/ 352980 h 606439"/>
                    <a:gd name="connsiteX119" fmla="*/ 277488 w 584211"/>
                    <a:gd name="connsiteY119" fmla="*/ 351970 h 606439"/>
                    <a:gd name="connsiteX120" fmla="*/ 361303 w 584211"/>
                    <a:gd name="connsiteY120" fmla="*/ 72971 h 606439"/>
                    <a:gd name="connsiteX121" fmla="*/ 358892 w 584211"/>
                    <a:gd name="connsiteY121" fmla="*/ 73204 h 606439"/>
                    <a:gd name="connsiteX122" fmla="*/ 358892 w 584211"/>
                    <a:gd name="connsiteY122" fmla="*/ 205174 h 606439"/>
                    <a:gd name="connsiteX123" fmla="*/ 409663 w 584211"/>
                    <a:gd name="connsiteY123" fmla="*/ 205174 h 606439"/>
                    <a:gd name="connsiteX124" fmla="*/ 409663 w 584211"/>
                    <a:gd name="connsiteY124" fmla="*/ 217361 h 606439"/>
                    <a:gd name="connsiteX125" fmla="*/ 358892 w 584211"/>
                    <a:gd name="connsiteY125" fmla="*/ 217361 h 606439"/>
                    <a:gd name="connsiteX126" fmla="*/ 358892 w 584211"/>
                    <a:gd name="connsiteY126" fmla="*/ 281638 h 606439"/>
                    <a:gd name="connsiteX127" fmla="*/ 375375 w 584211"/>
                    <a:gd name="connsiteY127" fmla="*/ 281638 h 606439"/>
                    <a:gd name="connsiteX128" fmla="*/ 375375 w 584211"/>
                    <a:gd name="connsiteY128" fmla="*/ 293749 h 606439"/>
                    <a:gd name="connsiteX129" fmla="*/ 358892 w 584211"/>
                    <a:gd name="connsiteY129" fmla="*/ 293749 h 606439"/>
                    <a:gd name="connsiteX130" fmla="*/ 358892 w 584211"/>
                    <a:gd name="connsiteY130" fmla="*/ 358724 h 606439"/>
                    <a:gd name="connsiteX131" fmla="*/ 368378 w 584211"/>
                    <a:gd name="connsiteY131" fmla="*/ 358724 h 606439"/>
                    <a:gd name="connsiteX132" fmla="*/ 368378 w 584211"/>
                    <a:gd name="connsiteY132" fmla="*/ 370912 h 606439"/>
                    <a:gd name="connsiteX133" fmla="*/ 358892 w 584211"/>
                    <a:gd name="connsiteY133" fmla="*/ 370912 h 606439"/>
                    <a:gd name="connsiteX134" fmla="*/ 358892 w 584211"/>
                    <a:gd name="connsiteY134" fmla="*/ 401265 h 606439"/>
                    <a:gd name="connsiteX135" fmla="*/ 375609 w 584211"/>
                    <a:gd name="connsiteY135" fmla="*/ 401265 h 606439"/>
                    <a:gd name="connsiteX136" fmla="*/ 375609 w 584211"/>
                    <a:gd name="connsiteY136" fmla="*/ 413453 h 606439"/>
                    <a:gd name="connsiteX137" fmla="*/ 358892 w 584211"/>
                    <a:gd name="connsiteY137" fmla="*/ 413453 h 606439"/>
                    <a:gd name="connsiteX138" fmla="*/ 358892 w 584211"/>
                    <a:gd name="connsiteY138" fmla="*/ 531760 h 606439"/>
                    <a:gd name="connsiteX139" fmla="*/ 361303 w 584211"/>
                    <a:gd name="connsiteY139" fmla="*/ 531993 h 606439"/>
                    <a:gd name="connsiteX140" fmla="*/ 545259 w 584211"/>
                    <a:gd name="connsiteY140" fmla="*/ 531993 h 606439"/>
                    <a:gd name="connsiteX141" fmla="*/ 561975 w 584211"/>
                    <a:gd name="connsiteY141" fmla="*/ 515303 h 606439"/>
                    <a:gd name="connsiteX142" fmla="*/ 561975 w 584211"/>
                    <a:gd name="connsiteY142" fmla="*/ 89661 h 606439"/>
                    <a:gd name="connsiteX143" fmla="*/ 545259 w 584211"/>
                    <a:gd name="connsiteY143" fmla="*/ 72971 h 606439"/>
                    <a:gd name="connsiteX144" fmla="*/ 358892 w 584211"/>
                    <a:gd name="connsiteY144" fmla="*/ 0 h 606439"/>
                    <a:gd name="connsiteX145" fmla="*/ 358892 w 584211"/>
                    <a:gd name="connsiteY145" fmla="*/ 50847 h 606439"/>
                    <a:gd name="connsiteX146" fmla="*/ 361303 w 584211"/>
                    <a:gd name="connsiteY146" fmla="*/ 50692 h 606439"/>
                    <a:gd name="connsiteX147" fmla="*/ 545259 w 584211"/>
                    <a:gd name="connsiteY147" fmla="*/ 50692 h 606439"/>
                    <a:gd name="connsiteX148" fmla="*/ 584211 w 584211"/>
                    <a:gd name="connsiteY148" fmla="*/ 89661 h 606439"/>
                    <a:gd name="connsiteX149" fmla="*/ 584211 w 584211"/>
                    <a:gd name="connsiteY149" fmla="*/ 515303 h 606439"/>
                    <a:gd name="connsiteX150" fmla="*/ 545259 w 584211"/>
                    <a:gd name="connsiteY150" fmla="*/ 554195 h 606439"/>
                    <a:gd name="connsiteX151" fmla="*/ 361303 w 584211"/>
                    <a:gd name="connsiteY151" fmla="*/ 554195 h 606439"/>
                    <a:gd name="connsiteX152" fmla="*/ 358892 w 584211"/>
                    <a:gd name="connsiteY152" fmla="*/ 554117 h 606439"/>
                    <a:gd name="connsiteX153" fmla="*/ 358892 w 584211"/>
                    <a:gd name="connsiteY153" fmla="*/ 606439 h 606439"/>
                    <a:gd name="connsiteX154" fmla="*/ 0 w 584211"/>
                    <a:gd name="connsiteY154" fmla="*/ 557378 h 606439"/>
                    <a:gd name="connsiteX155" fmla="*/ 0 w 584211"/>
                    <a:gd name="connsiteY155" fmla="*/ 47819 h 606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</a:cxnLst>
                  <a:rect l="l" t="t" r="r" b="b"/>
                  <a:pathLst>
                    <a:path w="584211" h="606439">
                      <a:moveTo>
                        <a:pt x="456840" y="401235"/>
                      </a:moveTo>
                      <a:lnTo>
                        <a:pt x="478574" y="401235"/>
                      </a:lnTo>
                      <a:lnTo>
                        <a:pt x="478574" y="413443"/>
                      </a:lnTo>
                      <a:lnTo>
                        <a:pt x="456840" y="413443"/>
                      </a:lnTo>
                      <a:close/>
                      <a:moveTo>
                        <a:pt x="430943" y="401235"/>
                      </a:moveTo>
                      <a:lnTo>
                        <a:pt x="452677" y="401235"/>
                      </a:lnTo>
                      <a:lnTo>
                        <a:pt x="452677" y="413443"/>
                      </a:lnTo>
                      <a:lnTo>
                        <a:pt x="430943" y="413443"/>
                      </a:lnTo>
                      <a:close/>
                      <a:moveTo>
                        <a:pt x="405539" y="401235"/>
                      </a:moveTo>
                      <a:lnTo>
                        <a:pt x="427273" y="401235"/>
                      </a:lnTo>
                      <a:lnTo>
                        <a:pt x="427273" y="413443"/>
                      </a:lnTo>
                      <a:lnTo>
                        <a:pt x="405539" y="413443"/>
                      </a:lnTo>
                      <a:close/>
                      <a:moveTo>
                        <a:pt x="379642" y="401235"/>
                      </a:moveTo>
                      <a:lnTo>
                        <a:pt x="401447" y="401235"/>
                      </a:lnTo>
                      <a:lnTo>
                        <a:pt x="401447" y="413443"/>
                      </a:lnTo>
                      <a:lnTo>
                        <a:pt x="379642" y="413443"/>
                      </a:lnTo>
                      <a:close/>
                      <a:moveTo>
                        <a:pt x="502779" y="358754"/>
                      </a:moveTo>
                      <a:lnTo>
                        <a:pt x="530158" y="358754"/>
                      </a:lnTo>
                      <a:lnTo>
                        <a:pt x="530158" y="370891"/>
                      </a:lnTo>
                      <a:lnTo>
                        <a:pt x="502779" y="370891"/>
                      </a:lnTo>
                      <a:close/>
                      <a:moveTo>
                        <a:pt x="470389" y="358754"/>
                      </a:moveTo>
                      <a:lnTo>
                        <a:pt x="497627" y="358754"/>
                      </a:lnTo>
                      <a:lnTo>
                        <a:pt x="497627" y="370891"/>
                      </a:lnTo>
                      <a:lnTo>
                        <a:pt x="470389" y="370891"/>
                      </a:lnTo>
                      <a:close/>
                      <a:moveTo>
                        <a:pt x="438423" y="358754"/>
                      </a:moveTo>
                      <a:lnTo>
                        <a:pt x="465661" y="358754"/>
                      </a:lnTo>
                      <a:lnTo>
                        <a:pt x="465661" y="370891"/>
                      </a:lnTo>
                      <a:lnTo>
                        <a:pt x="438423" y="370891"/>
                      </a:lnTo>
                      <a:close/>
                      <a:moveTo>
                        <a:pt x="405892" y="358754"/>
                      </a:moveTo>
                      <a:lnTo>
                        <a:pt x="433271" y="358754"/>
                      </a:lnTo>
                      <a:lnTo>
                        <a:pt x="433271" y="370891"/>
                      </a:lnTo>
                      <a:lnTo>
                        <a:pt x="405892" y="370891"/>
                      </a:lnTo>
                      <a:close/>
                      <a:moveTo>
                        <a:pt x="373503" y="358754"/>
                      </a:moveTo>
                      <a:lnTo>
                        <a:pt x="400882" y="358754"/>
                      </a:lnTo>
                      <a:lnTo>
                        <a:pt x="400882" y="370891"/>
                      </a:lnTo>
                      <a:lnTo>
                        <a:pt x="373503" y="370891"/>
                      </a:lnTo>
                      <a:close/>
                      <a:moveTo>
                        <a:pt x="527476" y="321143"/>
                      </a:moveTo>
                      <a:lnTo>
                        <a:pt x="546670" y="321143"/>
                      </a:lnTo>
                      <a:lnTo>
                        <a:pt x="546670" y="333351"/>
                      </a:lnTo>
                      <a:lnTo>
                        <a:pt x="527476" y="333351"/>
                      </a:lnTo>
                      <a:close/>
                      <a:moveTo>
                        <a:pt x="504613" y="321143"/>
                      </a:moveTo>
                      <a:lnTo>
                        <a:pt x="523948" y="321143"/>
                      </a:lnTo>
                      <a:lnTo>
                        <a:pt x="523948" y="333351"/>
                      </a:lnTo>
                      <a:lnTo>
                        <a:pt x="504613" y="333351"/>
                      </a:lnTo>
                      <a:close/>
                      <a:moveTo>
                        <a:pt x="482244" y="321143"/>
                      </a:moveTo>
                      <a:lnTo>
                        <a:pt x="501438" y="321143"/>
                      </a:lnTo>
                      <a:lnTo>
                        <a:pt x="501438" y="333351"/>
                      </a:lnTo>
                      <a:lnTo>
                        <a:pt x="482244" y="333351"/>
                      </a:lnTo>
                      <a:close/>
                      <a:moveTo>
                        <a:pt x="459381" y="321143"/>
                      </a:moveTo>
                      <a:lnTo>
                        <a:pt x="478575" y="321143"/>
                      </a:lnTo>
                      <a:lnTo>
                        <a:pt x="478575" y="333351"/>
                      </a:lnTo>
                      <a:lnTo>
                        <a:pt x="459381" y="333351"/>
                      </a:lnTo>
                      <a:close/>
                      <a:moveTo>
                        <a:pt x="435600" y="321143"/>
                      </a:moveTo>
                      <a:lnTo>
                        <a:pt x="454794" y="321143"/>
                      </a:lnTo>
                      <a:lnTo>
                        <a:pt x="454794" y="333351"/>
                      </a:lnTo>
                      <a:lnTo>
                        <a:pt x="435600" y="333351"/>
                      </a:lnTo>
                      <a:close/>
                      <a:moveTo>
                        <a:pt x="412808" y="321143"/>
                      </a:moveTo>
                      <a:lnTo>
                        <a:pt x="432002" y="321143"/>
                      </a:lnTo>
                      <a:lnTo>
                        <a:pt x="432002" y="333351"/>
                      </a:lnTo>
                      <a:lnTo>
                        <a:pt x="412808" y="333351"/>
                      </a:lnTo>
                      <a:close/>
                      <a:moveTo>
                        <a:pt x="390368" y="321143"/>
                      </a:moveTo>
                      <a:lnTo>
                        <a:pt x="409562" y="321143"/>
                      </a:lnTo>
                      <a:lnTo>
                        <a:pt x="409562" y="333351"/>
                      </a:lnTo>
                      <a:lnTo>
                        <a:pt x="390368" y="333351"/>
                      </a:lnTo>
                      <a:close/>
                      <a:moveTo>
                        <a:pt x="367505" y="321143"/>
                      </a:moveTo>
                      <a:lnTo>
                        <a:pt x="386769" y="321143"/>
                      </a:lnTo>
                      <a:lnTo>
                        <a:pt x="386769" y="333351"/>
                      </a:lnTo>
                      <a:lnTo>
                        <a:pt x="367505" y="333351"/>
                      </a:lnTo>
                      <a:close/>
                      <a:moveTo>
                        <a:pt x="436800" y="281626"/>
                      </a:moveTo>
                      <a:lnTo>
                        <a:pt x="482032" y="281626"/>
                      </a:lnTo>
                      <a:lnTo>
                        <a:pt x="482032" y="293763"/>
                      </a:lnTo>
                      <a:lnTo>
                        <a:pt x="436800" y="293763"/>
                      </a:lnTo>
                      <a:close/>
                      <a:moveTo>
                        <a:pt x="382958" y="281626"/>
                      </a:moveTo>
                      <a:lnTo>
                        <a:pt x="428190" y="281626"/>
                      </a:lnTo>
                      <a:lnTo>
                        <a:pt x="428190" y="293763"/>
                      </a:lnTo>
                      <a:lnTo>
                        <a:pt x="382958" y="293763"/>
                      </a:lnTo>
                      <a:close/>
                      <a:moveTo>
                        <a:pt x="165056" y="268783"/>
                      </a:moveTo>
                      <a:cubicBezTo>
                        <a:pt x="184098" y="268007"/>
                        <a:pt x="194902" y="287016"/>
                        <a:pt x="194902" y="310449"/>
                      </a:cubicBezTo>
                      <a:cubicBezTo>
                        <a:pt x="194902" y="335510"/>
                        <a:pt x="183710" y="353744"/>
                        <a:pt x="164900" y="353433"/>
                      </a:cubicBezTo>
                      <a:cubicBezTo>
                        <a:pt x="146713" y="353045"/>
                        <a:pt x="135909" y="334967"/>
                        <a:pt x="136064" y="311612"/>
                      </a:cubicBezTo>
                      <a:cubicBezTo>
                        <a:pt x="136064" y="288646"/>
                        <a:pt x="146557" y="269559"/>
                        <a:pt x="165056" y="268783"/>
                      </a:cubicBezTo>
                      <a:close/>
                      <a:moveTo>
                        <a:pt x="65154" y="251984"/>
                      </a:moveTo>
                      <a:cubicBezTo>
                        <a:pt x="40819" y="253381"/>
                        <a:pt x="26590" y="268985"/>
                        <a:pt x="26590" y="288314"/>
                      </a:cubicBezTo>
                      <a:cubicBezTo>
                        <a:pt x="26590" y="304772"/>
                        <a:pt x="37398" y="315097"/>
                        <a:pt x="54347" y="321617"/>
                      </a:cubicBezTo>
                      <a:cubicBezTo>
                        <a:pt x="66865" y="326586"/>
                        <a:pt x="71841" y="330778"/>
                        <a:pt x="71841" y="338075"/>
                      </a:cubicBezTo>
                      <a:cubicBezTo>
                        <a:pt x="71841" y="345760"/>
                        <a:pt x="66087" y="350651"/>
                        <a:pt x="55280" y="350495"/>
                      </a:cubicBezTo>
                      <a:cubicBezTo>
                        <a:pt x="45328" y="350263"/>
                        <a:pt x="35920" y="346536"/>
                        <a:pt x="29856" y="342888"/>
                      </a:cubicBezTo>
                      <a:lnTo>
                        <a:pt x="25269" y="364003"/>
                      </a:lnTo>
                      <a:cubicBezTo>
                        <a:pt x="30867" y="367729"/>
                        <a:pt x="42218" y="371455"/>
                        <a:pt x="53880" y="371921"/>
                      </a:cubicBezTo>
                      <a:cubicBezTo>
                        <a:pt x="82803" y="372930"/>
                        <a:pt x="96876" y="356395"/>
                        <a:pt x="96876" y="336367"/>
                      </a:cubicBezTo>
                      <a:cubicBezTo>
                        <a:pt x="96876" y="319521"/>
                        <a:pt x="87779" y="308653"/>
                        <a:pt x="68886" y="301201"/>
                      </a:cubicBezTo>
                      <a:cubicBezTo>
                        <a:pt x="55435" y="295844"/>
                        <a:pt x="49604" y="292739"/>
                        <a:pt x="49604" y="285365"/>
                      </a:cubicBezTo>
                      <a:cubicBezTo>
                        <a:pt x="49604" y="279387"/>
                        <a:pt x="54502" y="274031"/>
                        <a:pt x="64688" y="273643"/>
                      </a:cubicBezTo>
                      <a:cubicBezTo>
                        <a:pt x="75028" y="273177"/>
                        <a:pt x="82648" y="276204"/>
                        <a:pt x="87002" y="278378"/>
                      </a:cubicBezTo>
                      <a:lnTo>
                        <a:pt x="92444" y="256409"/>
                      </a:lnTo>
                      <a:cubicBezTo>
                        <a:pt x="85991" y="253614"/>
                        <a:pt x="77050" y="251285"/>
                        <a:pt x="65154" y="251984"/>
                      </a:cubicBezTo>
                      <a:close/>
                      <a:moveTo>
                        <a:pt x="165762" y="246162"/>
                      </a:moveTo>
                      <a:cubicBezTo>
                        <a:pt x="130386" y="248180"/>
                        <a:pt x="108694" y="276670"/>
                        <a:pt x="108694" y="312845"/>
                      </a:cubicBezTo>
                      <a:cubicBezTo>
                        <a:pt x="108694" y="352203"/>
                        <a:pt x="132796" y="373008"/>
                        <a:pt x="159464" y="375803"/>
                      </a:cubicBezTo>
                      <a:cubicBezTo>
                        <a:pt x="162341" y="376113"/>
                        <a:pt x="165218" y="376734"/>
                        <a:pt x="167939" y="377976"/>
                      </a:cubicBezTo>
                      <a:cubicBezTo>
                        <a:pt x="184500" y="385739"/>
                        <a:pt x="199506" y="391949"/>
                        <a:pt x="217932" y="398160"/>
                      </a:cubicBezTo>
                      <a:lnTo>
                        <a:pt x="226485" y="375647"/>
                      </a:lnTo>
                      <a:cubicBezTo>
                        <a:pt x="216144" y="373163"/>
                        <a:pt x="205026" y="370524"/>
                        <a:pt x="195152" y="367341"/>
                      </a:cubicBezTo>
                      <a:lnTo>
                        <a:pt x="195152" y="366565"/>
                      </a:lnTo>
                      <a:cubicBezTo>
                        <a:pt x="212101" y="359345"/>
                        <a:pt x="225940" y="338618"/>
                        <a:pt x="225940" y="308886"/>
                      </a:cubicBezTo>
                      <a:cubicBezTo>
                        <a:pt x="225940" y="273099"/>
                        <a:pt x="204015" y="243988"/>
                        <a:pt x="165762" y="246162"/>
                      </a:cubicBezTo>
                      <a:close/>
                      <a:moveTo>
                        <a:pt x="416406" y="242816"/>
                      </a:moveTo>
                      <a:lnTo>
                        <a:pt x="455923" y="242816"/>
                      </a:lnTo>
                      <a:lnTo>
                        <a:pt x="455923" y="255024"/>
                      </a:lnTo>
                      <a:lnTo>
                        <a:pt x="416406" y="255024"/>
                      </a:lnTo>
                      <a:close/>
                      <a:moveTo>
                        <a:pt x="369480" y="242816"/>
                      </a:moveTo>
                      <a:lnTo>
                        <a:pt x="408926" y="242816"/>
                      </a:lnTo>
                      <a:lnTo>
                        <a:pt x="408926" y="255024"/>
                      </a:lnTo>
                      <a:lnTo>
                        <a:pt x="369480" y="255024"/>
                      </a:lnTo>
                      <a:close/>
                      <a:moveTo>
                        <a:pt x="277488" y="241970"/>
                      </a:moveTo>
                      <a:lnTo>
                        <a:pt x="245844" y="243755"/>
                      </a:lnTo>
                      <a:lnTo>
                        <a:pt x="245844" y="376656"/>
                      </a:lnTo>
                      <a:lnTo>
                        <a:pt x="336189" y="379762"/>
                      </a:lnTo>
                      <a:lnTo>
                        <a:pt x="336189" y="352980"/>
                      </a:lnTo>
                      <a:lnTo>
                        <a:pt x="277488" y="351970"/>
                      </a:lnTo>
                      <a:close/>
                      <a:moveTo>
                        <a:pt x="361303" y="72971"/>
                      </a:moveTo>
                      <a:cubicBezTo>
                        <a:pt x="360525" y="72971"/>
                        <a:pt x="359670" y="73049"/>
                        <a:pt x="358892" y="73204"/>
                      </a:cubicBezTo>
                      <a:lnTo>
                        <a:pt x="358892" y="205174"/>
                      </a:lnTo>
                      <a:lnTo>
                        <a:pt x="409663" y="205174"/>
                      </a:lnTo>
                      <a:lnTo>
                        <a:pt x="409663" y="217361"/>
                      </a:lnTo>
                      <a:lnTo>
                        <a:pt x="358892" y="217361"/>
                      </a:lnTo>
                      <a:lnTo>
                        <a:pt x="358892" y="281638"/>
                      </a:lnTo>
                      <a:lnTo>
                        <a:pt x="375375" y="281638"/>
                      </a:lnTo>
                      <a:lnTo>
                        <a:pt x="375375" y="293749"/>
                      </a:lnTo>
                      <a:lnTo>
                        <a:pt x="358892" y="293749"/>
                      </a:lnTo>
                      <a:lnTo>
                        <a:pt x="358892" y="358724"/>
                      </a:lnTo>
                      <a:lnTo>
                        <a:pt x="368378" y="358724"/>
                      </a:lnTo>
                      <a:lnTo>
                        <a:pt x="368378" y="370912"/>
                      </a:lnTo>
                      <a:lnTo>
                        <a:pt x="358892" y="370912"/>
                      </a:lnTo>
                      <a:lnTo>
                        <a:pt x="358892" y="401265"/>
                      </a:lnTo>
                      <a:lnTo>
                        <a:pt x="375609" y="401265"/>
                      </a:lnTo>
                      <a:lnTo>
                        <a:pt x="375609" y="413453"/>
                      </a:lnTo>
                      <a:lnTo>
                        <a:pt x="358892" y="413453"/>
                      </a:lnTo>
                      <a:lnTo>
                        <a:pt x="358892" y="531760"/>
                      </a:lnTo>
                      <a:cubicBezTo>
                        <a:pt x="359748" y="531838"/>
                        <a:pt x="360525" y="531993"/>
                        <a:pt x="361303" y="531993"/>
                      </a:cubicBezTo>
                      <a:lnTo>
                        <a:pt x="545259" y="531993"/>
                      </a:lnTo>
                      <a:cubicBezTo>
                        <a:pt x="554433" y="531993"/>
                        <a:pt x="561975" y="524463"/>
                        <a:pt x="561975" y="515303"/>
                      </a:cubicBezTo>
                      <a:lnTo>
                        <a:pt x="561975" y="89661"/>
                      </a:lnTo>
                      <a:cubicBezTo>
                        <a:pt x="561975" y="80424"/>
                        <a:pt x="554433" y="72971"/>
                        <a:pt x="545259" y="72971"/>
                      </a:cubicBezTo>
                      <a:close/>
                      <a:moveTo>
                        <a:pt x="358892" y="0"/>
                      </a:moveTo>
                      <a:lnTo>
                        <a:pt x="358892" y="50847"/>
                      </a:lnTo>
                      <a:cubicBezTo>
                        <a:pt x="359748" y="50769"/>
                        <a:pt x="360525" y="50692"/>
                        <a:pt x="361303" y="50692"/>
                      </a:cubicBezTo>
                      <a:lnTo>
                        <a:pt x="545259" y="50692"/>
                      </a:lnTo>
                      <a:cubicBezTo>
                        <a:pt x="566717" y="50692"/>
                        <a:pt x="584211" y="68158"/>
                        <a:pt x="584211" y="89661"/>
                      </a:cubicBezTo>
                      <a:lnTo>
                        <a:pt x="584211" y="515303"/>
                      </a:lnTo>
                      <a:cubicBezTo>
                        <a:pt x="584211" y="536728"/>
                        <a:pt x="566717" y="554195"/>
                        <a:pt x="545259" y="554195"/>
                      </a:cubicBezTo>
                      <a:lnTo>
                        <a:pt x="361303" y="554195"/>
                      </a:lnTo>
                      <a:cubicBezTo>
                        <a:pt x="360525" y="554195"/>
                        <a:pt x="359748" y="554195"/>
                        <a:pt x="358892" y="554117"/>
                      </a:cubicBezTo>
                      <a:lnTo>
                        <a:pt x="358892" y="606439"/>
                      </a:lnTo>
                      <a:lnTo>
                        <a:pt x="0" y="557378"/>
                      </a:lnTo>
                      <a:lnTo>
                        <a:pt x="0" y="478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</a:ln>
              </p:spPr>
              <p:txBody>
                <a:bodyPr wrap="squar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100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55" name="组合 54"/>
              <p:cNvGrpSpPr/>
              <p:nvPr/>
            </p:nvGrpSpPr>
            <p:grpSpPr>
              <a:xfrm>
                <a:off x="1495948" y="8681647"/>
                <a:ext cx="4407299" cy="1265038"/>
                <a:chOff x="7793408" y="2617347"/>
                <a:chExt cx="4407299" cy="1265038"/>
              </a:xfrm>
            </p:grpSpPr>
            <p:sp>
              <p:nvSpPr>
                <p:cNvPr id="56" name="Text6"/>
                <p:cNvSpPr txBox="1"/>
                <p:nvPr/>
              </p:nvSpPr>
              <p:spPr>
                <a:xfrm>
                  <a:off x="7793408" y="3084327"/>
                  <a:ext cx="4407299" cy="7980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050" dirty="0">
                      <a:cs typeface="+mn-ea"/>
                      <a:sym typeface="+mn-lt"/>
                    </a:rPr>
                    <a:t>关键操作（如设备控制）增加Token校验机制，确保请求来自合法来源页面。</a:t>
                  </a:r>
                  <a:endParaRPr lang="en-US" dirty="0"/>
                </a:p>
              </p:txBody>
            </p:sp>
            <p:sp>
              <p:nvSpPr>
                <p:cNvPr id="57" name="Bullet6"/>
                <p:cNvSpPr/>
                <p:nvPr/>
              </p:nvSpPr>
              <p:spPr>
                <a:xfrm>
                  <a:off x="7793408" y="2617347"/>
                  <a:ext cx="4407299" cy="46698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>
                    <a:lnSpc>
                      <a:spcPct val="130000"/>
                    </a:lnSpc>
                  </a:pPr>
                  <a:r>
                    <a:rPr lang="zh-CN" altLang="en-US" sz="1400" b="1" dirty="0">
                      <a:cs typeface="+mn-ea"/>
                      <a:sym typeface="+mn-lt"/>
                    </a:rPr>
                    <a:t>CSRF攻击防范</a:t>
                  </a:r>
                  <a:endParaRPr lang="en-US" dirty="0"/>
                </a:p>
              </p:txBody>
            </p:sp>
          </p:grpSp>
        </p:grpSp>
        <p:grpSp>
          <p:nvGrpSpPr>
            <p:cNvPr id="60" name="组合 59"/>
            <p:cNvGrpSpPr/>
            <p:nvPr/>
          </p:nvGrpSpPr>
          <p:grpSpPr>
            <a:xfrm>
              <a:off x="660401" y="3976066"/>
              <a:ext cx="3990733" cy="962917"/>
              <a:chOff x="660400" y="4652173"/>
              <a:chExt cx="5242847" cy="1265038"/>
            </a:xfrm>
          </p:grpSpPr>
          <p:grpSp>
            <p:nvGrpSpPr>
              <p:cNvPr id="61" name="组合 60"/>
              <p:cNvGrpSpPr/>
              <p:nvPr/>
            </p:nvGrpSpPr>
            <p:grpSpPr>
              <a:xfrm>
                <a:off x="1495948" y="4652173"/>
                <a:ext cx="4407299" cy="1265038"/>
                <a:chOff x="7793408" y="2617347"/>
                <a:chExt cx="4407299" cy="1265038"/>
              </a:xfrm>
            </p:grpSpPr>
            <p:sp>
              <p:nvSpPr>
                <p:cNvPr id="65" name="Text7"/>
                <p:cNvSpPr txBox="1"/>
                <p:nvPr/>
              </p:nvSpPr>
              <p:spPr>
                <a:xfrm>
                  <a:off x="7793408" y="3084327"/>
                  <a:ext cx="4407299" cy="7980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050" dirty="0">
                      <a:cs typeface="+mn-ea"/>
                      <a:sym typeface="+mn-lt"/>
                    </a:rPr>
                    <a:t>记录所有登录行为、控制操作、配置修改的时间、IP地址与操作者，支持事后追责。</a:t>
                  </a:r>
                  <a:endParaRPr lang="en-US" dirty="0"/>
                </a:p>
              </p:txBody>
            </p:sp>
            <p:sp>
              <p:nvSpPr>
                <p:cNvPr id="66" name="Bullet7"/>
                <p:cNvSpPr/>
                <p:nvPr/>
              </p:nvSpPr>
              <p:spPr>
                <a:xfrm>
                  <a:off x="7793408" y="2617347"/>
                  <a:ext cx="4407299" cy="46698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>
                    <a:lnSpc>
                      <a:spcPct val="130000"/>
                    </a:lnSpc>
                  </a:pPr>
                  <a:r>
                    <a:rPr lang="zh-CN" altLang="en-US" sz="1400" b="1" dirty="0">
                      <a:cs typeface="+mn-ea"/>
                      <a:sym typeface="+mn-lt"/>
                    </a:rPr>
                    <a:t>访问日志审计追踪</a:t>
                  </a:r>
                  <a:endParaRPr lang="en-US" dirty="0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660400" y="4832846"/>
                <a:ext cx="660321" cy="660320"/>
                <a:chOff x="6045202" y="2900364"/>
                <a:chExt cx="1463673" cy="1463672"/>
              </a:xfrm>
            </p:grpSpPr>
            <p:sp>
              <p:nvSpPr>
                <p:cNvPr id="63" name="椭圆 62"/>
                <p:cNvSpPr/>
                <p:nvPr/>
              </p:nvSpPr>
              <p:spPr bwMode="auto">
                <a:xfrm>
                  <a:off x="6045202" y="2900364"/>
                  <a:ext cx="1463673" cy="1463672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noFill/>
                  <a:rou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Icon7"/>
                <p:cNvSpPr/>
                <p:nvPr/>
              </p:nvSpPr>
              <p:spPr bwMode="auto">
                <a:xfrm>
                  <a:off x="6535284" y="3352225"/>
                  <a:ext cx="483509" cy="559948"/>
                </a:xfrm>
                <a:custGeom>
                  <a:avLst/>
                  <a:gdLst>
                    <a:gd name="T0" fmla="*/ 1936 w 10528"/>
                    <a:gd name="T1" fmla="*/ 0 h 12192"/>
                    <a:gd name="T2" fmla="*/ 0 w 10528"/>
                    <a:gd name="T3" fmla="*/ 9984 h 12192"/>
                    <a:gd name="T4" fmla="*/ 1808 w 10528"/>
                    <a:gd name="T5" fmla="*/ 11904 h 12192"/>
                    <a:gd name="T6" fmla="*/ 4912 w 10528"/>
                    <a:gd name="T7" fmla="*/ 11472 h 12192"/>
                    <a:gd name="T8" fmla="*/ 1936 w 10528"/>
                    <a:gd name="T9" fmla="*/ 11040 h 12192"/>
                    <a:gd name="T10" fmla="*/ 880 w 10528"/>
                    <a:gd name="T11" fmla="*/ 1936 h 12192"/>
                    <a:gd name="T12" fmla="*/ 7872 w 10528"/>
                    <a:gd name="T13" fmla="*/ 880 h 12192"/>
                    <a:gd name="T14" fmla="*/ 8928 w 10528"/>
                    <a:gd name="T15" fmla="*/ 5472 h 12192"/>
                    <a:gd name="T16" fmla="*/ 9792 w 10528"/>
                    <a:gd name="T17" fmla="*/ 5472 h 12192"/>
                    <a:gd name="T18" fmla="*/ 7872 w 10528"/>
                    <a:gd name="T19" fmla="*/ 0 h 12192"/>
                    <a:gd name="T20" fmla="*/ 2400 w 10528"/>
                    <a:gd name="T21" fmla="*/ 2816 h 12192"/>
                    <a:gd name="T22" fmla="*/ 2400 w 10528"/>
                    <a:gd name="T23" fmla="*/ 3680 h 12192"/>
                    <a:gd name="T24" fmla="*/ 7776 w 10528"/>
                    <a:gd name="T25" fmla="*/ 3248 h 12192"/>
                    <a:gd name="T26" fmla="*/ 5472 w 10528"/>
                    <a:gd name="T27" fmla="*/ 5488 h 12192"/>
                    <a:gd name="T28" fmla="*/ 1968 w 10528"/>
                    <a:gd name="T29" fmla="*/ 5920 h 12192"/>
                    <a:gd name="T30" fmla="*/ 5456 w 10528"/>
                    <a:gd name="T31" fmla="*/ 6352 h 12192"/>
                    <a:gd name="T32" fmla="*/ 5888 w 10528"/>
                    <a:gd name="T33" fmla="*/ 5904 h 12192"/>
                    <a:gd name="T34" fmla="*/ 3712 w 10528"/>
                    <a:gd name="T35" fmla="*/ 8160 h 12192"/>
                    <a:gd name="T36" fmla="*/ 2032 w 10528"/>
                    <a:gd name="T37" fmla="*/ 8384 h 12192"/>
                    <a:gd name="T38" fmla="*/ 2416 w 10528"/>
                    <a:gd name="T39" fmla="*/ 9040 h 12192"/>
                    <a:gd name="T40" fmla="*/ 4096 w 10528"/>
                    <a:gd name="T41" fmla="*/ 8816 h 12192"/>
                    <a:gd name="T42" fmla="*/ 3712 w 10528"/>
                    <a:gd name="T43" fmla="*/ 8160 h 12192"/>
                    <a:gd name="T44" fmla="*/ 6576 w 10528"/>
                    <a:gd name="T45" fmla="*/ 12192 h 12192"/>
                    <a:gd name="T46" fmla="*/ 5872 w 10528"/>
                    <a:gd name="T47" fmla="*/ 9184 h 12192"/>
                    <a:gd name="T48" fmla="*/ 6768 w 10528"/>
                    <a:gd name="T49" fmla="*/ 8432 h 12192"/>
                    <a:gd name="T50" fmla="*/ 6736 w 10528"/>
                    <a:gd name="T51" fmla="*/ 7840 h 12192"/>
                    <a:gd name="T52" fmla="*/ 9648 w 10528"/>
                    <a:gd name="T53" fmla="*/ 7840 h 12192"/>
                    <a:gd name="T54" fmla="*/ 9616 w 10528"/>
                    <a:gd name="T55" fmla="*/ 8384 h 12192"/>
                    <a:gd name="T56" fmla="*/ 10512 w 10528"/>
                    <a:gd name="T57" fmla="*/ 9136 h 12192"/>
                    <a:gd name="T58" fmla="*/ 9824 w 10528"/>
                    <a:gd name="T59" fmla="*/ 12192 h 12192"/>
                    <a:gd name="T60" fmla="*/ 7920 w 10528"/>
                    <a:gd name="T61" fmla="*/ 11040 h 12192"/>
                    <a:gd name="T62" fmla="*/ 8464 w 10528"/>
                    <a:gd name="T63" fmla="*/ 11040 h 12192"/>
                    <a:gd name="T64" fmla="*/ 8736 w 10528"/>
                    <a:gd name="T65" fmla="*/ 9856 h 12192"/>
                    <a:gd name="T66" fmla="*/ 7584 w 10528"/>
                    <a:gd name="T67" fmla="*/ 9888 h 12192"/>
                    <a:gd name="T68" fmla="*/ 9072 w 10528"/>
                    <a:gd name="T69" fmla="*/ 7840 h 12192"/>
                    <a:gd name="T70" fmla="*/ 7344 w 10528"/>
                    <a:gd name="T71" fmla="*/ 7840 h 12192"/>
                    <a:gd name="T72" fmla="*/ 9088 w 10528"/>
                    <a:gd name="T73" fmla="*/ 8432 h 12192"/>
                    <a:gd name="T74" fmla="*/ 9072 w 10528"/>
                    <a:gd name="T75" fmla="*/ 7840 h 12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0528" h="12192">
                      <a:moveTo>
                        <a:pt x="7872" y="0"/>
                      </a:moveTo>
                      <a:lnTo>
                        <a:pt x="1936" y="0"/>
                      </a:lnTo>
                      <a:cubicBezTo>
                        <a:pt x="864" y="0"/>
                        <a:pt x="0" y="864"/>
                        <a:pt x="0" y="1936"/>
                      </a:cubicBezTo>
                      <a:lnTo>
                        <a:pt x="0" y="9984"/>
                      </a:lnTo>
                      <a:cubicBezTo>
                        <a:pt x="0" y="10496"/>
                        <a:pt x="208" y="10976"/>
                        <a:pt x="576" y="11344"/>
                      </a:cubicBezTo>
                      <a:cubicBezTo>
                        <a:pt x="912" y="11680"/>
                        <a:pt x="1344" y="11872"/>
                        <a:pt x="1808" y="11904"/>
                      </a:cubicBezTo>
                      <a:lnTo>
                        <a:pt x="4480" y="11904"/>
                      </a:lnTo>
                      <a:cubicBezTo>
                        <a:pt x="4720" y="11904"/>
                        <a:pt x="4912" y="11712"/>
                        <a:pt x="4912" y="11472"/>
                      </a:cubicBezTo>
                      <a:cubicBezTo>
                        <a:pt x="4912" y="11232"/>
                        <a:pt x="4720" y="11040"/>
                        <a:pt x="4480" y="11040"/>
                      </a:cubicBezTo>
                      <a:lnTo>
                        <a:pt x="1936" y="11040"/>
                      </a:lnTo>
                      <a:cubicBezTo>
                        <a:pt x="1360" y="11040"/>
                        <a:pt x="880" y="10560"/>
                        <a:pt x="880" y="9984"/>
                      </a:cubicBezTo>
                      <a:lnTo>
                        <a:pt x="880" y="1936"/>
                      </a:lnTo>
                      <a:cubicBezTo>
                        <a:pt x="880" y="1360"/>
                        <a:pt x="1360" y="880"/>
                        <a:pt x="1936" y="880"/>
                      </a:cubicBezTo>
                      <a:lnTo>
                        <a:pt x="7872" y="880"/>
                      </a:lnTo>
                      <a:cubicBezTo>
                        <a:pt x="8448" y="880"/>
                        <a:pt x="8928" y="1360"/>
                        <a:pt x="8928" y="1936"/>
                      </a:cubicBezTo>
                      <a:lnTo>
                        <a:pt x="8928" y="5472"/>
                      </a:lnTo>
                      <a:cubicBezTo>
                        <a:pt x="8928" y="5712"/>
                        <a:pt x="9120" y="5904"/>
                        <a:pt x="9360" y="5904"/>
                      </a:cubicBezTo>
                      <a:cubicBezTo>
                        <a:pt x="9600" y="5904"/>
                        <a:pt x="9792" y="5712"/>
                        <a:pt x="9792" y="5472"/>
                      </a:cubicBezTo>
                      <a:lnTo>
                        <a:pt x="9792" y="1936"/>
                      </a:lnTo>
                      <a:cubicBezTo>
                        <a:pt x="9792" y="864"/>
                        <a:pt x="8928" y="0"/>
                        <a:pt x="7872" y="0"/>
                      </a:cubicBezTo>
                      <a:close/>
                      <a:moveTo>
                        <a:pt x="7344" y="2816"/>
                      </a:moveTo>
                      <a:lnTo>
                        <a:pt x="2400" y="2816"/>
                      </a:lnTo>
                      <a:cubicBezTo>
                        <a:pt x="2160" y="2816"/>
                        <a:pt x="1968" y="3008"/>
                        <a:pt x="1968" y="3248"/>
                      </a:cubicBezTo>
                      <a:cubicBezTo>
                        <a:pt x="1968" y="3488"/>
                        <a:pt x="2160" y="3680"/>
                        <a:pt x="2400" y="3680"/>
                      </a:cubicBezTo>
                      <a:lnTo>
                        <a:pt x="7344" y="3680"/>
                      </a:lnTo>
                      <a:cubicBezTo>
                        <a:pt x="7584" y="3680"/>
                        <a:pt x="7776" y="3488"/>
                        <a:pt x="7776" y="3248"/>
                      </a:cubicBezTo>
                      <a:cubicBezTo>
                        <a:pt x="7792" y="3008"/>
                        <a:pt x="7600" y="2816"/>
                        <a:pt x="7344" y="2816"/>
                      </a:cubicBezTo>
                      <a:close/>
                      <a:moveTo>
                        <a:pt x="5472" y="5488"/>
                      </a:moveTo>
                      <a:lnTo>
                        <a:pt x="2400" y="5488"/>
                      </a:lnTo>
                      <a:cubicBezTo>
                        <a:pt x="2160" y="5488"/>
                        <a:pt x="1968" y="5680"/>
                        <a:pt x="1968" y="5920"/>
                      </a:cubicBezTo>
                      <a:cubicBezTo>
                        <a:pt x="1968" y="6160"/>
                        <a:pt x="2160" y="6352"/>
                        <a:pt x="2400" y="6352"/>
                      </a:cubicBezTo>
                      <a:lnTo>
                        <a:pt x="5456" y="6352"/>
                      </a:lnTo>
                      <a:cubicBezTo>
                        <a:pt x="5568" y="6352"/>
                        <a:pt x="5680" y="6304"/>
                        <a:pt x="5760" y="6224"/>
                      </a:cubicBezTo>
                      <a:cubicBezTo>
                        <a:pt x="5840" y="6144"/>
                        <a:pt x="5888" y="6032"/>
                        <a:pt x="5888" y="5904"/>
                      </a:cubicBezTo>
                      <a:cubicBezTo>
                        <a:pt x="5904" y="5680"/>
                        <a:pt x="5712" y="5488"/>
                        <a:pt x="5472" y="5488"/>
                      </a:cubicBezTo>
                      <a:close/>
                      <a:moveTo>
                        <a:pt x="3712" y="8160"/>
                      </a:moveTo>
                      <a:lnTo>
                        <a:pt x="2416" y="8160"/>
                      </a:lnTo>
                      <a:cubicBezTo>
                        <a:pt x="2256" y="8160"/>
                        <a:pt x="2112" y="8240"/>
                        <a:pt x="2032" y="8384"/>
                      </a:cubicBezTo>
                      <a:cubicBezTo>
                        <a:pt x="1952" y="8512"/>
                        <a:pt x="1952" y="8688"/>
                        <a:pt x="2032" y="8816"/>
                      </a:cubicBezTo>
                      <a:cubicBezTo>
                        <a:pt x="2112" y="8944"/>
                        <a:pt x="2256" y="9040"/>
                        <a:pt x="2416" y="9040"/>
                      </a:cubicBezTo>
                      <a:lnTo>
                        <a:pt x="3712" y="9040"/>
                      </a:lnTo>
                      <a:cubicBezTo>
                        <a:pt x="3872" y="9040"/>
                        <a:pt x="4016" y="8960"/>
                        <a:pt x="4096" y="8816"/>
                      </a:cubicBezTo>
                      <a:cubicBezTo>
                        <a:pt x="4176" y="8688"/>
                        <a:pt x="4176" y="8512"/>
                        <a:pt x="4096" y="8384"/>
                      </a:cubicBezTo>
                      <a:cubicBezTo>
                        <a:pt x="4000" y="8256"/>
                        <a:pt x="3856" y="8160"/>
                        <a:pt x="3712" y="8160"/>
                      </a:cubicBezTo>
                      <a:close/>
                      <a:moveTo>
                        <a:pt x="9824" y="12192"/>
                      </a:moveTo>
                      <a:lnTo>
                        <a:pt x="6576" y="12192"/>
                      </a:lnTo>
                      <a:cubicBezTo>
                        <a:pt x="6176" y="12192"/>
                        <a:pt x="5872" y="11840"/>
                        <a:pt x="5872" y="11440"/>
                      </a:cubicBezTo>
                      <a:lnTo>
                        <a:pt x="5872" y="9184"/>
                      </a:lnTo>
                      <a:cubicBezTo>
                        <a:pt x="5872" y="8752"/>
                        <a:pt x="6192" y="8432"/>
                        <a:pt x="6576" y="8432"/>
                      </a:cubicBezTo>
                      <a:lnTo>
                        <a:pt x="6768" y="8432"/>
                      </a:lnTo>
                      <a:cubicBezTo>
                        <a:pt x="6768" y="8352"/>
                        <a:pt x="6736" y="8240"/>
                        <a:pt x="6736" y="8160"/>
                      </a:cubicBezTo>
                      <a:lnTo>
                        <a:pt x="6736" y="7840"/>
                      </a:lnTo>
                      <a:cubicBezTo>
                        <a:pt x="6736" y="7056"/>
                        <a:pt x="7376" y="6384"/>
                        <a:pt x="8192" y="6384"/>
                      </a:cubicBezTo>
                      <a:cubicBezTo>
                        <a:pt x="8976" y="6384"/>
                        <a:pt x="9648" y="7024"/>
                        <a:pt x="9648" y="7840"/>
                      </a:cubicBezTo>
                      <a:lnTo>
                        <a:pt x="9648" y="8112"/>
                      </a:lnTo>
                      <a:cubicBezTo>
                        <a:pt x="9648" y="8224"/>
                        <a:pt x="9648" y="8304"/>
                        <a:pt x="9616" y="8384"/>
                      </a:cubicBezTo>
                      <a:lnTo>
                        <a:pt x="9808" y="8384"/>
                      </a:lnTo>
                      <a:cubicBezTo>
                        <a:pt x="10208" y="8384"/>
                        <a:pt x="10512" y="8736"/>
                        <a:pt x="10512" y="9136"/>
                      </a:cubicBezTo>
                      <a:lnTo>
                        <a:pt x="10512" y="11392"/>
                      </a:lnTo>
                      <a:cubicBezTo>
                        <a:pt x="10528" y="11872"/>
                        <a:pt x="10208" y="12192"/>
                        <a:pt x="9824" y="12192"/>
                      </a:cubicBezTo>
                      <a:close/>
                      <a:moveTo>
                        <a:pt x="7920" y="10368"/>
                      </a:moveTo>
                      <a:lnTo>
                        <a:pt x="7920" y="11040"/>
                      </a:lnTo>
                      <a:cubicBezTo>
                        <a:pt x="7920" y="11200"/>
                        <a:pt x="8032" y="11312"/>
                        <a:pt x="8192" y="11312"/>
                      </a:cubicBezTo>
                      <a:cubicBezTo>
                        <a:pt x="8352" y="11312"/>
                        <a:pt x="8464" y="11200"/>
                        <a:pt x="8464" y="11040"/>
                      </a:cubicBezTo>
                      <a:lnTo>
                        <a:pt x="8464" y="10368"/>
                      </a:lnTo>
                      <a:cubicBezTo>
                        <a:pt x="8624" y="10256"/>
                        <a:pt x="8736" y="10096"/>
                        <a:pt x="8736" y="9856"/>
                      </a:cubicBezTo>
                      <a:cubicBezTo>
                        <a:pt x="8768" y="9584"/>
                        <a:pt x="8496" y="9296"/>
                        <a:pt x="8176" y="9296"/>
                      </a:cubicBezTo>
                      <a:cubicBezTo>
                        <a:pt x="7856" y="9296"/>
                        <a:pt x="7584" y="9568"/>
                        <a:pt x="7584" y="9888"/>
                      </a:cubicBezTo>
                      <a:cubicBezTo>
                        <a:pt x="7600" y="10096"/>
                        <a:pt x="7728" y="10288"/>
                        <a:pt x="7920" y="10368"/>
                      </a:cubicBezTo>
                      <a:close/>
                      <a:moveTo>
                        <a:pt x="9072" y="7840"/>
                      </a:moveTo>
                      <a:cubicBezTo>
                        <a:pt x="9072" y="7360"/>
                        <a:pt x="8672" y="6976"/>
                        <a:pt x="8208" y="6976"/>
                      </a:cubicBezTo>
                      <a:cubicBezTo>
                        <a:pt x="7728" y="6976"/>
                        <a:pt x="7344" y="7376"/>
                        <a:pt x="7344" y="7840"/>
                      </a:cubicBezTo>
                      <a:lnTo>
                        <a:pt x="7344" y="8432"/>
                      </a:lnTo>
                      <a:lnTo>
                        <a:pt x="9088" y="8432"/>
                      </a:lnTo>
                      <a:lnTo>
                        <a:pt x="9088" y="7840"/>
                      </a:lnTo>
                      <a:lnTo>
                        <a:pt x="9072" y="7840"/>
                      </a:lnTo>
                      <a:close/>
                      <a:moveTo>
                        <a:pt x="9072" y="7840"/>
                      </a:move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</a:ln>
              </p:spPr>
              <p:txBody>
                <a:bodyPr wrap="squar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100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7" name="组合 66"/>
            <p:cNvGrpSpPr/>
            <p:nvPr/>
          </p:nvGrpSpPr>
          <p:grpSpPr>
            <a:xfrm>
              <a:off x="4934904" y="3976067"/>
              <a:ext cx="3990733" cy="962917"/>
              <a:chOff x="660400" y="8681647"/>
              <a:chExt cx="5242847" cy="1265038"/>
            </a:xfrm>
          </p:grpSpPr>
          <p:grpSp>
            <p:nvGrpSpPr>
              <p:cNvPr id="68" name="组合 67"/>
              <p:cNvGrpSpPr/>
              <p:nvPr/>
            </p:nvGrpSpPr>
            <p:grpSpPr>
              <a:xfrm>
                <a:off x="660400" y="8862320"/>
                <a:ext cx="660321" cy="660320"/>
                <a:chOff x="6045202" y="4295364"/>
                <a:chExt cx="1463673" cy="1463672"/>
              </a:xfrm>
            </p:grpSpPr>
            <p:sp>
              <p:nvSpPr>
                <p:cNvPr id="72" name="椭圆 71"/>
                <p:cNvSpPr/>
                <p:nvPr/>
              </p:nvSpPr>
              <p:spPr bwMode="auto">
                <a:xfrm>
                  <a:off x="6045202" y="4295364"/>
                  <a:ext cx="1463673" cy="1463672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noFill/>
                  <a:rou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Icon8"/>
                <p:cNvSpPr/>
                <p:nvPr/>
              </p:nvSpPr>
              <p:spPr bwMode="auto">
                <a:xfrm>
                  <a:off x="6603511" y="4747225"/>
                  <a:ext cx="347055" cy="559948"/>
                </a:xfrm>
                <a:custGeom>
                  <a:avLst/>
                  <a:gdLst>
                    <a:gd name="connsiteX0" fmla="*/ 69931 w 209550"/>
                    <a:gd name="connsiteY0" fmla="*/ 6263 h 338094"/>
                    <a:gd name="connsiteX1" fmla="*/ 67150 w 209550"/>
                    <a:gd name="connsiteY1" fmla="*/ 0 h 338094"/>
                    <a:gd name="connsiteX2" fmla="*/ 60328 w 209550"/>
                    <a:gd name="connsiteY2" fmla="*/ 645 h 338094"/>
                    <a:gd name="connsiteX3" fmla="*/ 0 w 209550"/>
                    <a:gd name="connsiteY3" fmla="*/ 67022 h 338094"/>
                    <a:gd name="connsiteX4" fmla="*/ 0 w 209550"/>
                    <a:gd name="connsiteY4" fmla="*/ 181322 h 338094"/>
                    <a:gd name="connsiteX5" fmla="*/ 28575 w 209550"/>
                    <a:gd name="connsiteY5" fmla="*/ 209897 h 338094"/>
                    <a:gd name="connsiteX6" fmla="*/ 38100 w 209550"/>
                    <a:gd name="connsiteY6" fmla="*/ 209897 h 338094"/>
                    <a:gd name="connsiteX7" fmla="*/ 38100 w 209550"/>
                    <a:gd name="connsiteY7" fmla="*/ 321537 h 338094"/>
                    <a:gd name="connsiteX8" fmla="*/ 71642 w 209550"/>
                    <a:gd name="connsiteY8" fmla="*/ 332718 h 338094"/>
                    <a:gd name="connsiteX9" fmla="*/ 137908 w 209550"/>
                    <a:gd name="connsiteY9" fmla="*/ 332718 h 338094"/>
                    <a:gd name="connsiteX10" fmla="*/ 171450 w 209550"/>
                    <a:gd name="connsiteY10" fmla="*/ 321537 h 338094"/>
                    <a:gd name="connsiteX11" fmla="*/ 171450 w 209550"/>
                    <a:gd name="connsiteY11" fmla="*/ 209897 h 338094"/>
                    <a:gd name="connsiteX12" fmla="*/ 180975 w 209550"/>
                    <a:gd name="connsiteY12" fmla="*/ 209897 h 338094"/>
                    <a:gd name="connsiteX13" fmla="*/ 209550 w 209550"/>
                    <a:gd name="connsiteY13" fmla="*/ 181322 h 338094"/>
                    <a:gd name="connsiteX14" fmla="*/ 209550 w 209550"/>
                    <a:gd name="connsiteY14" fmla="*/ 67022 h 338094"/>
                    <a:gd name="connsiteX15" fmla="*/ 149222 w 209550"/>
                    <a:gd name="connsiteY15" fmla="*/ 645 h 338094"/>
                    <a:gd name="connsiteX16" fmla="*/ 142400 w 209550"/>
                    <a:gd name="connsiteY16" fmla="*/ 0 h 338094"/>
                    <a:gd name="connsiteX17" fmla="*/ 139619 w 209550"/>
                    <a:gd name="connsiteY17" fmla="*/ 6263 h 338094"/>
                    <a:gd name="connsiteX18" fmla="*/ 104775 w 209550"/>
                    <a:gd name="connsiteY18" fmla="*/ 28922 h 338094"/>
                    <a:gd name="connsiteX19" fmla="*/ 69931 w 209550"/>
                    <a:gd name="connsiteY19" fmla="*/ 6263 h 338094"/>
                    <a:gd name="connsiteX20" fmla="*/ 57150 w 209550"/>
                    <a:gd name="connsiteY20" fmla="*/ 162273 h 338094"/>
                    <a:gd name="connsiteX21" fmla="*/ 57150 w 209550"/>
                    <a:gd name="connsiteY21" fmla="*/ 181323 h 338094"/>
                    <a:gd name="connsiteX22" fmla="*/ 152400 w 209550"/>
                    <a:gd name="connsiteY22" fmla="*/ 181323 h 338094"/>
                    <a:gd name="connsiteX23" fmla="*/ 152400 w 209550"/>
                    <a:gd name="connsiteY23" fmla="*/ 162273 h 338094"/>
                    <a:gd name="connsiteX24" fmla="*/ 57150 w 209550"/>
                    <a:gd name="connsiteY24" fmla="*/ 162273 h 338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09550" h="338094">
                      <a:moveTo>
                        <a:pt x="69931" y="6263"/>
                      </a:moveTo>
                      <a:lnTo>
                        <a:pt x="67150" y="0"/>
                      </a:lnTo>
                      <a:lnTo>
                        <a:pt x="60328" y="645"/>
                      </a:lnTo>
                      <a:cubicBezTo>
                        <a:pt x="26477" y="3848"/>
                        <a:pt x="0" y="32337"/>
                        <a:pt x="0" y="67022"/>
                      </a:cubicBezTo>
                      <a:lnTo>
                        <a:pt x="0" y="181322"/>
                      </a:lnTo>
                      <a:cubicBezTo>
                        <a:pt x="0" y="197103"/>
                        <a:pt x="12793" y="209897"/>
                        <a:pt x="28575" y="209897"/>
                      </a:cubicBezTo>
                      <a:lnTo>
                        <a:pt x="38100" y="209897"/>
                      </a:lnTo>
                      <a:lnTo>
                        <a:pt x="38100" y="321537"/>
                      </a:lnTo>
                      <a:lnTo>
                        <a:pt x="71642" y="332718"/>
                      </a:lnTo>
                      <a:cubicBezTo>
                        <a:pt x="93149" y="339887"/>
                        <a:pt x="116401" y="339887"/>
                        <a:pt x="137908" y="332718"/>
                      </a:cubicBezTo>
                      <a:lnTo>
                        <a:pt x="171450" y="321537"/>
                      </a:lnTo>
                      <a:lnTo>
                        <a:pt x="171450" y="209897"/>
                      </a:lnTo>
                      <a:lnTo>
                        <a:pt x="180975" y="209897"/>
                      </a:lnTo>
                      <a:cubicBezTo>
                        <a:pt x="196757" y="209897"/>
                        <a:pt x="209550" y="197103"/>
                        <a:pt x="209550" y="181322"/>
                      </a:cubicBezTo>
                      <a:lnTo>
                        <a:pt x="209550" y="67022"/>
                      </a:lnTo>
                      <a:cubicBezTo>
                        <a:pt x="209550" y="32337"/>
                        <a:pt x="183073" y="3848"/>
                        <a:pt x="149222" y="645"/>
                      </a:cubicBezTo>
                      <a:lnTo>
                        <a:pt x="142400" y="0"/>
                      </a:lnTo>
                      <a:lnTo>
                        <a:pt x="139619" y="6263"/>
                      </a:lnTo>
                      <a:cubicBezTo>
                        <a:pt x="133684" y="19630"/>
                        <a:pt x="120305" y="28922"/>
                        <a:pt x="104775" y="28922"/>
                      </a:cubicBezTo>
                      <a:cubicBezTo>
                        <a:pt x="89245" y="28922"/>
                        <a:pt x="75866" y="19630"/>
                        <a:pt x="69931" y="6263"/>
                      </a:cubicBezTo>
                      <a:close/>
                      <a:moveTo>
                        <a:pt x="57150" y="162273"/>
                      </a:moveTo>
                      <a:lnTo>
                        <a:pt x="57150" y="181323"/>
                      </a:lnTo>
                      <a:lnTo>
                        <a:pt x="152400" y="181323"/>
                      </a:lnTo>
                      <a:lnTo>
                        <a:pt x="152400" y="162273"/>
                      </a:lnTo>
                      <a:lnTo>
                        <a:pt x="57150" y="16227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</a:ln>
              </p:spPr>
              <p:txBody>
                <a:bodyPr wrap="squar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100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1495948" y="8681647"/>
                <a:ext cx="4407299" cy="1265038"/>
                <a:chOff x="7793408" y="2617347"/>
                <a:chExt cx="4407299" cy="1265038"/>
              </a:xfrm>
            </p:grpSpPr>
            <p:sp>
              <p:nvSpPr>
                <p:cNvPr id="70" name="Text8"/>
                <p:cNvSpPr txBox="1"/>
                <p:nvPr/>
              </p:nvSpPr>
              <p:spPr>
                <a:xfrm>
                  <a:off x="7793408" y="3084327"/>
                  <a:ext cx="4407299" cy="7980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050" dirty="0">
                      <a:cs typeface="+mn-ea"/>
                      <a:sym typeface="+mn-lt"/>
                    </a:rPr>
                    <a:t>普通用户只能查看数据，管理员方可修改配置与控制设备，通过角色控制访问权限。</a:t>
                  </a:r>
                  <a:endParaRPr lang="en-US" dirty="0"/>
                </a:p>
              </p:txBody>
            </p:sp>
            <p:sp>
              <p:nvSpPr>
                <p:cNvPr id="71" name="Bullet8"/>
                <p:cNvSpPr/>
                <p:nvPr/>
              </p:nvSpPr>
              <p:spPr>
                <a:xfrm>
                  <a:off x="7793408" y="2617347"/>
                  <a:ext cx="4407299" cy="46698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>
                    <a:lnSpc>
                      <a:spcPct val="130000"/>
                    </a:lnSpc>
                  </a:pPr>
                  <a:r>
                    <a:rPr lang="zh-CN" altLang="en-US" sz="1400" b="1" dirty="0">
                      <a:cs typeface="+mn-ea"/>
                      <a:sym typeface="+mn-lt"/>
                    </a:rPr>
                    <a:t>权限最小化原则</a:t>
                  </a:r>
                  <a:endParaRPr lang="en-US" dirty="0"/>
                </a:p>
              </p:txBody>
            </p:sp>
          </p:grpSp>
        </p:grpSp>
      </p:grpSp>
      <p:sp>
        <p:nvSpPr>
          <p:cNvPr id="7" name="标题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安全性防护策略</a:t>
            </a:r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b602cd1-e0e9-463d-9201-aadfece812db.source.8.zh-Hans.pptx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23" name="PictureMisc1"/>
            <p:cNvSpPr/>
            <p:nvPr/>
          </p:nvSpPr>
          <p:spPr>
            <a:xfrm>
              <a:off x="4005667" y="1968499"/>
              <a:ext cx="4167966" cy="4165599"/>
            </a:xfrm>
            <a:custGeom>
              <a:avLst/>
              <a:gdLst>
                <a:gd name="connsiteX0" fmla="*/ 2392355 w 4312819"/>
                <a:gd name="connsiteY0" fmla="*/ 2182125 h 4310370"/>
                <a:gd name="connsiteX1" fmla="*/ 4105038 w 4312819"/>
                <a:gd name="connsiteY1" fmla="*/ 2182125 h 4310370"/>
                <a:gd name="connsiteX2" fmla="*/ 4312819 w 4312819"/>
                <a:gd name="connsiteY2" fmla="*/ 2389906 h 4310370"/>
                <a:gd name="connsiteX3" fmla="*/ 4312819 w 4312819"/>
                <a:gd name="connsiteY3" fmla="*/ 4102589 h 4310370"/>
                <a:gd name="connsiteX4" fmla="*/ 4105038 w 4312819"/>
                <a:gd name="connsiteY4" fmla="*/ 4310370 h 4310370"/>
                <a:gd name="connsiteX5" fmla="*/ 2392355 w 4312819"/>
                <a:gd name="connsiteY5" fmla="*/ 4310370 h 4310370"/>
                <a:gd name="connsiteX6" fmla="*/ 2184574 w 4312819"/>
                <a:gd name="connsiteY6" fmla="*/ 4102589 h 4310370"/>
                <a:gd name="connsiteX7" fmla="*/ 2184574 w 4312819"/>
                <a:gd name="connsiteY7" fmla="*/ 2389906 h 4310370"/>
                <a:gd name="connsiteX8" fmla="*/ 2392355 w 4312819"/>
                <a:gd name="connsiteY8" fmla="*/ 2182125 h 4310370"/>
                <a:gd name="connsiteX9" fmla="*/ 207781 w 4312819"/>
                <a:gd name="connsiteY9" fmla="*/ 2182125 h 4310370"/>
                <a:gd name="connsiteX10" fmla="*/ 1920464 w 4312819"/>
                <a:gd name="connsiteY10" fmla="*/ 2182125 h 4310370"/>
                <a:gd name="connsiteX11" fmla="*/ 2128245 w 4312819"/>
                <a:gd name="connsiteY11" fmla="*/ 2389906 h 4310370"/>
                <a:gd name="connsiteX12" fmla="*/ 2128245 w 4312819"/>
                <a:gd name="connsiteY12" fmla="*/ 4102589 h 4310370"/>
                <a:gd name="connsiteX13" fmla="*/ 1920464 w 4312819"/>
                <a:gd name="connsiteY13" fmla="*/ 4310370 h 4310370"/>
                <a:gd name="connsiteX14" fmla="*/ 207781 w 4312819"/>
                <a:gd name="connsiteY14" fmla="*/ 4310370 h 4310370"/>
                <a:gd name="connsiteX15" fmla="*/ 0 w 4312819"/>
                <a:gd name="connsiteY15" fmla="*/ 4102589 h 4310370"/>
                <a:gd name="connsiteX16" fmla="*/ 0 w 4312819"/>
                <a:gd name="connsiteY16" fmla="*/ 2389906 h 4310370"/>
                <a:gd name="connsiteX17" fmla="*/ 207781 w 4312819"/>
                <a:gd name="connsiteY17" fmla="*/ 2182125 h 4310370"/>
                <a:gd name="connsiteX18" fmla="*/ 2392355 w 4312819"/>
                <a:gd name="connsiteY18" fmla="*/ 0 h 4310370"/>
                <a:gd name="connsiteX19" fmla="*/ 4105038 w 4312819"/>
                <a:gd name="connsiteY19" fmla="*/ 0 h 4310370"/>
                <a:gd name="connsiteX20" fmla="*/ 4312819 w 4312819"/>
                <a:gd name="connsiteY20" fmla="*/ 207781 h 4310370"/>
                <a:gd name="connsiteX21" fmla="*/ 4312819 w 4312819"/>
                <a:gd name="connsiteY21" fmla="*/ 1920464 h 4310370"/>
                <a:gd name="connsiteX22" fmla="*/ 4105038 w 4312819"/>
                <a:gd name="connsiteY22" fmla="*/ 2128245 h 4310370"/>
                <a:gd name="connsiteX23" fmla="*/ 2392355 w 4312819"/>
                <a:gd name="connsiteY23" fmla="*/ 2128245 h 4310370"/>
                <a:gd name="connsiteX24" fmla="*/ 2184574 w 4312819"/>
                <a:gd name="connsiteY24" fmla="*/ 1920464 h 4310370"/>
                <a:gd name="connsiteX25" fmla="*/ 2184574 w 4312819"/>
                <a:gd name="connsiteY25" fmla="*/ 207781 h 4310370"/>
                <a:gd name="connsiteX26" fmla="*/ 2392355 w 4312819"/>
                <a:gd name="connsiteY26" fmla="*/ 0 h 4310370"/>
                <a:gd name="connsiteX27" fmla="*/ 207781 w 4312819"/>
                <a:gd name="connsiteY27" fmla="*/ 0 h 4310370"/>
                <a:gd name="connsiteX28" fmla="*/ 1920464 w 4312819"/>
                <a:gd name="connsiteY28" fmla="*/ 0 h 4310370"/>
                <a:gd name="connsiteX29" fmla="*/ 2128245 w 4312819"/>
                <a:gd name="connsiteY29" fmla="*/ 207781 h 4310370"/>
                <a:gd name="connsiteX30" fmla="*/ 2128245 w 4312819"/>
                <a:gd name="connsiteY30" fmla="*/ 1920464 h 4310370"/>
                <a:gd name="connsiteX31" fmla="*/ 1920464 w 4312819"/>
                <a:gd name="connsiteY31" fmla="*/ 2128245 h 4310370"/>
                <a:gd name="connsiteX32" fmla="*/ 207781 w 4312819"/>
                <a:gd name="connsiteY32" fmla="*/ 2128245 h 4310370"/>
                <a:gd name="connsiteX33" fmla="*/ 0 w 4312819"/>
                <a:gd name="connsiteY33" fmla="*/ 1920464 h 4310370"/>
                <a:gd name="connsiteX34" fmla="*/ 0 w 4312819"/>
                <a:gd name="connsiteY34" fmla="*/ 207781 h 4310370"/>
                <a:gd name="connsiteX35" fmla="*/ 207781 w 4312819"/>
                <a:gd name="connsiteY35" fmla="*/ 0 h 431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312819" h="4310370">
                  <a:moveTo>
                    <a:pt x="2392355" y="2182125"/>
                  </a:moveTo>
                  <a:lnTo>
                    <a:pt x="4105038" y="2182125"/>
                  </a:lnTo>
                  <a:cubicBezTo>
                    <a:pt x="4219792" y="2182125"/>
                    <a:pt x="4312819" y="2275152"/>
                    <a:pt x="4312819" y="2389906"/>
                  </a:cubicBezTo>
                  <a:lnTo>
                    <a:pt x="4312819" y="4102589"/>
                  </a:lnTo>
                  <a:cubicBezTo>
                    <a:pt x="4312819" y="4217343"/>
                    <a:pt x="4219792" y="4310370"/>
                    <a:pt x="4105038" y="4310370"/>
                  </a:cubicBezTo>
                  <a:lnTo>
                    <a:pt x="2392355" y="4310370"/>
                  </a:lnTo>
                  <a:cubicBezTo>
                    <a:pt x="2277601" y="4310370"/>
                    <a:pt x="2184574" y="4217343"/>
                    <a:pt x="2184574" y="4102589"/>
                  </a:cubicBezTo>
                  <a:lnTo>
                    <a:pt x="2184574" y="2389906"/>
                  </a:lnTo>
                  <a:cubicBezTo>
                    <a:pt x="2184574" y="2275152"/>
                    <a:pt x="2277601" y="2182125"/>
                    <a:pt x="2392355" y="2182125"/>
                  </a:cubicBezTo>
                  <a:close/>
                  <a:moveTo>
                    <a:pt x="207781" y="2182125"/>
                  </a:moveTo>
                  <a:lnTo>
                    <a:pt x="1920464" y="2182125"/>
                  </a:lnTo>
                  <a:cubicBezTo>
                    <a:pt x="2035218" y="2182125"/>
                    <a:pt x="2128245" y="2275152"/>
                    <a:pt x="2128245" y="2389906"/>
                  </a:cubicBezTo>
                  <a:lnTo>
                    <a:pt x="2128245" y="4102589"/>
                  </a:lnTo>
                  <a:cubicBezTo>
                    <a:pt x="2128245" y="4217343"/>
                    <a:pt x="2035218" y="4310370"/>
                    <a:pt x="1920464" y="4310370"/>
                  </a:cubicBezTo>
                  <a:lnTo>
                    <a:pt x="207781" y="4310370"/>
                  </a:lnTo>
                  <a:cubicBezTo>
                    <a:pt x="93027" y="4310370"/>
                    <a:pt x="0" y="4217343"/>
                    <a:pt x="0" y="4102589"/>
                  </a:cubicBezTo>
                  <a:lnTo>
                    <a:pt x="0" y="2389906"/>
                  </a:lnTo>
                  <a:cubicBezTo>
                    <a:pt x="0" y="2275152"/>
                    <a:pt x="93027" y="2182125"/>
                    <a:pt x="207781" y="2182125"/>
                  </a:cubicBezTo>
                  <a:close/>
                  <a:moveTo>
                    <a:pt x="2392355" y="0"/>
                  </a:moveTo>
                  <a:lnTo>
                    <a:pt x="4105038" y="0"/>
                  </a:lnTo>
                  <a:cubicBezTo>
                    <a:pt x="4219792" y="0"/>
                    <a:pt x="4312819" y="93027"/>
                    <a:pt x="4312819" y="207781"/>
                  </a:cubicBezTo>
                  <a:lnTo>
                    <a:pt x="4312819" y="1920464"/>
                  </a:lnTo>
                  <a:cubicBezTo>
                    <a:pt x="4312819" y="2035218"/>
                    <a:pt x="4219792" y="2128245"/>
                    <a:pt x="4105038" y="2128245"/>
                  </a:cubicBezTo>
                  <a:lnTo>
                    <a:pt x="2392355" y="2128245"/>
                  </a:lnTo>
                  <a:cubicBezTo>
                    <a:pt x="2277601" y="2128245"/>
                    <a:pt x="2184574" y="2035218"/>
                    <a:pt x="2184574" y="1920464"/>
                  </a:cubicBezTo>
                  <a:lnTo>
                    <a:pt x="2184574" y="207781"/>
                  </a:lnTo>
                  <a:cubicBezTo>
                    <a:pt x="2184574" y="93027"/>
                    <a:pt x="2277601" y="0"/>
                    <a:pt x="2392355" y="0"/>
                  </a:cubicBezTo>
                  <a:close/>
                  <a:moveTo>
                    <a:pt x="207781" y="0"/>
                  </a:moveTo>
                  <a:lnTo>
                    <a:pt x="1920464" y="0"/>
                  </a:lnTo>
                  <a:cubicBezTo>
                    <a:pt x="2035218" y="0"/>
                    <a:pt x="2128245" y="93027"/>
                    <a:pt x="2128245" y="207781"/>
                  </a:cubicBezTo>
                  <a:lnTo>
                    <a:pt x="2128245" y="1920464"/>
                  </a:lnTo>
                  <a:cubicBezTo>
                    <a:pt x="2128245" y="2035218"/>
                    <a:pt x="2035218" y="2128245"/>
                    <a:pt x="1920464" y="2128245"/>
                  </a:cubicBezTo>
                  <a:lnTo>
                    <a:pt x="207781" y="2128245"/>
                  </a:lnTo>
                  <a:cubicBezTo>
                    <a:pt x="93027" y="2128245"/>
                    <a:pt x="0" y="2035218"/>
                    <a:pt x="0" y="1920464"/>
                  </a:cubicBezTo>
                  <a:lnTo>
                    <a:pt x="0" y="207781"/>
                  </a:lnTo>
                  <a:cubicBezTo>
                    <a:pt x="0" y="93027"/>
                    <a:pt x="93027" y="0"/>
                    <a:pt x="207781" y="0"/>
                  </a:cubicBezTo>
                  <a:close/>
                </a:path>
              </a:pathLst>
            </a:custGeom>
            <a:blipFill>
              <a:blip r:embed="rId1"/>
              <a:srcRect/>
              <a:stretch>
                <a:fillRect t="-24963" b="-24811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en-US" sz="1600">
                <a:cs typeface="+mn-ea"/>
                <a:sym typeface="+mn-lt"/>
              </a:endParaRPr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660400" y="1130300"/>
              <a:ext cx="3221560" cy="1111615"/>
              <a:chOff x="719493" y="2509207"/>
              <a:chExt cx="1620318" cy="1358900"/>
            </a:xfrm>
          </p:grpSpPr>
          <p:sp>
            <p:nvSpPr>
              <p:cNvPr id="92" name="Bullet1"/>
              <p:cNvSpPr/>
              <p:nvPr/>
            </p:nvSpPr>
            <p:spPr>
              <a:xfrm>
                <a:off x="719493" y="2509207"/>
                <a:ext cx="1620318" cy="4371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浏览器兼容性保障</a:t>
                </a:r>
                <a:endParaRPr lang="en-US" dirty="0"/>
              </a:p>
            </p:txBody>
          </p:sp>
          <p:sp>
            <p:nvSpPr>
              <p:cNvPr id="93" name="Text1"/>
              <p:cNvSpPr/>
              <p:nvPr/>
            </p:nvSpPr>
            <p:spPr>
              <a:xfrm>
                <a:off x="719493" y="2946330"/>
                <a:ext cx="1620318" cy="921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支持Chrome、Firefox、Edge、Safari最新版本，使用Babel转译ES6+语法确保向下兼容。</a:t>
                </a:r>
                <a:endParaRPr lang="en-US" dirty="0"/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8297340" y="1130300"/>
              <a:ext cx="3221560" cy="1111615"/>
              <a:chOff x="719493" y="2509207"/>
              <a:chExt cx="1620318" cy="1358900"/>
            </a:xfrm>
          </p:grpSpPr>
          <p:sp>
            <p:nvSpPr>
              <p:cNvPr id="90" name="Bullet2"/>
              <p:cNvSpPr/>
              <p:nvPr/>
            </p:nvSpPr>
            <p:spPr>
              <a:xfrm>
                <a:off x="719493" y="2509207"/>
                <a:ext cx="1620318" cy="4371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跨平台部署能力</a:t>
                </a:r>
                <a:endParaRPr lang="en-US" dirty="0"/>
              </a:p>
            </p:txBody>
          </p:sp>
          <p:sp>
            <p:nvSpPr>
              <p:cNvPr id="91" name="Text2"/>
              <p:cNvSpPr/>
              <p:nvPr/>
            </p:nvSpPr>
            <p:spPr>
              <a:xfrm>
                <a:off x="719493" y="2946330"/>
                <a:ext cx="1620318" cy="921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后端Java程序可在Windows、Linux、macOS上运行，前端静态资源可部署于任意Web服务器。</a:t>
                </a:r>
                <a:endParaRPr lang="en-US" dirty="0"/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660400" y="2427695"/>
              <a:ext cx="3221560" cy="1111615"/>
              <a:chOff x="719493" y="2509207"/>
              <a:chExt cx="1620318" cy="1358900"/>
            </a:xfrm>
          </p:grpSpPr>
          <p:sp>
            <p:nvSpPr>
              <p:cNvPr id="88" name="Bullet3"/>
              <p:cNvSpPr/>
              <p:nvPr/>
            </p:nvSpPr>
            <p:spPr>
              <a:xfrm>
                <a:off x="719493" y="2509207"/>
                <a:ext cx="1620318" cy="4371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数据库版本兼容</a:t>
                </a:r>
                <a:endParaRPr lang="en-US" dirty="0"/>
              </a:p>
            </p:txBody>
          </p:sp>
          <p:sp>
            <p:nvSpPr>
              <p:cNvPr id="89" name="Text3"/>
              <p:cNvSpPr/>
              <p:nvPr/>
            </p:nvSpPr>
            <p:spPr>
              <a:xfrm>
                <a:off x="719493" y="2946330"/>
                <a:ext cx="1620318" cy="921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适配MySQL 8.0及以上版本，使用标准SQL语句避免特定方言依赖。</a:t>
                </a:r>
                <a:endParaRPr lang="en-US" dirty="0"/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297340" y="2427695"/>
              <a:ext cx="3221560" cy="1111615"/>
              <a:chOff x="719493" y="2509207"/>
              <a:chExt cx="1620318" cy="1358900"/>
            </a:xfrm>
          </p:grpSpPr>
          <p:sp>
            <p:nvSpPr>
              <p:cNvPr id="86" name="Bullet4"/>
              <p:cNvSpPr/>
              <p:nvPr/>
            </p:nvSpPr>
            <p:spPr>
              <a:xfrm>
                <a:off x="719493" y="2509207"/>
                <a:ext cx="1620318" cy="4371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传感器类型扩展支持</a:t>
                </a:r>
                <a:endParaRPr lang="en-US" dirty="0"/>
              </a:p>
            </p:txBody>
          </p:sp>
          <p:sp>
            <p:nvSpPr>
              <p:cNvPr id="87" name="Text4"/>
              <p:cNvSpPr/>
              <p:nvPr/>
            </p:nvSpPr>
            <p:spPr>
              <a:xfrm>
                <a:off x="719493" y="2946330"/>
                <a:ext cx="1620318" cy="921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系统预留接口，未来可轻松接入光照、CO₂、噪声等新型传感器，丰富监测维度。</a:t>
                </a:r>
                <a:endParaRPr lang="en-US" dirty="0"/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660400" y="3725090"/>
              <a:ext cx="3221560" cy="1111615"/>
              <a:chOff x="719493" y="2509207"/>
              <a:chExt cx="1620318" cy="1358900"/>
            </a:xfrm>
          </p:grpSpPr>
          <p:sp>
            <p:nvSpPr>
              <p:cNvPr id="84" name="Bullet5"/>
              <p:cNvSpPr/>
              <p:nvPr/>
            </p:nvSpPr>
            <p:spPr>
              <a:xfrm>
                <a:off x="719493" y="2509207"/>
                <a:ext cx="1620318" cy="4371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节点数量扩展能力</a:t>
                </a:r>
                <a:endParaRPr lang="en-US" dirty="0"/>
              </a:p>
            </p:txBody>
          </p:sp>
          <p:sp>
            <p:nvSpPr>
              <p:cNvPr id="85" name="Text5"/>
              <p:cNvSpPr/>
              <p:nvPr/>
            </p:nvSpPr>
            <p:spPr>
              <a:xfrm>
                <a:off x="719493" y="2946330"/>
                <a:ext cx="1620318" cy="921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架构设计支持超过100个节点接入，通过分布式部署应对更大规模养殖场需求。</a:t>
                </a:r>
                <a:endParaRPr lang="en-US" dirty="0"/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8297340" y="3725090"/>
              <a:ext cx="3221560" cy="1111615"/>
              <a:chOff x="719493" y="2509207"/>
              <a:chExt cx="1620318" cy="1358900"/>
            </a:xfrm>
          </p:grpSpPr>
          <p:sp>
            <p:nvSpPr>
              <p:cNvPr id="82" name="Bullet6"/>
              <p:cNvSpPr/>
              <p:nvPr/>
            </p:nvSpPr>
            <p:spPr>
              <a:xfrm>
                <a:off x="719493" y="2509207"/>
                <a:ext cx="1620318" cy="4371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控制设备类型拓展</a:t>
                </a:r>
                <a:endParaRPr lang="en-US" dirty="0"/>
              </a:p>
            </p:txBody>
          </p:sp>
          <p:sp>
            <p:nvSpPr>
              <p:cNvPr id="83" name="Text6"/>
              <p:cNvSpPr/>
              <p:nvPr/>
            </p:nvSpPr>
            <p:spPr>
              <a:xfrm>
                <a:off x="719493" y="2946330"/>
                <a:ext cx="1620318" cy="921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支持新增喷淋系统、照明系统、喂料机等自动化设备，形成完整智能养殖闭环。</a:t>
                </a:r>
                <a:endParaRPr lang="en-US" dirty="0"/>
              </a:p>
            </p:txBody>
          </p:sp>
        </p:grpSp>
        <p:grpSp>
          <p:nvGrpSpPr>
            <p:cNvPr id="76" name="组合 75"/>
            <p:cNvGrpSpPr/>
            <p:nvPr/>
          </p:nvGrpSpPr>
          <p:grpSpPr>
            <a:xfrm>
              <a:off x="660400" y="5022485"/>
              <a:ext cx="3221560" cy="1111615"/>
              <a:chOff x="719493" y="2509207"/>
              <a:chExt cx="1620318" cy="1358900"/>
            </a:xfrm>
          </p:grpSpPr>
          <p:sp>
            <p:nvSpPr>
              <p:cNvPr id="80" name="Bullet7"/>
              <p:cNvSpPr/>
              <p:nvPr/>
            </p:nvSpPr>
            <p:spPr>
              <a:xfrm>
                <a:off x="719493" y="2509207"/>
                <a:ext cx="1620318" cy="4371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第三方系统对接准备</a:t>
                </a:r>
                <a:endParaRPr lang="en-US" dirty="0"/>
              </a:p>
            </p:txBody>
          </p:sp>
          <p:sp>
            <p:nvSpPr>
              <p:cNvPr id="81" name="Text7"/>
              <p:cNvSpPr/>
              <p:nvPr/>
            </p:nvSpPr>
            <p:spPr>
              <a:xfrm>
                <a:off x="719493" y="2946330"/>
                <a:ext cx="1620318" cy="921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提供标准化RESTful API与WebSocket接口，便于与ERP、MES等管理系统集成。</a:t>
                </a:r>
                <a:endParaRPr lang="en-US" dirty="0"/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8297340" y="5022485"/>
              <a:ext cx="3221560" cy="1111615"/>
              <a:chOff x="719493" y="2509207"/>
              <a:chExt cx="1620318" cy="1358900"/>
            </a:xfrm>
          </p:grpSpPr>
          <p:sp>
            <p:nvSpPr>
              <p:cNvPr id="78" name="Bullet8"/>
              <p:cNvSpPr/>
              <p:nvPr/>
            </p:nvSpPr>
            <p:spPr>
              <a:xfrm>
                <a:off x="719493" y="2509207"/>
                <a:ext cx="1620318" cy="4371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微服务化演进路径</a:t>
                </a:r>
                <a:endParaRPr lang="en-US" dirty="0"/>
              </a:p>
            </p:txBody>
          </p:sp>
          <p:sp>
            <p:nvSpPr>
              <p:cNvPr id="79" name="Text8"/>
              <p:cNvSpPr/>
              <p:nvPr/>
            </p:nvSpPr>
            <p:spPr>
              <a:xfrm>
                <a:off x="719493" y="2946330"/>
                <a:ext cx="1620318" cy="921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后续可拆分为数据采集、告警服务、控制服务等独立微服务，提升系统弹性与可维护性。</a:t>
                </a:r>
                <a:endParaRPr lang="en-US" dirty="0"/>
              </a:p>
            </p:txBody>
          </p:sp>
        </p:grpSp>
        <p:sp>
          <p:nvSpPr>
            <p:cNvPr id="94" name="Title"/>
            <p:cNvSpPr/>
            <p:nvPr/>
          </p:nvSpPr>
          <p:spPr>
            <a:xfrm>
              <a:off x="4005667" y="1130300"/>
              <a:ext cx="4167966" cy="660303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tx1"/>
                  </a:solidFill>
                  <a:cs typeface="+mn-ea"/>
                  <a:sym typeface="+mn-lt"/>
                </a:rPr>
                <a:t>确保系统能在多种环境下运行并支持未来功能拓展</a:t>
              </a:r>
              <a:endParaRPr lang="en-US" dirty="0"/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兼容性与可扩展性设计</a:t>
            </a:r>
            <a:endParaRPr lang="en-US" dirty="0"/>
          </a:p>
        </p:txBody>
      </p:sp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20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谢谢观看</a:t>
            </a:r>
            <a:endParaRPr 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3" hasCustomPrompt="1"/>
          </p:nvPr>
        </p:nvSpPr>
        <p:spPr/>
        <p:txBody>
          <a:bodyPr>
            <a:normAutofit/>
          </a:bodyPr>
          <a:lstStyle/>
          <a:p>
            <a:pPr marL="0" marR="0" indent="0" algn="l"/>
            <a:r>
              <a:rPr lang="zh-CN" altLang="en-US" dirty="0"/>
              <a:t>姜林</a:t>
            </a:r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/>
        <p:txBody>
          <a:bodyPr>
            <a:normAutofit/>
          </a:bodyPr>
          <a:lstStyle/>
          <a:p>
            <a:pPr marL="0" marR="0" indent="0" algn="l"/>
            <a:r>
              <a:rPr lang="zh-CN" altLang="en-US" sz="1400" dirty="0">
                <a:solidFill>
                  <a:schemeClr val="tx1"/>
                </a:solidFill>
              </a:rPr>
              <a:t>2025/11/19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2.0235433070867,&quot;left&quot;:41.456299212598424,&quot;top&quot;:80.62102362204726,&quot;width&quot;:866.5437007874016}"/>
</p:tagLst>
</file>

<file path=ppt/tags/tag2.xml><?xml version="1.0" encoding="utf-8"?>
<p:tagLst xmlns:p="http://schemas.openxmlformats.org/presentationml/2006/main">
  <p:tag name="KSO_WM_DIAGRAM_VIRTUALLY_FRAME" val="{&quot;height&quot;:392.0235433070867,&quot;left&quot;:41.456299212598424,&quot;top&quot;:80.62102362204726,&quot;width&quot;:866.5437007874016}"/>
</p:tagLst>
</file>

<file path=ppt/tags/tag3.xml><?xml version="1.0" encoding="utf-8"?>
<p:tagLst xmlns:p="http://schemas.openxmlformats.org/presentationml/2006/main">
  <p:tag name="KSO_WM_DIAGRAM_VIRTUALLY_FRAME" val="{&quot;height&quot;:392.0235433070867,&quot;left&quot;:41.456299212598424,&quot;top&quot;:80.62102362204726,&quot;width&quot;:866.5437007874016}"/>
</p:tagLst>
</file>

<file path=ppt/tags/tag4.xml><?xml version="1.0" encoding="utf-8"?>
<p:tagLst xmlns:p="http://schemas.openxmlformats.org/presentationml/2006/main">
  <p:tag name="KSO_WM_DIAGRAM_VIRTUALLY_FRAME" val="{&quot;height&quot;:392.0235433070867,&quot;left&quot;:41.456299212598424,&quot;top&quot;:80.62102362204726,&quot;width&quot;:866.5437007874016}"/>
</p:tagLst>
</file>

<file path=ppt/tags/tag5.xml><?xml version="1.0" encoding="utf-8"?>
<p:tagLst xmlns:p="http://schemas.openxmlformats.org/presentationml/2006/main">
  <p:tag name="KSO_WM_DIAGRAM_VIRTUALLY_FRAME" val="{&quot;height&quot;:392.0235433070867,&quot;left&quot;:41.456299212598424,&quot;top&quot;:80.62102362204726,&quot;width&quot;:866.5437007874016}"/>
</p:tagLst>
</file>

<file path=ppt/tags/tag6.xml><?xml version="1.0" encoding="utf-8"?>
<p:tagLst xmlns:p="http://schemas.openxmlformats.org/presentationml/2006/main">
  <p:tag name="KSO_WM_DIAGRAM_VIRTUALLY_FRAME" val="{&quot;height&quot;:392.0235433070867,&quot;left&quot;:41.456299212598424,&quot;top&quot;:80.62102362204726,&quot;width&quot;:866.5437007874016}"/>
</p:tagLst>
</file>

<file path=ppt/tags/tag7.xml><?xml version="1.0" encoding="utf-8"?>
<p:tagLst xmlns:p="http://schemas.openxmlformats.org/presentationml/2006/main">
  <p:tag name="KSO_WM_DIAGRAM_VIRTUALLY_FRAME" val="{&quot;height&quot;:392.0235433070867,&quot;left&quot;:41.456299212598424,&quot;top&quot;:80.62102362204726,&quot;width&quot;:866.5437007874016}"/>
</p:tagLst>
</file>

<file path=ppt/tags/tag8.xml><?xml version="1.0" encoding="utf-8"?>
<p:tagLst xmlns:p="http://schemas.openxmlformats.org/presentationml/2006/main">
  <p:tag name="KSO_WM_DIAGRAM_VIRTUALLY_FRAME" val="{&quot;height&quot;:392.0235433070867,&quot;left&quot;:41.456299212598424,&quot;top&quot;:80.62102362204726,&quot;width&quot;:866.5437007874016}"/>
</p:tagLst>
</file>

<file path=ppt/tags/tag9.xml><?xml version="1.0" encoding="utf-8"?>
<p:tagLst xmlns:p="http://schemas.openxmlformats.org/presentationml/2006/main">
  <p:tag name="KSO_WM_DIAGRAM_VIRTUALLY_FRAME" val="{&quot;height&quot;:392.0235433070867,&quot;left&quot;:41.456299212598424,&quot;top&quot;:80.62102362204726,&quot;width&quot;:866.5437007874016}"/>
</p:tagLst>
</file>

<file path=ppt/tags/tag10.xml><?xml version="1.0" encoding="utf-8"?>
<p:tagLst xmlns:p="http://schemas.openxmlformats.org/presentationml/2006/main">
  <p:tag name="CAPPT.DIAGRAM" val="9be515a3-0b76-4621-87b2-14e7fe4370f7"/>
</p:tagLst>
</file>

<file path=ppt/tags/tag11.xml><?xml version="1.0" encoding="utf-8"?>
<p:tagLst xmlns:p="http://schemas.openxmlformats.org/presentationml/2006/main">
  <p:tag name="CAPPT.DIAGRAM" val="61c83430-8da1-495d-ada6-9cc123ee41b9"/>
</p:tagLst>
</file>

<file path=ppt/tags/tag12.xml><?xml version="1.0" encoding="utf-8"?>
<p:tagLst xmlns:p="http://schemas.openxmlformats.org/presentationml/2006/main">
  <p:tag name="CAPPT.DIAGRAM" val="f384e14d-278d-4eee-9c5c-98e4baf64608"/>
</p:tagLst>
</file>

<file path=ppt/tags/tag13.xml><?xml version="1.0" encoding="utf-8"?>
<p:tagLst xmlns:p="http://schemas.openxmlformats.org/presentationml/2006/main">
  <p:tag name="CAPPT.DIAGRAM" val="ae7983de-75d3-41c6-bae2-8e70902de0cf"/>
</p:tagLst>
</file>

<file path=ppt/tags/tag14.xml><?xml version="1.0" encoding="utf-8"?>
<p:tagLst xmlns:p="http://schemas.openxmlformats.org/presentationml/2006/main">
  <p:tag name="CAPPT.DIAGRAM" val="c792cdda-cd6b-41c8-b0b0-ccf02dc37cfe"/>
</p:tagLst>
</file>

<file path=ppt/tags/tag15.xml><?xml version="1.0" encoding="utf-8"?>
<p:tagLst xmlns:p="http://schemas.openxmlformats.org/presentationml/2006/main">
  <p:tag name="CAPPT.DIAGRAM" val="9f8724b3-81c7-4b7e-9763-fb3d1b0382ea"/>
</p:tagLst>
</file>

<file path=ppt/tags/tag16.xml><?xml version="1.0" encoding="utf-8"?>
<p:tagLst xmlns:p="http://schemas.openxmlformats.org/presentationml/2006/main">
  <p:tag name="CAPPT.DIAGRAM" val="27fd4722-f7d6-4e4e-9f4c-ee9c9f44ed7c"/>
</p:tagLst>
</file>

<file path=ppt/tags/tag17.xml><?xml version="1.0" encoding="utf-8"?>
<p:tagLst xmlns:p="http://schemas.openxmlformats.org/presentationml/2006/main">
  <p:tag name="CAPPT.DIAGRAM" val="b16a4a2d-c7f6-461c-adde-08bfd622decd"/>
</p:tagLst>
</file>

<file path=ppt/tags/tag18.xml><?xml version="1.0" encoding="utf-8"?>
<p:tagLst xmlns:p="http://schemas.openxmlformats.org/presentationml/2006/main">
  <p:tag name="CAPPT.DIAGRAM" val="dd29c499-435b-4922-a603-9baf279d2645"/>
</p:tagLst>
</file>

<file path=ppt/tags/tag19.xml><?xml version="1.0" encoding="utf-8"?>
<p:tagLst xmlns:p="http://schemas.openxmlformats.org/presentationml/2006/main">
  <p:tag name="CAPPT.DIAGRAM" val="8833de3d-20b0-411f-87bc-b473b85f369f"/>
</p:tagLst>
</file>

<file path=ppt/tags/tag20.xml><?xml version="1.0" encoding="utf-8"?>
<p:tagLst xmlns:p="http://schemas.openxmlformats.org/presentationml/2006/main">
  <p:tag name="CAPPT.DIAGRAM" val="4b193f43-bd29-432a-bf27-886e7f52c5b1"/>
</p:tagLst>
</file>

<file path=ppt/tags/tag21.xml><?xml version="1.0" encoding="utf-8"?>
<p:tagLst xmlns:p="http://schemas.openxmlformats.org/presentationml/2006/main">
  <p:tag name="CAPPT.DIAGRAM" val="b43b7569-d759-415c-b07e-947c1d4e373f"/>
</p:tagLst>
</file>

<file path=ppt/tags/tag22.xml><?xml version="1.0" encoding="utf-8"?>
<p:tagLst xmlns:p="http://schemas.openxmlformats.org/presentationml/2006/main">
  <p:tag name="CAPPT.DIAGRAM" val="9d1f2f6f-b760-42a9-ab32-8ec28e932538"/>
</p:tagLst>
</file>

<file path=ppt/tags/tag23.xml><?xml version="1.0" encoding="utf-8"?>
<p:tagLst xmlns:p="http://schemas.openxmlformats.org/presentationml/2006/main">
  <p:tag name="CAPPT.DIAGRAM" val="5f8c1633-75fe-4b4a-81ae-fcf08b0dcd4e"/>
</p:tagLst>
</file>

<file path=ppt/tags/tag24.xml><?xml version="1.0" encoding="utf-8"?>
<p:tagLst xmlns:p="http://schemas.openxmlformats.org/presentationml/2006/main">
  <p:tag name="CAPPT.DIAGRAM" val="8a48597c-6204-4079-be67-74789727e6ff"/>
</p:tagLst>
</file>

<file path=ppt/tags/tag25.xml><?xml version="1.0" encoding="utf-8"?>
<p:tagLst xmlns:p="http://schemas.openxmlformats.org/presentationml/2006/main">
  <p:tag name="CAPPT.DIAGRAM" val="9214851e-1d48-4355-8a1f-713c1f45446c"/>
</p:tagLst>
</file>

<file path=ppt/tags/tag26.xml><?xml version="1.0" encoding="utf-8"?>
<p:tagLst xmlns:p="http://schemas.openxmlformats.org/presentationml/2006/main">
  <p:tag name="CAPPT.DIAGRAM" val="afd8cf35-c614-4b1e-aafe-50d606662d48"/>
</p:tagLst>
</file>

<file path=ppt/tags/tag27.xml><?xml version="1.0" encoding="utf-8"?>
<p:tagLst xmlns:p="http://schemas.openxmlformats.org/presentationml/2006/main">
  <p:tag name="CAPPT.DIAGRAM" val="a6e87be0-2898-4e3e-b9e2-0c2d3dbf29b4"/>
</p:tagLst>
</file>

<file path=ppt/tags/tag28.xml><?xml version="1.0" encoding="utf-8"?>
<p:tagLst xmlns:p="http://schemas.openxmlformats.org/presentationml/2006/main">
  <p:tag name="CAPPT.DIAGRAM" val="c5a60db3-d36e-441a-81eb-397c24432d8a"/>
</p:tagLst>
</file>

<file path=ppt/tags/tag29.xml><?xml version="1.0" encoding="utf-8"?>
<p:tagLst xmlns:p="http://schemas.openxmlformats.org/presentationml/2006/main">
  <p:tag name="CAPPT.DIAGRAM" val="3780dd32-24c7-4b99-966e-b33835bc170d"/>
</p:tagLst>
</file>

<file path=ppt/tags/tag30.xml><?xml version="1.0" encoding="utf-8"?>
<p:tagLst xmlns:p="http://schemas.openxmlformats.org/presentationml/2006/main">
  <p:tag name="CAPPT.DIAGRAM" val="8b602cd1-e0e9-463d-9201-aadfece812db"/>
</p:tagLst>
</file>

<file path=ppt/tags/tag31.xml><?xml version="1.0" encoding="utf-8"?>
<p:tagLst xmlns:p="http://schemas.openxmlformats.org/presentationml/2006/main">
  <p:tag name="AIGC" val="{&quot;Label&quot;:&quot;1&quot;,&quot;ContentProducer&quot;:&quot;\u6210\u90fd\u8292\u610f\u8f6f\u4ef6\u6280\u672f\u6709\u9650\u516c\u53f8&quot;,&quot;ProduceID&quot;:&quot;daad480e740c278f23ba53f875622a1a&quot;,&quot;ReservedCode1&quot;:&quot;d2817f3660d203d0705f8f9a0ca3dd8fea0ae86da8c57d17aa36f191e4e50a8e&quot;,&quot;ContentPropagator&quot;:&quot;\u6210\u90fd\u8292\u610f\u8f6f\u4ef6\u6280\u672f\u6709\u9650\u516c\u53f8&quot;,&quot;PropagateID&quot;:&quot;daad480e740c278f23ba53f875622a1a&quot;,&quot;ReservedCode2&quot;:&quot;d2817f3660d203d0705f8f9a0ca3dd8fea0ae86da8c57d17aa36f191e4e50a8e&quot;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3D52BC"/>
      </a:accent1>
      <a:accent2>
        <a:srgbClr val="FC9702"/>
      </a:accent2>
      <a:accent3>
        <a:srgbClr val="778495"/>
      </a:accent3>
      <a:accent4>
        <a:srgbClr val="949FAD"/>
      </a:accent4>
      <a:accent5>
        <a:srgbClr val="ADB5BF"/>
      </a:accent5>
      <a:accent6>
        <a:srgbClr val="BBC2CB"/>
      </a:accent6>
      <a:hlink>
        <a:srgbClr val="8055FA"/>
      </a:hlink>
      <a:folHlink>
        <a:srgbClr val="ADB5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8132</Words>
  <Application>WPS 演示</Application>
  <PresentationFormat>宽屏</PresentationFormat>
  <Paragraphs>810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Arial</vt:lpstr>
      <vt:lpstr>Arial Unicode MS</vt:lpstr>
      <vt:lpstr>Calibri</vt:lpstr>
      <vt:lpstr>Designed by iSlide</vt:lpstr>
      <vt:lpstr>基于ZigBee无线传感器网络的智能牛棚环境监测系统</vt:lpstr>
      <vt:lpstr>团队分工</vt:lpstr>
      <vt:lpstr>PowerPoint 演示文稿</vt:lpstr>
      <vt:lpstr>项目概述与背景分析</vt:lpstr>
      <vt:lpstr>畜牧业发展现状与挑战</vt:lpstr>
      <vt:lpstr>项目目标与核心功能</vt:lpstr>
      <vt:lpstr>项目范围与实施边界</vt:lpstr>
      <vt:lpstr>用户价值与应用场景</vt:lpstr>
      <vt:lpstr>关键技术选型依据</vt:lpstr>
      <vt:lpstr>系统四层架构设计详解</vt:lpstr>
      <vt:lpstr>感知层（模拟）设计</vt:lpstr>
      <vt:lpstr>网络层（模拟）通信机制</vt:lpstr>
      <vt:lpstr>应用层业务逻辑实现</vt:lpstr>
      <vt:lpstr>表示层交互设计</vt:lpstr>
      <vt:lpstr>核心功能模块详细设计</vt:lpstr>
      <vt:lpstr>传感器数据模拟模块</vt:lpstr>
      <vt:lpstr>ZigBee网络通信模拟模块</vt:lpstr>
      <vt:lpstr>数据接收与处理模块</vt:lpstr>
      <vt:lpstr>智能告警模块设计</vt:lpstr>
      <vt:lpstr>设备联动控制模块</vt:lpstr>
      <vt:lpstr>数据可视化模块实现</vt:lpstr>
      <vt:lpstr>非功能需求与系统保障</vt:lpstr>
      <vt:lpstr>性能需求实现方案</vt:lpstr>
      <vt:lpstr>可靠性保障措施</vt:lpstr>
      <vt:lpstr>可维护性设计</vt:lpstr>
      <vt:lpstr>安全性防护策略</vt:lpstr>
      <vt:lpstr>兼容性与可扩展性设计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WPS_1634011624</cp:lastModifiedBy>
  <cp:revision>2</cp:revision>
  <cp:lastPrinted>2025-03-31T00:00:00Z</cp:lastPrinted>
  <dcterms:created xsi:type="dcterms:W3CDTF">2025-03-31T00:00:00Z</dcterms:created>
  <dcterms:modified xsi:type="dcterms:W3CDTF">2025-11-18T10:52:35Z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e9225bda-86f2-4198-bbfd-1a8f2fa11e04</vt:lpwstr>
  </property>
  <property fmtid="{D5CDD505-2E9C-101B-9397-08002B2CF9AE}" pid="3" name="ICV">
    <vt:lpwstr>1ABBF5B1A3B54109BDA5AA765A2FF130_12</vt:lpwstr>
  </property>
  <property fmtid="{D5CDD505-2E9C-101B-9397-08002B2CF9AE}" pid="4" name="KSOProductBuildVer">
    <vt:lpwstr>2052-12.1.0.23542</vt:lpwstr>
  </property>
</Properties>
</file>